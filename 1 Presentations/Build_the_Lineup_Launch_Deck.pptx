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4.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charts/chart5.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Market</c:v>
                </c:pt>
              </c:strCache>
            </c:strRef>
          </c:tx>
          <c:spPr>
            <a:solidFill>
              <a:schemeClr val="accent1"/>
            </a:solidFill>
            <a:ln w="9525" cap="flat">
              <a:solidFill>
                <a:srgbClr val="F9F9F9"/>
              </a:solidFill>
              <a:prstDash val="solid"/>
              <a:round/>
            </a:ln>
            <a:effectLst/>
          </c:spPr>
          <c:dPt>
            <c:idx val="0"/>
            <c:bubble3D val="0"/>
            <c:spPr>
              <a:solidFill>
                <a:srgbClr val="4C3629"/>
              </a:solidFill>
              <a:effectLst/>
            </c:spPr>
          </c:dPt>
          <c:dPt>
            <c:idx val="1"/>
            <c:bubble3D val="0"/>
            <c:spPr>
              <a:solidFill>
                <a:srgbClr val="E26F39"/>
              </a:solidFill>
              <a:effectLst/>
            </c:spPr>
          </c:dPt>
          <c:dPt>
            <c:idx val="2"/>
            <c:bubble3D val="0"/>
            <c:spPr>
              <a:solidFill>
                <a:srgbClr val="B9AFA8"/>
              </a:solidFill>
              <a:effectLst/>
            </c:spPr>
          </c:dPt>
          <c:dLbls>
            <c:dLbl>
              <c:idx val="0"/>
              <c:numFmt formatCode="General" sourceLinked="0"/>
              <c:spPr/>
              <c:txPr>
                <a:bodyPr/>
                <a:lstStyle/>
                <a:p>
                  <a:pPr>
                    <a:defRPr sz="1100" b="1" i="0" u="none" strike="noStrike">
                      <a:solidFill>
                        <a:srgbClr val="FFFFFF"/>
                      </a:solidFill>
                      <a:latin typeface="+mn-lt"/>
                    </a:defRPr>
                  </a:pPr>
                </a:p>
              </c:txPr>
              <c:showLegendKey val="0"/>
              <c:showVal val="0"/>
              <c:showCatName val="1"/>
              <c:showSerName val="0"/>
              <c:showPercent val="0"/>
              <c:showBubbleSize val="0"/>
            </c:dLbl>
            <c:dLbl>
              <c:idx val="1"/>
              <c:numFmt formatCode="General" sourceLinked="0"/>
              <c:spPr/>
              <c:txPr>
                <a:bodyPr/>
                <a:lstStyle/>
                <a:p>
                  <a:pPr>
                    <a:defRPr sz="1100" b="1" i="0" u="none" strike="noStrike">
                      <a:solidFill>
                        <a:srgbClr val="FFFFFF"/>
                      </a:solidFill>
                      <a:latin typeface="+mn-lt"/>
                    </a:defRPr>
                  </a:pPr>
                </a:p>
              </c:txPr>
              <c:showLegendKey val="0"/>
              <c:showVal val="0"/>
              <c:showCatName val="1"/>
              <c:showSerName val="0"/>
              <c:showPercent val="0"/>
              <c:showBubbleSize val="0"/>
            </c:dLbl>
            <c:dLbl>
              <c:idx val="2"/>
              <c:numFmt formatCode="General" sourceLinked="0"/>
              <c:spPr/>
              <c:txPr>
                <a:bodyPr/>
                <a:lstStyle/>
                <a:p>
                  <a:pPr>
                    <a:defRPr sz="1100" b="1" i="0" u="none" strike="noStrike">
                      <a:solidFill>
                        <a:srgbClr val="FFFFFF"/>
                      </a:solidFill>
                      <a:latin typeface="+mn-lt"/>
                    </a:defRPr>
                  </a:pPr>
                </a:p>
              </c:txPr>
              <c:showLegendKey val="0"/>
              <c:showVal val="0"/>
              <c:showCatName val="1"/>
              <c:showSerName val="0"/>
              <c:showPercent val="0"/>
              <c:showBubbleSize val="0"/>
            </c:dLbl>
            <c:numFmt formatCode="General"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Segment A</c:v>
                </c:pt>
                <c:pt idx="1">
                  <c:v>Segment B</c:v>
                </c:pt>
                <c:pt idx="2">
                  <c:v>Segment C</c:v>
                </c:pt>
              </c:strCache>
            </c:strRef>
          </c:cat>
          <c:val>
            <c:numRef>
              <c:f>Sheet1!$B$2:$B$4</c:f>
              <c:numCache>
                <c:ptCount val="3"/>
                <c:pt idx="0">
                  <c:v>55</c:v>
                </c:pt>
                <c:pt idx="1">
                  <c:v>30</c:v>
                </c:pt>
                <c:pt idx="2">
                  <c:v>15</c:v>
                </c:pt>
              </c:numCache>
            </c:numRef>
          </c:val>
        </c:ser>
        <c:firstSliceAng val="0"/>
        <c:holeSize val="55"/>
      </c:doughnutChart>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Base cost</c:v>
                </c:pt>
              </c:strCache>
            </c:strRef>
          </c:tx>
          <c:spPr>
            <a:solidFill>
              <a:srgbClr val="4C3629"/>
            </a:solidFill>
            <a:effectLst/>
          </c:spPr>
          <c:invertIfNegative val="0"/>
          <c:dLbls>
            <c:numFmt formatCode="$#,##0" sourceLinked="0"/>
            <c:txPr>
              <a:bodyPr/>
              <a:lstStyle/>
              <a:p>
                <a:pPr>
                  <a:defRPr b="0" i="0" strike="noStrike" sz="1100" u="none">
                    <a:solidFill>
                      <a:srgbClr val="FFFFFF"/>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Unit cost</c:v>
                  </c:pt>
                </c:lvl>
              </c:multiLvlStrCache>
            </c:multiLvlStrRef>
          </c:cat>
          <c:val>
            <c:numRef>
              <c:f>Sheet1!$B$2:$B$2</c:f>
              <c:numCache>
                <c:formatCode>General</c:formatCode>
                <c:ptCount val="1"/>
                <c:pt idx="0">
                  <c:v>5</c:v>
                </c:pt>
              </c:numCache>
            </c:numRef>
          </c:val>
        </c:ser>
        <c:ser>
          <c:idx val="1"/>
          <c:order val="1"/>
          <c:tx>
            <c:strRef>
              <c:f>Sheet1!$C$1</c:f>
              <c:strCache>
                <c:ptCount val="1"/>
                <c:pt idx="0">
                  <c:v>Deep clean</c:v>
                </c:pt>
              </c:strCache>
            </c:strRef>
          </c:tx>
          <c:spPr>
            <a:solidFill>
              <a:srgbClr val="E26F39"/>
            </a:solidFill>
            <a:effectLst/>
          </c:spPr>
          <c:invertIfNegative val="0"/>
          <c:dLbls>
            <c:numFmt formatCode="$#,##0" sourceLinked="0"/>
            <c:txPr>
              <a:bodyPr/>
              <a:lstStyle/>
              <a:p>
                <a:pPr>
                  <a:defRPr b="0" i="0" strike="noStrike" sz="1100" u="none">
                    <a:solidFill>
                      <a:srgbClr val="FFFFFF"/>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Unit cost</c:v>
                  </c:pt>
                </c:lvl>
              </c:multiLvlStrCache>
            </c:multiLvlStrRef>
          </c:cat>
          <c:val>
            <c:numRef>
              <c:f>Sheet1!$C$2:$C$2</c:f>
              <c:numCache>
                <c:formatCode>General</c:formatCode>
                <c:ptCount val="1"/>
                <c:pt idx="0">
                  <c:v>3</c:v>
                </c:pt>
              </c:numCache>
            </c:numRef>
          </c:val>
        </c:ser>
        <c:ser>
          <c:idx val="2"/>
          <c:order val="2"/>
          <c:tx>
            <c:strRef>
              <c:f>Sheet1!$D$1</c:f>
              <c:strCache>
                <c:ptCount val="1"/>
                <c:pt idx="0">
                  <c:v>Crease removal</c:v>
                </c:pt>
              </c:strCache>
            </c:strRef>
          </c:tx>
          <c:spPr>
            <a:solidFill>
              <a:srgbClr val="F2955F"/>
            </a:solidFill>
            <a:effectLst/>
          </c:spPr>
          <c:invertIfNegative val="0"/>
          <c:dLbls>
            <c:numFmt formatCode="$#,##0" sourceLinked="0"/>
            <c:txPr>
              <a:bodyPr/>
              <a:lstStyle/>
              <a:p>
                <a:pPr>
                  <a:defRPr b="0" i="0" strike="noStrike" sz="1100" u="none">
                    <a:solidFill>
                      <a:srgbClr val="FFFFFF"/>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Unit cost</c:v>
                  </c:pt>
                </c:lvl>
              </c:multiLvlStrCache>
            </c:multiLvlStrRef>
          </c:cat>
          <c:val>
            <c:numRef>
              <c:f>Sheet1!$D$2:$D$2</c:f>
              <c:numCache>
                <c:formatCode>General</c:formatCode>
                <c:ptCount val="1"/>
                <c:pt idx="0">
                  <c:v>6</c:v>
                </c:pt>
              </c:numCache>
            </c:numRef>
          </c:val>
        </c:ser>
        <c:ser>
          <c:idx val="3"/>
          <c:order val="3"/>
          <c:tx>
            <c:strRef>
              <c:f>Sheet1!$E$1</c:f>
              <c:strCache>
                <c:ptCount val="1"/>
                <c:pt idx="0">
                  <c:v>Color repaint</c:v>
                </c:pt>
              </c:strCache>
            </c:strRef>
          </c:tx>
          <c:spPr>
            <a:solidFill>
              <a:srgbClr val="B9AFA8"/>
            </a:solidFill>
            <a:effectLst/>
          </c:spPr>
          <c:invertIfNegative val="0"/>
          <c:dLbls>
            <c:numFmt formatCode="$#,##0" sourceLinked="0"/>
            <c:txPr>
              <a:bodyPr/>
              <a:lstStyle/>
              <a:p>
                <a:pPr>
                  <a:defRPr b="0" i="0" strike="noStrike" sz="1100" u="none">
                    <a:solidFill>
                      <a:srgbClr val="FFFFFF"/>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Unit cost</c:v>
                  </c:pt>
                </c:lvl>
              </c:multiLvlStrCache>
            </c:multiLvlStrRef>
          </c:cat>
          <c:val>
            <c:numRef>
              <c:f>Sheet1!$E$2:$E$2</c:f>
              <c:numCache>
                <c:formatCode>General</c:formatCode>
                <c:ptCount val="1"/>
                <c:pt idx="0">
                  <c:v>12</c:v>
                </c:pt>
              </c:numCache>
            </c:numRef>
          </c:val>
        </c:ser>
        <c:ser>
          <c:idx val="4"/>
          <c:order val="4"/>
          <c:tx>
            <c:strRef>
              <c:f>Sheet1!$F$1</c:f>
              <c:strCache>
                <c:ptCount val="1"/>
                <c:pt idx="0">
                  <c:v>Fresh laces</c:v>
                </c:pt>
              </c:strCache>
            </c:strRef>
          </c:tx>
          <c:spPr>
            <a:solidFill>
              <a:srgbClr val="8A7F78"/>
            </a:solidFill>
            <a:effectLst/>
          </c:spPr>
          <c:invertIfNegative val="0"/>
          <c:dLbls>
            <c:numFmt formatCode="$#,##0" sourceLinked="0"/>
            <c:txPr>
              <a:bodyPr/>
              <a:lstStyle/>
              <a:p>
                <a:pPr>
                  <a:defRPr b="0" i="0" strike="noStrike" sz="1100" u="none">
                    <a:solidFill>
                      <a:srgbClr val="FFFFFF"/>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Unit cost</c:v>
                  </c:pt>
                </c:lvl>
              </c:multiLvlStrCache>
            </c:multiLvlStrRef>
          </c:cat>
          <c:val>
            <c:numRef>
              <c:f>Sheet1!$F$2:$F$2</c:f>
              <c:numCache>
                <c:formatCode>General</c:formatCode>
                <c:ptCount val="1"/>
                <c:pt idx="0">
                  <c:v>2</c:v>
                </c:pt>
              </c:numCache>
            </c:numRef>
          </c:val>
        </c:ser>
        <c:dLbls>
          <c:numFmt formatCode="$#,##0" sourceLinked="0"/>
          <c:txPr>
            <a:bodyPr/>
            <a:lstStyle/>
            <a:p>
              <a:pPr>
                <a:defRPr b="0" i="0" strike="noStrike" sz="1100" u="none">
                  <a:solidFill>
                    <a:srgbClr val="FFFFFF"/>
                  </a:solidFill>
                  <a:latin typeface="+mn-lt"/>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1"/>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Weekend Wearers</c:v>
                </c:pt>
              </c:strCache>
            </c:strRef>
          </c:tx>
          <c:spPr>
            <a:solidFill>
              <a:srgbClr val="4C3629"/>
            </a:solidFill>
            <a:ln w="38100" cap="flat">
              <a:solidFill>
                <a:srgbClr val="4C362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4C3629"/>
              </a:solidFill>
              <a:ln w="9525" cap="flat">
                <a:solidFill>
                  <a:srgbClr val="4C3629"/>
                </a:solidFill>
                <a:prstDash val="solid"/>
                <a:round/>
              </a:ln>
              <a:effectLst/>
            </c:spPr>
          </c:marker>
          <c:cat>
            <c:multiLvlStrRef>
              <c:f>Sheet1!$A$2:$A$7</c:f>
              <c:multiLvlStrCache>
                <c:ptCount val="6"/>
                <c:lvl>
                  <c:pt idx="0">
                    <c:v>$20</c:v>
                  </c:pt>
                  <c:pt idx="1">
                    <c:v>$30</c:v>
                  </c:pt>
                  <c:pt idx="2">
                    <c:v>$45</c:v>
                  </c:pt>
                  <c:pt idx="3">
                    <c:v>$60</c:v>
                  </c:pt>
                  <c:pt idx="4">
                    <c:v>$80</c:v>
                  </c:pt>
                  <c:pt idx="5">
                    <c:v>$100</c:v>
                  </c:pt>
                </c:lvl>
              </c:multiLvlStrCache>
            </c:multiLvlStrRef>
          </c:cat>
          <c:val>
            <c:numRef>
              <c:f>Sheet1!$B$2:$B$7</c:f>
              <c:numCache>
                <c:formatCode>General</c:formatCode>
                <c:ptCount val="6"/>
                <c:pt idx="0">
                  <c:v>79</c:v>
                </c:pt>
                <c:pt idx="1">
                  <c:v>61</c:v>
                </c:pt>
                <c:pt idx="2">
                  <c:v>25</c:v>
                </c:pt>
                <c:pt idx="3">
                  <c:v>6</c:v>
                </c:pt>
                <c:pt idx="4">
                  <c:v>1</c:v>
                </c:pt>
                <c:pt idx="5">
                  <c:v>0</c:v>
                </c:pt>
              </c:numCache>
            </c:numRef>
          </c:val>
          <c:smooth val="0"/>
        </c:ser>
        <c:ser>
          <c:idx val="1"/>
          <c:order val="1"/>
          <c:tx>
            <c:strRef>
              <c:f>Sheet1!$C$1</c:f>
              <c:strCache>
                <c:ptCount val="1"/>
                <c:pt idx="0">
                  <c:v>Collectors</c:v>
                </c:pt>
              </c:strCache>
            </c:strRef>
          </c:tx>
          <c:spPr>
            <a:solidFill>
              <a:srgbClr val="E26F39"/>
            </a:solidFill>
            <a:ln w="38100" cap="flat">
              <a:solidFill>
                <a:srgbClr val="E26F3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E26F39"/>
              </a:solidFill>
              <a:ln w="9525" cap="flat">
                <a:solidFill>
                  <a:srgbClr val="E26F39"/>
                </a:solidFill>
                <a:prstDash val="solid"/>
                <a:round/>
              </a:ln>
              <a:effectLst/>
            </c:spPr>
          </c:marker>
          <c:cat>
            <c:multiLvlStrRef>
              <c:f>Sheet1!$A$2:$A$7</c:f>
              <c:multiLvlStrCache>
                <c:ptCount val="6"/>
                <c:lvl>
                  <c:pt idx="0">
                    <c:v>$20</c:v>
                  </c:pt>
                  <c:pt idx="1">
                    <c:v>$30</c:v>
                  </c:pt>
                  <c:pt idx="2">
                    <c:v>$45</c:v>
                  </c:pt>
                  <c:pt idx="3">
                    <c:v>$60</c:v>
                  </c:pt>
                  <c:pt idx="4">
                    <c:v>$80</c:v>
                  </c:pt>
                  <c:pt idx="5">
                    <c:v>$100</c:v>
                  </c:pt>
                </c:lvl>
              </c:multiLvlStrCache>
            </c:multiLvlStrRef>
          </c:cat>
          <c:val>
            <c:numRef>
              <c:f>Sheet1!$C$2:$C$7</c:f>
              <c:numCache>
                <c:formatCode>General</c:formatCode>
                <c:ptCount val="6"/>
                <c:pt idx="0">
                  <c:v>90</c:v>
                </c:pt>
                <c:pt idx="1">
                  <c:v>88</c:v>
                </c:pt>
                <c:pt idx="2">
                  <c:v>85</c:v>
                </c:pt>
                <c:pt idx="3">
                  <c:v>79</c:v>
                </c:pt>
                <c:pt idx="4">
                  <c:v>66</c:v>
                </c:pt>
                <c:pt idx="5">
                  <c:v>46</c:v>
                </c:pt>
              </c:numCache>
            </c:numRef>
          </c:val>
          <c:smooth val="0"/>
        </c:ser>
        <c:ser>
          <c:idx val="2"/>
          <c:order val="2"/>
          <c:tx>
            <c:strRef>
              <c:f>Sheet1!$D$1</c:f>
              <c:strCache>
                <c:ptCount val="1"/>
                <c:pt idx="0">
                  <c:v>Team Athletes</c:v>
                </c:pt>
              </c:strCache>
            </c:strRef>
          </c:tx>
          <c:spPr>
            <a:solidFill>
              <a:srgbClr val="8A7F78"/>
            </a:solidFill>
            <a:ln w="38100" cap="flat">
              <a:solidFill>
                <a:srgbClr val="8A7F7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8A7F78"/>
              </a:solidFill>
              <a:ln w="9525" cap="flat">
                <a:solidFill>
                  <a:srgbClr val="8A7F78"/>
                </a:solidFill>
                <a:prstDash val="solid"/>
                <a:round/>
              </a:ln>
              <a:effectLst/>
            </c:spPr>
          </c:marker>
          <c:cat>
            <c:multiLvlStrRef>
              <c:f>Sheet1!$A$2:$A$7</c:f>
              <c:multiLvlStrCache>
                <c:ptCount val="6"/>
                <c:lvl>
                  <c:pt idx="0">
                    <c:v>$20</c:v>
                  </c:pt>
                  <c:pt idx="1">
                    <c:v>$30</c:v>
                  </c:pt>
                  <c:pt idx="2">
                    <c:v>$45</c:v>
                  </c:pt>
                  <c:pt idx="3">
                    <c:v>$60</c:v>
                  </c:pt>
                  <c:pt idx="4">
                    <c:v>$80</c:v>
                  </c:pt>
                  <c:pt idx="5">
                    <c:v>$100</c:v>
                  </c:pt>
                </c:lvl>
              </c:multiLvlStrCache>
            </c:multiLvlStrRef>
          </c:cat>
          <c:val>
            <c:numRef>
              <c:f>Sheet1!$D$2:$D$7</c:f>
              <c:numCache>
                <c:formatCode>General</c:formatCode>
                <c:ptCount val="6"/>
                <c:pt idx="0">
                  <c:v>85</c:v>
                </c:pt>
                <c:pt idx="1">
                  <c:v>75</c:v>
                </c:pt>
                <c:pt idx="2">
                  <c:v>46</c:v>
                </c:pt>
                <c:pt idx="3">
                  <c:v>17</c:v>
                </c:pt>
                <c:pt idx="4">
                  <c:v>3</c:v>
                </c:pt>
                <c:pt idx="5">
                  <c:v>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6B6B"/>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5E5E5"/>
              </a:solidFill>
              <a:prstDash val="solid"/>
              <a:round/>
            </a:ln>
          </c:spPr>
        </c:majorGridlines>
        <c:title>
          <c:tx>
            <c:rich>
              <a:bodyPr/>
              <a:lstStyle/>
              <a:p>
                <a:pPr>
                  <a:defRPr sz="1000" b="0" i="0" u="none" strike="noStrike">
                    <a:solidFill>
                      <a:srgbClr val="6B6B6B"/>
                    </a:solidFill>
                    <a:latin typeface="Arial"/>
                  </a:defRPr>
                </a:pPr>
                <a:r>
                  <a:rPr sz="1000" b="0" i="0" u="none" strike="noStrike">
                    <a:solidFill>
                      <a:srgbClr val="6B6B6B"/>
                    </a:solidFill>
                    <a:latin typeface="Arial"/>
                  </a:rPr>
                  <a:t>% who would buy</a:t>
                </a:r>
              </a:p>
            </c:rich>
          </c:tx>
          <c:layout/>
          <c:overlay val="0"/>
        </c:title>
        <c:numFmt formatCode="0&quot;%&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6B6B"/>
                </a:solidFill>
                <a:latin typeface="+mn-lt"/>
              </a:defRPr>
            </a:pPr>
            <a:endParaRPr lang="en-US"/>
          </a:p>
        </c:txPr>
        <c:crossAx val="2094734554"/>
        <c:crosses val="autoZero"/>
        <c:crossBetween val="between"/>
        <c:majorUnit val="25"/>
      </c:valAx>
      <c:spPr>
        <a:noFill/>
        <a:ln>
          <a:noFill/>
        </a:ln>
        <a:effectLst/>
      </c:spPr>
    </c:plotArea>
    <c:legend>
      <c:legendPos val="b"/>
      <c:overlay val="0"/>
      <c:txPr>
        <a:bodyPr/>
        <a:lstStyle/>
        <a:p>
          <a:pPr>
            <a:defRPr sz="1100">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Profit</c:v>
                </c:pt>
              </c:strCache>
            </c:strRef>
          </c:tx>
          <c:spPr>
            <a:solidFill>
              <a:srgbClr val="4C3629"/>
            </a:solidFill>
            <a:effectLst/>
          </c:spPr>
          <c:invertIfNegative val="0"/>
          <c:dLbls>
            <c:numFmt formatCode="$#,##0" sourceLinked="0"/>
            <c:txPr>
              <a:bodyPr/>
              <a:lstStyle/>
              <a:p>
                <a:pPr>
                  <a:defRPr b="1" i="0" strike="noStrike" sz="1300" u="none">
                    <a:solidFill>
                      <a:srgbClr val="222222"/>
                    </a:solidFill>
                    <a:latin typeface="+mn-lt"/>
                  </a:defRPr>
                </a:pPr>
              </a:p>
            </c:txPr>
            <c:showLegendKey val="0"/>
            <c:showVal val="1"/>
            <c:showCatName val="0"/>
            <c:showSerName val="0"/>
            <c:showPercent val="0"/>
            <c:showBubbleSize val="0"/>
            <c:showLeaderLines val="0"/>
          </c:dLbls>
          <c:dPt>
            <c:idx val="0"/>
            <c:invertIfNegative val="0"/>
            <c:bubble3D val="0"/>
            <c:spPr>
              <a:solidFill>
                <a:srgbClr val="4C3629"/>
              </a:solidFill>
              <a:effectLst/>
            </c:spPr>
          </c:dPt>
          <c:dPt>
            <c:idx val="1"/>
            <c:invertIfNegative val="0"/>
            <c:bubble3D val="0"/>
            <c:spPr>
              <a:solidFill>
                <a:srgbClr val="E26F39"/>
              </a:solidFill>
              <a:effectLst/>
            </c:spPr>
          </c:dPt>
          <c:dPt>
            <c:idx val="2"/>
            <c:invertIfNegative val="0"/>
            <c:bubble3D val="0"/>
            <c:spPr>
              <a:solidFill>
                <a:srgbClr val="8A7F78"/>
              </a:solidFill>
              <a:effectLst/>
            </c:spPr>
          </c:dPt>
          <c:cat>
            <c:multiLvlStrRef>
              <c:f>Sheet1!$A$2:$A$4</c:f>
              <c:multiLvlStrCache>
                <c:ptCount val="3"/>
                <c:lvl>
                  <c:pt idx="0">
                    <c:v>Weekend Wearers</c:v>
                  </c:pt>
                  <c:pt idx="1">
                    <c:v>Collectors</c:v>
                  </c:pt>
                  <c:pt idx="2">
                    <c:v>Team Athletes</c:v>
                  </c:pt>
                </c:lvl>
              </c:multiLvlStrCache>
            </c:multiLvlStrRef>
          </c:cat>
          <c:val>
            <c:numRef>
              <c:f>Sheet1!$B$2:$B$4</c:f>
              <c:numCache>
                <c:formatCode>General</c:formatCode>
                <c:ptCount val="3"/>
                <c:pt idx="0">
                  <c:v>5856</c:v>
                </c:pt>
                <c:pt idx="1">
                  <c:v>5408</c:v>
                </c:pt>
                <c:pt idx="2">
                  <c:v>4002</c:v>
                </c:pt>
              </c:numCache>
            </c:numRef>
          </c:val>
        </c:ser>
        <c:dLbls>
          <c:numFmt formatCode="$#,##0" sourceLinked="0"/>
          <c:txPr>
            <a:bodyPr/>
            <a:lstStyle/>
            <a:p>
              <a:pPr>
                <a:defRPr b="1" i="0" strike="noStrike" sz="1300" u="none">
                  <a:solidFill>
                    <a:srgbClr val="222222"/>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22222"/>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Profit</c:v>
                </c:pt>
              </c:strCache>
            </c:strRef>
          </c:tx>
          <c:spPr>
            <a:solidFill>
              <a:srgbClr val="B9AFA8"/>
            </a:solidFill>
            <a:effectLst/>
          </c:spPr>
          <c:invertIfNegative val="0"/>
          <c:dLbls>
            <c:numFmt formatCode="$#,##0" sourceLinked="0"/>
            <c:txPr>
              <a:bodyPr/>
              <a:lstStyle/>
              <a:p>
                <a:pPr>
                  <a:defRPr b="1" i="0" strike="noStrike" sz="1400" u="none">
                    <a:solidFill>
                      <a:srgbClr val="222222"/>
                    </a:solidFill>
                    <a:latin typeface="+mn-lt"/>
                  </a:defRPr>
                </a:pPr>
              </a:p>
            </c:txPr>
            <c:showLegendKey val="0"/>
            <c:showVal val="1"/>
            <c:showCatName val="0"/>
            <c:showSerName val="0"/>
            <c:showPercent val="0"/>
            <c:showBubbleSize val="0"/>
            <c:showLeaderLines val="0"/>
          </c:dLbls>
          <c:dPt>
            <c:idx val="0"/>
            <c:invertIfNegative val="0"/>
            <c:bubble3D val="0"/>
            <c:spPr>
              <a:solidFill>
                <a:srgbClr val="B9AFA8"/>
              </a:solidFill>
              <a:effectLst/>
            </c:spPr>
          </c:dPt>
          <c:dPt>
            <c:idx val="1"/>
            <c:invertIfNegative val="0"/>
            <c:bubble3D val="0"/>
            <c:spPr>
              <a:solidFill>
                <a:srgbClr val="E26F39"/>
              </a:solidFill>
              <a:effectLst/>
            </c:spPr>
          </c:dPt>
          <c:cat>
            <c:multiLvlStrRef>
              <c:f>Sheet1!$A$2:$A$3</c:f>
              <c:multiLvlStrCache>
                <c:ptCount val="2"/>
                <c:lvl>
                  <c:pt idx="0">
                    <c:v>One version for everyone</c:v>
                  </c:pt>
                  <c:pt idx="1">
                    <c:v>Three-version lineup</c:v>
                  </c:pt>
                </c:lvl>
              </c:multiLvlStrCache>
            </c:multiLvlStrRef>
          </c:cat>
          <c:val>
            <c:numRef>
              <c:f>Sheet1!$B$2:$B$3</c:f>
              <c:numCache>
                <c:formatCode>General</c:formatCode>
                <c:ptCount val="2"/>
                <c:pt idx="0">
                  <c:v>7820</c:v>
                </c:pt>
                <c:pt idx="1">
                  <c:v>15266</c:v>
                </c:pt>
              </c:numCache>
            </c:numRef>
          </c:val>
        </c:ser>
        <c:dLbls>
          <c:numFmt formatCode="$#,##0" sourceLinked="0"/>
          <c:txPr>
            <a:bodyPr/>
            <a:lstStyle/>
            <a:p>
              <a:pPr>
                <a:defRPr b="1" i="0" strike="noStrike" sz="1400" u="none">
                  <a:solidFill>
                    <a:srgbClr val="222222"/>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22222"/>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we take everything from the last two projects and flip it. Instead of being handed the segments, you find them, and instead of one product, you build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recap. Ask: in Media Buy, who decided what the segments were? (We did.) Today that's your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Turn and talk, 60 seconds. Collect examples: phone storage sizes, streaming plans, car trims, meal sizes, concert tickets, sports camp packages.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company, same core product. Each version is built for a different group of customers, and each one has a different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to target marketing: the lenses are how you describe a segment. Segmentation is splitting the whole market into those groups before you pick who to serve.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Media Buy callback: Reachable is why the media channels mattered. A segment you can't reach is a segment you can't sell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feature makes the product better for someone and more expensive for the company. The question is never 'is this feature good?' It's 'does THIS segment care enough to pay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cutoffs come from the survey in your case file. Must-haves are deal-breakers: a version missing one loses half its buyers.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Collectors barely drop until $80. Weekend Wearers fall off a cliff after $30. Same service, totally different price tolerance.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steps are on your case file and in your guide. Walk through them once now, then we'll do Maya's numbers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Maya is back. She restores sneakers and wants three packages instead of pricing every job by hand. Read the quotes. What does each group care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Collectors' must-haves: Deep clean, Crease removal, Color repaint. Nobody requires the display box (top value 34%).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math on the board: 600 x 61% x 100% = 366 buyers. 366 x ($30 - $14) = $5,856. Point out the higher price earns more per pair but less in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Collectors will pay $80. Fewer customers, but each one is worth a lot more. Nice-to-have bonus: 5% for 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how little overlap there is with the Collector version besides deep clean. That's segmentation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packages, three prices, three different customers. Now: was all this work worth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best one-size-fits-all package (every segment, same features, same price) earns $7,820. That's Step 6 of your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Loading up raises the unit cost so much she has to charge a price Weekend Wearers won't pay.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the Fresh Start doesn't have crease removal or repaint, the Collectors' must-haves. That missing must-have is the fence. You'll answer this question for your own lineup.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B (17%). Distractors: 46% is the $45 point, 6% is Weekend Wearers, 79% is Collectors.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Pairs. Every step has a page in the Student Guide. Aim to finish through Step 5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template has every slide already laid out. Full rubric is on the last page of the guide.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out case files. Circulate during the feature sort; that's where most mistakes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4C3629"/>
        </a:solidFill>
      </p:bgPr>
    </p:bg>
    <p:spTree>
      <p:nvGrpSpPr>
        <p:cNvPr id="1" name=""/>
        <p:cNvGrpSpPr/>
        <p:nvPr/>
      </p:nvGrpSpPr>
      <p:grpSpPr>
        <a:xfrm>
          <a:off x="0" y="0"/>
          <a:ext cx="0" cy="0"/>
          <a:chOff x="0" y="0"/>
          <a:chExt cx="0" cy="0"/>
        </a:xfrm>
      </p:grpSpPr>
      <p:sp>
        <p:nvSpPr>
          <p:cNvPr id="2" name="Shape 0"/>
          <p:cNvSpPr/>
          <p:nvPr/>
        </p:nvSpPr>
        <p:spPr>
          <a:xfrm>
            <a:off x="0" y="4983480"/>
            <a:ext cx="9144000" cy="160020"/>
          </a:xfrm>
          <a:prstGeom prst="rect">
            <a:avLst/>
          </a:prstGeom>
          <a:solidFill>
            <a:srgbClr val="E26F39"/>
          </a:solidFill>
          <a:ln/>
        </p:spPr>
      </p:sp>
      <p:sp>
        <p:nvSpPr>
          <p:cNvPr id="3" name="Text 1"/>
          <p:cNvSpPr/>
          <p:nvPr/>
        </p:nvSpPr>
        <p:spPr>
          <a:xfrm>
            <a:off x="457200" y="4645152"/>
            <a:ext cx="5486400" cy="274320"/>
          </a:xfrm>
          <a:prstGeom prst="rect">
            <a:avLst/>
          </a:prstGeom>
          <a:noFill/>
          <a:ln/>
        </p:spPr>
        <p:txBody>
          <a:bodyPr wrap="square" lIns="0" tIns="0" rIns="0" bIns="0" rtlCol="0" anchor="ctr"/>
          <a:lstStyle/>
          <a:p>
            <a:pPr indent="0" marL="0">
              <a:buNone/>
            </a:pPr>
            <a:r>
              <a:rPr lang="en-US" sz="900" b="1" spc="200" kern="0" dirty="0">
                <a:solidFill>
                  <a:srgbClr val="F2955F"/>
                </a:solidFill>
              </a:rPr>
              <a:t>INTRO TO BUSINESS  |  JOHN HERSEY HIGH SCHOOL</a:t>
            </a:r>
            <a:endParaRPr lang="en-US" sz="9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26F39"/>
          </a:solidFill>
          <a:ln/>
        </p:spPr>
      </p:sp>
      <p:sp>
        <p:nvSpPr>
          <p:cNvPr id="3" name="Text 1"/>
          <p:cNvSpPr/>
          <p:nvPr/>
        </p:nvSpPr>
        <p:spPr>
          <a:xfrm>
            <a:off x="457200" y="4800600"/>
            <a:ext cx="4572000" cy="228600"/>
          </a:xfrm>
          <a:prstGeom prst="rect">
            <a:avLst/>
          </a:prstGeom>
          <a:noFill/>
          <a:ln/>
        </p:spPr>
        <p:txBody>
          <a:bodyPr wrap="square" lIns="0" tIns="0" rIns="0" bIns="0" rtlCol="0" anchor="ctr"/>
          <a:lstStyle/>
          <a:p>
            <a:pPr indent="0" marL="0">
              <a:buNone/>
            </a:pPr>
            <a:r>
              <a:rPr lang="en-US" sz="800" dirty="0">
                <a:solidFill>
                  <a:srgbClr val="6B6B6B"/>
                </a:solidFill>
              </a:rPr>
              <a:t>Intro to Business  |  Market Segmentation</a:t>
            </a:r>
            <a:endParaRPr lang="en-US" sz="8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6B6B"/>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6B6B"/>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143000"/>
            <a:ext cx="7315200" cy="365760"/>
          </a:xfrm>
          <a:prstGeom prst="rect">
            <a:avLst/>
          </a:prstGeom>
          <a:noFill/>
          <a:ln/>
        </p:spPr>
        <p:txBody>
          <a:bodyPr wrap="square" lIns="0" tIns="0" rIns="0" bIns="0" rtlCol="0" anchor="ctr"/>
          <a:lstStyle/>
          <a:p>
            <a:pPr indent="0" marL="0">
              <a:buNone/>
            </a:pPr>
            <a:r>
              <a:rPr lang="en-US" sz="1400" b="1" spc="300" kern="0" dirty="0">
                <a:solidFill>
                  <a:srgbClr val="F2955F"/>
                </a:solidFill>
                <a:latin typeface="Arial" pitchFamily="34" charset="0"/>
                <a:ea typeface="Arial" pitchFamily="34" charset="-122"/>
                <a:cs typeface="Arial" pitchFamily="34" charset="-120"/>
              </a:rPr>
              <a:t>MARKET SEGMENTATION PROJECT</a:t>
            </a:r>
            <a:endParaRPr lang="en-US" sz="1400" dirty="0"/>
          </a:p>
        </p:txBody>
      </p:sp>
      <p:sp>
        <p:nvSpPr>
          <p:cNvPr id="3" name="Text 1"/>
          <p:cNvSpPr txBox="1"/>
          <p:nvPr/>
        </p:nvSpPr>
        <p:spPr>
          <a:xfrm>
            <a:off x="548640" y="1554480"/>
            <a:ext cx="8046720" cy="1005840"/>
          </a:xfrm>
          <a:prstGeom prst="rect">
            <a:avLst/>
          </a:prstGeom>
          <a:noFill/>
          <a:ln/>
        </p:spPr>
        <p:txBody>
          <a:bodyPr wrap="square" lIns="0" tIns="0" rIns="0" bIns="0" rtlCol="0" anchor="ctr"/>
          <a:lstStyle/>
          <a:p>
            <a:pPr indent="0" marL="0">
              <a:buNone/>
            </a:pPr>
            <a:r>
              <a:rPr lang="en-US" sz="5400" b="1" dirty="0">
                <a:solidFill>
                  <a:srgbClr val="FFFFFF"/>
                </a:solidFill>
                <a:latin typeface="Arial" pitchFamily="34" charset="0"/>
                <a:ea typeface="Arial" pitchFamily="34" charset="-122"/>
                <a:cs typeface="Arial" pitchFamily="34" charset="-120"/>
              </a:rPr>
              <a:t>Build the Lineup</a:t>
            </a:r>
            <a:endParaRPr lang="en-US" sz="5400" dirty="0"/>
          </a:p>
        </p:txBody>
      </p:sp>
      <p:sp>
        <p:nvSpPr>
          <p:cNvPr id="4" name="Text 2"/>
          <p:cNvSpPr txBox="1"/>
          <p:nvPr/>
        </p:nvSpPr>
        <p:spPr>
          <a:xfrm>
            <a:off x="548640" y="2606040"/>
            <a:ext cx="7772400" cy="457200"/>
          </a:xfrm>
          <a:prstGeom prst="rect">
            <a:avLst/>
          </a:prstGeom>
          <a:noFill/>
          <a:ln/>
        </p:spPr>
        <p:txBody>
          <a:bodyPr wrap="square" lIns="0" tIns="0" rIns="0" bIns="0" rtlCol="0" anchor="ctr"/>
          <a:lstStyle/>
          <a:p>
            <a:pPr indent="0" marL="0">
              <a:buNone/>
            </a:pPr>
            <a:r>
              <a:rPr lang="en-US" sz="1800" dirty="0">
                <a:solidFill>
                  <a:srgbClr val="FBF3EC"/>
                </a:solidFill>
                <a:latin typeface="Arial" pitchFamily="34" charset="0"/>
                <a:ea typeface="Arial" pitchFamily="34" charset="-122"/>
                <a:cs typeface="Arial" pitchFamily="34" charset="-120"/>
              </a:rPr>
              <a:t>One market. Three kinds of customers. Three versions of your product.</a:t>
            </a:r>
            <a:endParaRPr lang="en-US" sz="1800" dirty="0"/>
          </a:p>
        </p:txBody>
      </p:sp>
      <p:pic>
        <p:nvPicPr>
          <p:cNvPr id="5" name="Image 0" descr="preencoded.png">    </p:cNvPr>
          <p:cNvPicPr>
            <a:picLocks noChangeAspect="1"/>
          </p:cNvPicPr>
          <p:nvPr/>
        </p:nvPicPr>
        <p:blipFill>
          <a:blip r:embed="rId1"/>
          <a:stretch>
            <a:fillRect/>
          </a:stretch>
        </p:blipFill>
        <p:spPr>
          <a:xfrm>
            <a:off x="7315200" y="3108960"/>
            <a:ext cx="1188720" cy="11887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4C3629"/>
                </a:solidFill>
                <a:latin typeface="Arial" pitchFamily="34" charset="0"/>
                <a:ea typeface="Arial" pitchFamily="34" charset="-122"/>
                <a:cs typeface="Arial" pitchFamily="34" charset="-120"/>
              </a:rPr>
              <a:t>Where We've Been</a:t>
            </a:r>
            <a:endParaRPr lang="en-US" sz="2800" dirty="0"/>
          </a:p>
        </p:txBody>
      </p:sp>
      <p:sp>
        <p:nvSpPr>
          <p:cNvPr id="3" name="Shape 1"/>
          <p:cNvSpPr/>
          <p:nvPr/>
        </p:nvSpPr>
        <p:spPr>
          <a:xfrm>
            <a:off x="457200" y="1234440"/>
            <a:ext cx="2560320" cy="3017520"/>
          </a:xfrm>
          <a:prstGeom prst="roundRect">
            <a:avLst>
              <a:gd name="adj" fmla="val 2857"/>
            </a:avLst>
          </a:prstGeom>
          <a:solidFill>
            <a:srgbClr val="FBF3EC"/>
          </a:solidFill>
          <a:ln w="12700">
            <a:solidFill>
              <a:srgbClr val="EFE4DA"/>
            </a:solidFill>
            <a:prstDash val="solid"/>
          </a:ln>
        </p:spPr>
      </p:sp>
      <p:pic>
        <p:nvPicPr>
          <p:cNvPr id="4" name="Image 0" descr="preencoded.png">    </p:cNvPr>
          <p:cNvPicPr>
            <a:picLocks noChangeAspect="1"/>
          </p:cNvPicPr>
          <p:nvPr/>
        </p:nvPicPr>
        <p:blipFill>
          <a:blip r:embed="rId1"/>
          <a:stretch>
            <a:fillRect/>
          </a:stretch>
        </p:blipFill>
        <p:spPr>
          <a:xfrm>
            <a:off x="1371600" y="1463040"/>
            <a:ext cx="731520" cy="731520"/>
          </a:xfrm>
          <a:prstGeom prst="rect">
            <a:avLst/>
          </a:prstGeom>
        </p:spPr>
      </p:pic>
      <p:sp>
        <p:nvSpPr>
          <p:cNvPr id="5" name="Text 2"/>
          <p:cNvSpPr txBox="1"/>
          <p:nvPr/>
        </p:nvSpPr>
        <p:spPr>
          <a:xfrm>
            <a:off x="640080" y="2377440"/>
            <a:ext cx="2194560" cy="548640"/>
          </a:xfrm>
          <a:prstGeom prst="rect">
            <a:avLst/>
          </a:prstGeom>
          <a:noFill/>
          <a:ln/>
        </p:spPr>
        <p:txBody>
          <a:bodyPr wrap="square" lIns="0" tIns="0" rIns="0" bIns="0" rtlCol="0" anchor="ctr"/>
          <a:lstStyle/>
          <a:p>
            <a:pPr algn="ctr" indent="0" marL="0">
              <a:buNone/>
            </a:pPr>
            <a:r>
              <a:rPr lang="en-US" sz="1600" b="1" dirty="0">
                <a:solidFill>
                  <a:srgbClr val="4C3629"/>
                </a:solidFill>
                <a:latin typeface="Arial" pitchFamily="34" charset="0"/>
                <a:ea typeface="Arial" pitchFamily="34" charset="-122"/>
                <a:cs typeface="Arial" pitchFamily="34" charset="-120"/>
              </a:rPr>
              <a:t>Target Marketing</a:t>
            </a:r>
            <a:endParaRPr lang="en-US" sz="1600" dirty="0"/>
          </a:p>
        </p:txBody>
      </p:sp>
      <p:sp>
        <p:nvSpPr>
          <p:cNvPr id="6" name="Text 3"/>
          <p:cNvSpPr txBox="1"/>
          <p:nvPr/>
        </p:nvSpPr>
        <p:spPr>
          <a:xfrm>
            <a:off x="685800" y="2971800"/>
            <a:ext cx="2103120" cy="914400"/>
          </a:xfrm>
          <a:prstGeom prst="rect">
            <a:avLst/>
          </a:prstGeom>
          <a:noFill/>
          <a:ln/>
        </p:spPr>
        <p:txBody>
          <a:bodyPr wrap="square" lIns="0" tIns="0" rIns="0" bIns="0" rtlCol="0" anchor="ctr"/>
          <a:lstStyle/>
          <a:p>
            <a:pPr algn="ctr" indent="0" marL="0">
              <a:buNone/>
            </a:pPr>
            <a:r>
              <a:rPr lang="en-US" sz="1300" dirty="0">
                <a:solidFill>
                  <a:srgbClr val="222222"/>
                </a:solidFill>
                <a:latin typeface="Arial" pitchFamily="34" charset="0"/>
                <a:ea typeface="Arial" pitchFamily="34" charset="-122"/>
                <a:cs typeface="Arial" pitchFamily="34" charset="-120"/>
              </a:rPr>
              <a:t>You read survey data and found who buys.</a:t>
            </a:r>
            <a:endParaRPr lang="en-US" sz="1300" dirty="0"/>
          </a:p>
        </p:txBody>
      </p:sp>
      <p:sp>
        <p:nvSpPr>
          <p:cNvPr id="7" name="Shape 4"/>
          <p:cNvSpPr/>
          <p:nvPr/>
        </p:nvSpPr>
        <p:spPr>
          <a:xfrm>
            <a:off x="3054096" y="2606040"/>
            <a:ext cx="201168" cy="292608"/>
          </a:xfrm>
          <a:prstGeom prst="chevron">
            <a:avLst/>
          </a:prstGeom>
          <a:solidFill>
            <a:srgbClr val="E26F39"/>
          </a:solidFill>
          <a:ln w="12700">
            <a:solidFill>
              <a:srgbClr val="E26F39"/>
            </a:solidFill>
            <a:prstDash val="solid"/>
          </a:ln>
        </p:spPr>
      </p:sp>
      <p:sp>
        <p:nvSpPr>
          <p:cNvPr id="8" name="Text 5"/>
          <p:cNvSpPr txBox="1"/>
          <p:nvPr/>
        </p:nvSpPr>
        <p:spPr>
          <a:xfrm>
            <a:off x="457200" y="4343400"/>
            <a:ext cx="2560320" cy="274320"/>
          </a:xfrm>
          <a:prstGeom prst="rect">
            <a:avLst/>
          </a:prstGeom>
          <a:noFill/>
          <a:ln/>
        </p:spPr>
        <p:txBody>
          <a:bodyPr wrap="square" lIns="0" tIns="0" rIns="0" bIns="0" rtlCol="0" anchor="ctr"/>
          <a:lstStyle/>
          <a:p>
            <a:pPr algn="ctr" indent="0" marL="0">
              <a:buNone/>
            </a:pPr>
            <a:r>
              <a:rPr lang="en-US" sz="1000" b="1" spc="200" kern="0" dirty="0">
                <a:solidFill>
                  <a:srgbClr val="6B6B6B"/>
                </a:solidFill>
                <a:latin typeface="Arial" pitchFamily="34" charset="0"/>
                <a:ea typeface="Arial" pitchFamily="34" charset="-122"/>
                <a:cs typeface="Arial" pitchFamily="34" charset="-120"/>
              </a:rPr>
              <a:t>STEP 1</a:t>
            </a:r>
            <a:endParaRPr lang="en-US" sz="1000" dirty="0"/>
          </a:p>
        </p:txBody>
      </p:sp>
      <p:sp>
        <p:nvSpPr>
          <p:cNvPr id="9" name="Shape 6"/>
          <p:cNvSpPr/>
          <p:nvPr/>
        </p:nvSpPr>
        <p:spPr>
          <a:xfrm>
            <a:off x="3291840" y="1234440"/>
            <a:ext cx="2560320" cy="3017520"/>
          </a:xfrm>
          <a:prstGeom prst="roundRect">
            <a:avLst>
              <a:gd name="adj" fmla="val 2857"/>
            </a:avLst>
          </a:prstGeom>
          <a:solidFill>
            <a:srgbClr val="FBF3EC"/>
          </a:solidFill>
          <a:ln w="12700">
            <a:solidFill>
              <a:srgbClr val="EFE4DA"/>
            </a:solidFill>
            <a:prstDash val="solid"/>
          </a:ln>
        </p:spPr>
      </p:sp>
      <p:pic>
        <p:nvPicPr>
          <p:cNvPr id="10" name="Image 1" descr="preencoded.png">    </p:cNvPr>
          <p:cNvPicPr>
            <a:picLocks noChangeAspect="1"/>
          </p:cNvPicPr>
          <p:nvPr/>
        </p:nvPicPr>
        <p:blipFill>
          <a:blip r:embed="rId2"/>
          <a:stretch>
            <a:fillRect/>
          </a:stretch>
        </p:blipFill>
        <p:spPr>
          <a:xfrm>
            <a:off x="4206240" y="1463040"/>
            <a:ext cx="731520" cy="731520"/>
          </a:xfrm>
          <a:prstGeom prst="rect">
            <a:avLst/>
          </a:prstGeom>
        </p:spPr>
      </p:pic>
      <p:sp>
        <p:nvSpPr>
          <p:cNvPr id="11" name="Text 7"/>
          <p:cNvSpPr txBox="1"/>
          <p:nvPr/>
        </p:nvSpPr>
        <p:spPr>
          <a:xfrm>
            <a:off x="3474720" y="2377440"/>
            <a:ext cx="2194560" cy="548640"/>
          </a:xfrm>
          <a:prstGeom prst="rect">
            <a:avLst/>
          </a:prstGeom>
          <a:noFill/>
          <a:ln/>
        </p:spPr>
        <p:txBody>
          <a:bodyPr wrap="square" lIns="0" tIns="0" rIns="0" bIns="0" rtlCol="0" anchor="ctr"/>
          <a:lstStyle/>
          <a:p>
            <a:pPr algn="ctr" indent="0" marL="0">
              <a:buNone/>
            </a:pPr>
            <a:r>
              <a:rPr lang="en-US" sz="1600" b="1" dirty="0">
                <a:solidFill>
                  <a:srgbClr val="4C3629"/>
                </a:solidFill>
                <a:latin typeface="Arial" pitchFamily="34" charset="0"/>
                <a:ea typeface="Arial" pitchFamily="34" charset="-122"/>
                <a:cs typeface="Arial" pitchFamily="34" charset="-120"/>
              </a:rPr>
              <a:t>Million Dollar Media Buy</a:t>
            </a:r>
            <a:endParaRPr lang="en-US" sz="1600" dirty="0"/>
          </a:p>
        </p:txBody>
      </p:sp>
      <p:sp>
        <p:nvSpPr>
          <p:cNvPr id="12" name="Text 8"/>
          <p:cNvSpPr txBox="1"/>
          <p:nvPr/>
        </p:nvSpPr>
        <p:spPr>
          <a:xfrm>
            <a:off x="3520440" y="2971800"/>
            <a:ext cx="2103120" cy="914400"/>
          </a:xfrm>
          <a:prstGeom prst="rect">
            <a:avLst/>
          </a:prstGeom>
          <a:noFill/>
          <a:ln/>
        </p:spPr>
        <p:txBody>
          <a:bodyPr wrap="square" lIns="0" tIns="0" rIns="0" bIns="0" rtlCol="0" anchor="ctr"/>
          <a:lstStyle/>
          <a:p>
            <a:pPr algn="ctr" indent="0" marL="0">
              <a:buNone/>
            </a:pPr>
            <a:r>
              <a:rPr lang="en-US" sz="1300" dirty="0">
                <a:solidFill>
                  <a:srgbClr val="222222"/>
                </a:solidFill>
                <a:latin typeface="Arial" pitchFamily="34" charset="0"/>
                <a:ea typeface="Arial" pitchFamily="34" charset="-122"/>
                <a:cs typeface="Arial" pitchFamily="34" charset="-120"/>
              </a:rPr>
              <a:t>You spent money reaching segments we gave you.</a:t>
            </a:r>
            <a:endParaRPr lang="en-US" sz="1300" dirty="0"/>
          </a:p>
        </p:txBody>
      </p:sp>
      <p:sp>
        <p:nvSpPr>
          <p:cNvPr id="13" name="Shape 9"/>
          <p:cNvSpPr/>
          <p:nvPr/>
        </p:nvSpPr>
        <p:spPr>
          <a:xfrm>
            <a:off x="5888736" y="2606040"/>
            <a:ext cx="201168" cy="292608"/>
          </a:xfrm>
          <a:prstGeom prst="chevron">
            <a:avLst/>
          </a:prstGeom>
          <a:solidFill>
            <a:srgbClr val="E26F39"/>
          </a:solidFill>
          <a:ln w="12700">
            <a:solidFill>
              <a:srgbClr val="E26F39"/>
            </a:solidFill>
            <a:prstDash val="solid"/>
          </a:ln>
        </p:spPr>
      </p:sp>
      <p:sp>
        <p:nvSpPr>
          <p:cNvPr id="14" name="Text 10"/>
          <p:cNvSpPr txBox="1"/>
          <p:nvPr/>
        </p:nvSpPr>
        <p:spPr>
          <a:xfrm>
            <a:off x="3291840" y="4343400"/>
            <a:ext cx="2560320" cy="274320"/>
          </a:xfrm>
          <a:prstGeom prst="rect">
            <a:avLst/>
          </a:prstGeom>
          <a:noFill/>
          <a:ln/>
        </p:spPr>
        <p:txBody>
          <a:bodyPr wrap="square" lIns="0" tIns="0" rIns="0" bIns="0" rtlCol="0" anchor="ctr"/>
          <a:lstStyle/>
          <a:p>
            <a:pPr algn="ctr" indent="0" marL="0">
              <a:buNone/>
            </a:pPr>
            <a:r>
              <a:rPr lang="en-US" sz="1000" b="1" spc="200" kern="0" dirty="0">
                <a:solidFill>
                  <a:srgbClr val="6B6B6B"/>
                </a:solidFill>
                <a:latin typeface="Arial" pitchFamily="34" charset="0"/>
                <a:ea typeface="Arial" pitchFamily="34" charset="-122"/>
                <a:cs typeface="Arial" pitchFamily="34" charset="-120"/>
              </a:rPr>
              <a:t>STEP 2</a:t>
            </a:r>
            <a:endParaRPr lang="en-US" sz="1000" dirty="0"/>
          </a:p>
        </p:txBody>
      </p:sp>
      <p:sp>
        <p:nvSpPr>
          <p:cNvPr id="15" name="Shape 11"/>
          <p:cNvSpPr/>
          <p:nvPr/>
        </p:nvSpPr>
        <p:spPr>
          <a:xfrm>
            <a:off x="6126480" y="1234440"/>
            <a:ext cx="2560320" cy="3017520"/>
          </a:xfrm>
          <a:prstGeom prst="roundRect">
            <a:avLst>
              <a:gd name="adj" fmla="val 2857"/>
            </a:avLst>
          </a:prstGeom>
          <a:solidFill>
            <a:srgbClr val="4C3629"/>
          </a:solidFill>
          <a:ln w="12700">
            <a:solidFill>
              <a:srgbClr val="4C3629"/>
            </a:solidFill>
            <a:prstDash val="solid"/>
          </a:ln>
        </p:spPr>
      </p:sp>
      <p:pic>
        <p:nvPicPr>
          <p:cNvPr id="16" name="Image 2" descr="preencoded.png">    </p:cNvPr>
          <p:cNvPicPr>
            <a:picLocks noChangeAspect="1"/>
          </p:cNvPicPr>
          <p:nvPr/>
        </p:nvPicPr>
        <p:blipFill>
          <a:blip r:embed="rId3"/>
          <a:stretch>
            <a:fillRect/>
          </a:stretch>
        </p:blipFill>
        <p:spPr>
          <a:xfrm>
            <a:off x="7040880" y="1463040"/>
            <a:ext cx="731520" cy="731520"/>
          </a:xfrm>
          <a:prstGeom prst="rect">
            <a:avLst/>
          </a:prstGeom>
        </p:spPr>
      </p:pic>
      <p:sp>
        <p:nvSpPr>
          <p:cNvPr id="17" name="Text 12"/>
          <p:cNvSpPr txBox="1"/>
          <p:nvPr/>
        </p:nvSpPr>
        <p:spPr>
          <a:xfrm>
            <a:off x="6309360" y="2377440"/>
            <a:ext cx="219456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Build the Lineup</a:t>
            </a:r>
            <a:endParaRPr lang="en-US" sz="1600" dirty="0"/>
          </a:p>
        </p:txBody>
      </p:sp>
      <p:sp>
        <p:nvSpPr>
          <p:cNvPr id="18" name="Text 13"/>
          <p:cNvSpPr txBox="1"/>
          <p:nvPr/>
        </p:nvSpPr>
        <p:spPr>
          <a:xfrm>
            <a:off x="6355080" y="2971800"/>
            <a:ext cx="2103120" cy="914400"/>
          </a:xfrm>
          <a:prstGeom prst="rect">
            <a:avLst/>
          </a:prstGeom>
          <a:noFill/>
          <a:ln/>
        </p:spPr>
        <p:txBody>
          <a:bodyPr wrap="square" lIns="0" tIns="0" rIns="0" bIns="0" rtlCol="0" anchor="ctr"/>
          <a:lstStyle/>
          <a:p>
            <a:pPr algn="ctr" indent="0" marL="0">
              <a:buNone/>
            </a:pPr>
            <a:r>
              <a:rPr lang="en-US" sz="1300" dirty="0">
                <a:solidFill>
                  <a:srgbClr val="FBF3EC"/>
                </a:solidFill>
                <a:latin typeface="Arial" pitchFamily="34" charset="0"/>
                <a:ea typeface="Arial" pitchFamily="34" charset="-122"/>
                <a:cs typeface="Arial" pitchFamily="34" charset="-120"/>
              </a:rPr>
              <a:t>You find the segments and build a product for each one.</a:t>
            </a:r>
            <a:endParaRPr lang="en-US" sz="1300" dirty="0"/>
          </a:p>
        </p:txBody>
      </p:sp>
      <p:sp>
        <p:nvSpPr>
          <p:cNvPr id="19" name="Text 14"/>
          <p:cNvSpPr txBox="1"/>
          <p:nvPr/>
        </p:nvSpPr>
        <p:spPr>
          <a:xfrm>
            <a:off x="6126480" y="4343400"/>
            <a:ext cx="2560320" cy="274320"/>
          </a:xfrm>
          <a:prstGeom prst="rect">
            <a:avLst/>
          </a:prstGeom>
          <a:noFill/>
          <a:ln/>
        </p:spPr>
        <p:txBody>
          <a:bodyPr wrap="square" lIns="0" tIns="0" rIns="0" bIns="0" rtlCol="0" anchor="ctr"/>
          <a:lstStyle/>
          <a:p>
            <a:pPr algn="ctr" indent="0" marL="0">
              <a:buNone/>
            </a:pPr>
            <a:r>
              <a:rPr lang="en-US" sz="1000" b="1" spc="200" kern="0" dirty="0">
                <a:solidFill>
                  <a:srgbClr val="E26F39"/>
                </a:solidFill>
                <a:latin typeface="Arial" pitchFamily="34" charset="0"/>
                <a:ea typeface="Arial" pitchFamily="34" charset="-122"/>
                <a:cs typeface="Arial" pitchFamily="34" charset="-120"/>
              </a:rPr>
              <a:t>TODAY</a:t>
            </a:r>
            <a:endParaRPr lang="en-US" sz="10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6B6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731520" y="1280160"/>
            <a:ext cx="7680960" cy="164592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Why does one product come in three versions?</a:t>
            </a:r>
            <a:endParaRPr lang="en-US" sz="4000" dirty="0"/>
          </a:p>
        </p:txBody>
      </p:sp>
      <p:sp>
        <p:nvSpPr>
          <p:cNvPr id="3" name="Text 1"/>
          <p:cNvSpPr txBox="1"/>
          <p:nvPr/>
        </p:nvSpPr>
        <p:spPr>
          <a:xfrm>
            <a:off x="731520" y="3017520"/>
            <a:ext cx="7315200" cy="731520"/>
          </a:xfrm>
          <a:prstGeom prst="rect">
            <a:avLst/>
          </a:prstGeom>
          <a:noFill/>
          <a:ln/>
        </p:spPr>
        <p:txBody>
          <a:bodyPr wrap="square" lIns="0" tIns="0" rIns="0" bIns="0" rtlCol="0" anchor="ctr"/>
          <a:lstStyle/>
          <a:p>
            <a:pPr indent="0" marL="0">
              <a:buNone/>
            </a:pPr>
            <a:r>
              <a:rPr lang="en-US" sz="1800" dirty="0">
                <a:solidFill>
                  <a:srgbClr val="F2955F"/>
                </a:solidFill>
                <a:latin typeface="Arial" pitchFamily="34" charset="0"/>
                <a:ea typeface="Arial" pitchFamily="34" charset="-122"/>
                <a:cs typeface="Arial" pitchFamily="34" charset="-120"/>
              </a:rPr>
              <a:t>Think of something you've bought that had a basic, a middle, and a premium option.</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4C3629"/>
                </a:solidFill>
                <a:latin typeface="Arial" pitchFamily="34" charset="0"/>
                <a:ea typeface="Arial" pitchFamily="34" charset="-122"/>
                <a:cs typeface="Arial" pitchFamily="34" charset="-120"/>
              </a:rPr>
              <a:t>Good, Better, Best Is Everywhere</a:t>
            </a:r>
            <a:endParaRPr lang="en-US" sz="2800" dirty="0"/>
          </a:p>
        </p:txBody>
      </p:sp>
      <p:pic>
        <p:nvPicPr>
          <p:cNvPr id="3" name="Image 0" descr="preencoded.png">    </p:cNvPr>
          <p:cNvPicPr>
            <a:picLocks noChangeAspect="1"/>
          </p:cNvPicPr>
          <p:nvPr/>
        </p:nvPicPr>
        <p:blipFill>
          <a:blip r:embed="rId1"/>
          <a:stretch>
            <a:fillRect/>
          </a:stretch>
        </p:blipFill>
        <p:spPr>
          <a:xfrm>
            <a:off x="1463040" y="1143000"/>
            <a:ext cx="548640" cy="548640"/>
          </a:xfrm>
          <a:prstGeom prst="rect">
            <a:avLst/>
          </a:prstGeom>
        </p:spPr>
      </p:pic>
      <p:sp>
        <p:nvSpPr>
          <p:cNvPr id="4" name="Text 1"/>
          <p:cNvSpPr txBox="1"/>
          <p:nvPr/>
        </p:nvSpPr>
        <p:spPr>
          <a:xfrm>
            <a:off x="457200" y="1737360"/>
            <a:ext cx="2560320" cy="365760"/>
          </a:xfrm>
          <a:prstGeom prst="rect">
            <a:avLst/>
          </a:prstGeom>
          <a:noFill/>
          <a:ln/>
        </p:spPr>
        <p:txBody>
          <a:bodyPr wrap="square" lIns="0" tIns="0" rIns="0" bIns="0" rtlCol="0" anchor="ctr"/>
          <a:lstStyle/>
          <a:p>
            <a:pPr algn="ctr" indent="0" marL="0">
              <a:buNone/>
            </a:pPr>
            <a:r>
              <a:rPr lang="en-US" sz="1600" b="1" dirty="0">
                <a:solidFill>
                  <a:srgbClr val="4C3629"/>
                </a:solidFill>
                <a:latin typeface="Arial" pitchFamily="34" charset="0"/>
                <a:ea typeface="Arial" pitchFamily="34" charset="-122"/>
                <a:cs typeface="Arial" pitchFamily="34" charset="-120"/>
              </a:rPr>
              <a:t>Streaming</a:t>
            </a:r>
            <a:endParaRPr lang="en-US" sz="1600" dirty="0"/>
          </a:p>
        </p:txBody>
      </p:sp>
      <p:sp>
        <p:nvSpPr>
          <p:cNvPr id="5" name="Shape 2"/>
          <p:cNvSpPr/>
          <p:nvPr/>
        </p:nvSpPr>
        <p:spPr>
          <a:xfrm>
            <a:off x="640080" y="2240280"/>
            <a:ext cx="2194560" cy="548640"/>
          </a:xfrm>
          <a:prstGeom prst="rect">
            <a:avLst/>
          </a:prstGeom>
          <a:solidFill>
            <a:srgbClr val="EFE4DA"/>
          </a:solidFill>
          <a:ln w="12700">
            <a:solidFill>
              <a:srgbClr val="EFE4DA"/>
            </a:solidFill>
            <a:prstDash val="solid"/>
          </a:ln>
        </p:spPr>
      </p:sp>
      <p:sp>
        <p:nvSpPr>
          <p:cNvPr id="6" name="Text 3"/>
          <p:cNvSpPr txBox="1"/>
          <p:nvPr/>
        </p:nvSpPr>
        <p:spPr>
          <a:xfrm>
            <a:off x="640080" y="2240280"/>
            <a:ext cx="2194560" cy="548640"/>
          </a:xfrm>
          <a:prstGeom prst="rect">
            <a:avLst/>
          </a:prstGeom>
          <a:noFill/>
          <a:ln/>
        </p:spPr>
        <p:txBody>
          <a:bodyPr wrap="square" lIns="0" tIns="0" rIns="0" bIns="0" rtlCol="0" anchor="ctr"/>
          <a:lstStyle/>
          <a:p>
            <a:pPr algn="ctr" indent="0" marL="0">
              <a:buNone/>
            </a:pPr>
            <a:r>
              <a:rPr lang="en-US" sz="1300" dirty="0">
                <a:solidFill>
                  <a:srgbClr val="222222"/>
                </a:solidFill>
                <a:latin typeface="Arial" pitchFamily="34" charset="0"/>
                <a:ea typeface="Arial" pitchFamily="34" charset="-122"/>
                <a:cs typeface="Arial" pitchFamily="34" charset="-120"/>
              </a:rPr>
              <a:t>With ads</a:t>
            </a:r>
            <a:endParaRPr lang="en-US" sz="1300" dirty="0"/>
          </a:p>
        </p:txBody>
      </p:sp>
      <p:sp>
        <p:nvSpPr>
          <p:cNvPr id="7" name="Shape 4"/>
          <p:cNvSpPr/>
          <p:nvPr/>
        </p:nvSpPr>
        <p:spPr>
          <a:xfrm>
            <a:off x="640080" y="2898648"/>
            <a:ext cx="2194560" cy="548640"/>
          </a:xfrm>
          <a:prstGeom prst="rect">
            <a:avLst/>
          </a:prstGeom>
          <a:solidFill>
            <a:srgbClr val="F2955F"/>
          </a:solidFill>
          <a:ln w="12700">
            <a:solidFill>
              <a:srgbClr val="F2955F"/>
            </a:solidFill>
            <a:prstDash val="solid"/>
          </a:ln>
        </p:spPr>
      </p:sp>
      <p:sp>
        <p:nvSpPr>
          <p:cNvPr id="8" name="Text 5"/>
          <p:cNvSpPr txBox="1"/>
          <p:nvPr/>
        </p:nvSpPr>
        <p:spPr>
          <a:xfrm>
            <a:off x="640080" y="2898648"/>
            <a:ext cx="2194560" cy="548640"/>
          </a:xfrm>
          <a:prstGeom prst="rect">
            <a:avLst/>
          </a:prstGeom>
          <a:noFill/>
          <a:ln/>
        </p:spPr>
        <p:txBody>
          <a:bodyPr wrap="square" lIns="0" tIns="0" rIns="0" bIns="0" rtlCol="0" anchor="ctr"/>
          <a:lstStyle/>
          <a:p>
            <a:pPr algn="ctr" indent="0" marL="0">
              <a:buNone/>
            </a:pPr>
            <a:r>
              <a:rPr lang="en-US" sz="1300" dirty="0">
                <a:solidFill>
                  <a:srgbClr val="222222"/>
                </a:solidFill>
                <a:latin typeface="Arial" pitchFamily="34" charset="0"/>
                <a:ea typeface="Arial" pitchFamily="34" charset="-122"/>
                <a:cs typeface="Arial" pitchFamily="34" charset="-120"/>
              </a:rPr>
              <a:t>No ads</a:t>
            </a:r>
            <a:endParaRPr lang="en-US" sz="1300" dirty="0"/>
          </a:p>
        </p:txBody>
      </p:sp>
      <p:sp>
        <p:nvSpPr>
          <p:cNvPr id="9" name="Shape 6"/>
          <p:cNvSpPr/>
          <p:nvPr/>
        </p:nvSpPr>
        <p:spPr>
          <a:xfrm>
            <a:off x="640080" y="3557016"/>
            <a:ext cx="2194560" cy="548640"/>
          </a:xfrm>
          <a:prstGeom prst="rect">
            <a:avLst/>
          </a:prstGeom>
          <a:solidFill>
            <a:srgbClr val="4C3629"/>
          </a:solidFill>
          <a:ln w="12700">
            <a:solidFill>
              <a:srgbClr val="4C3629"/>
            </a:solidFill>
            <a:prstDash val="solid"/>
          </a:ln>
        </p:spPr>
      </p:sp>
      <p:sp>
        <p:nvSpPr>
          <p:cNvPr id="10" name="Text 7"/>
          <p:cNvSpPr txBox="1"/>
          <p:nvPr/>
        </p:nvSpPr>
        <p:spPr>
          <a:xfrm>
            <a:off x="640080" y="3557016"/>
            <a:ext cx="219456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4K + extra screens</a:t>
            </a:r>
            <a:endParaRPr lang="en-US" sz="1300" dirty="0"/>
          </a:p>
        </p:txBody>
      </p:sp>
      <p:pic>
        <p:nvPicPr>
          <p:cNvPr id="11" name="Image 1" descr="preencoded.png">    </p:cNvPr>
          <p:cNvPicPr>
            <a:picLocks noChangeAspect="1"/>
          </p:cNvPicPr>
          <p:nvPr/>
        </p:nvPicPr>
        <p:blipFill>
          <a:blip r:embed="rId2"/>
          <a:stretch>
            <a:fillRect/>
          </a:stretch>
        </p:blipFill>
        <p:spPr>
          <a:xfrm>
            <a:off x="4297680" y="1143000"/>
            <a:ext cx="548640" cy="548640"/>
          </a:xfrm>
          <a:prstGeom prst="rect">
            <a:avLst/>
          </a:prstGeom>
        </p:spPr>
      </p:pic>
      <p:sp>
        <p:nvSpPr>
          <p:cNvPr id="12" name="Text 8"/>
          <p:cNvSpPr txBox="1"/>
          <p:nvPr/>
        </p:nvSpPr>
        <p:spPr>
          <a:xfrm>
            <a:off x="3291840" y="1737360"/>
            <a:ext cx="2560320" cy="365760"/>
          </a:xfrm>
          <a:prstGeom prst="rect">
            <a:avLst/>
          </a:prstGeom>
          <a:noFill/>
          <a:ln/>
        </p:spPr>
        <p:txBody>
          <a:bodyPr wrap="square" lIns="0" tIns="0" rIns="0" bIns="0" rtlCol="0" anchor="ctr"/>
          <a:lstStyle/>
          <a:p>
            <a:pPr algn="ctr" indent="0" marL="0">
              <a:buNone/>
            </a:pPr>
            <a:r>
              <a:rPr lang="en-US" sz="1600" b="1" dirty="0">
                <a:solidFill>
                  <a:srgbClr val="4C3629"/>
                </a:solidFill>
                <a:latin typeface="Arial" pitchFamily="34" charset="0"/>
                <a:ea typeface="Arial" pitchFamily="34" charset="-122"/>
                <a:cs typeface="Arial" pitchFamily="34" charset="-120"/>
              </a:rPr>
              <a:t>Phones</a:t>
            </a:r>
            <a:endParaRPr lang="en-US" sz="1600" dirty="0"/>
          </a:p>
        </p:txBody>
      </p:sp>
      <p:sp>
        <p:nvSpPr>
          <p:cNvPr id="13" name="Shape 9"/>
          <p:cNvSpPr/>
          <p:nvPr/>
        </p:nvSpPr>
        <p:spPr>
          <a:xfrm>
            <a:off x="3474720" y="2240280"/>
            <a:ext cx="2194560" cy="548640"/>
          </a:xfrm>
          <a:prstGeom prst="rect">
            <a:avLst/>
          </a:prstGeom>
          <a:solidFill>
            <a:srgbClr val="EFE4DA"/>
          </a:solidFill>
          <a:ln w="12700">
            <a:solidFill>
              <a:srgbClr val="EFE4DA"/>
            </a:solidFill>
            <a:prstDash val="solid"/>
          </a:ln>
        </p:spPr>
      </p:sp>
      <p:sp>
        <p:nvSpPr>
          <p:cNvPr id="14" name="Text 10"/>
          <p:cNvSpPr txBox="1"/>
          <p:nvPr/>
        </p:nvSpPr>
        <p:spPr>
          <a:xfrm>
            <a:off x="3474720" y="2240280"/>
            <a:ext cx="2194560" cy="548640"/>
          </a:xfrm>
          <a:prstGeom prst="rect">
            <a:avLst/>
          </a:prstGeom>
          <a:noFill/>
          <a:ln/>
        </p:spPr>
        <p:txBody>
          <a:bodyPr wrap="square" lIns="0" tIns="0" rIns="0" bIns="0" rtlCol="0" anchor="ctr"/>
          <a:lstStyle/>
          <a:p>
            <a:pPr algn="ctr" indent="0" marL="0">
              <a:buNone/>
            </a:pPr>
            <a:r>
              <a:rPr lang="en-US" sz="1300" dirty="0">
                <a:solidFill>
                  <a:srgbClr val="222222"/>
                </a:solidFill>
                <a:latin typeface="Arial" pitchFamily="34" charset="0"/>
                <a:ea typeface="Arial" pitchFamily="34" charset="-122"/>
                <a:cs typeface="Arial" pitchFamily="34" charset="-120"/>
              </a:rPr>
              <a:t>Base storage</a:t>
            </a:r>
            <a:endParaRPr lang="en-US" sz="1300" dirty="0"/>
          </a:p>
        </p:txBody>
      </p:sp>
      <p:sp>
        <p:nvSpPr>
          <p:cNvPr id="15" name="Shape 11"/>
          <p:cNvSpPr/>
          <p:nvPr/>
        </p:nvSpPr>
        <p:spPr>
          <a:xfrm>
            <a:off x="3474720" y="2898648"/>
            <a:ext cx="2194560" cy="548640"/>
          </a:xfrm>
          <a:prstGeom prst="rect">
            <a:avLst/>
          </a:prstGeom>
          <a:solidFill>
            <a:srgbClr val="F2955F"/>
          </a:solidFill>
          <a:ln w="12700">
            <a:solidFill>
              <a:srgbClr val="F2955F"/>
            </a:solidFill>
            <a:prstDash val="solid"/>
          </a:ln>
        </p:spPr>
      </p:sp>
      <p:sp>
        <p:nvSpPr>
          <p:cNvPr id="16" name="Text 12"/>
          <p:cNvSpPr txBox="1"/>
          <p:nvPr/>
        </p:nvSpPr>
        <p:spPr>
          <a:xfrm>
            <a:off x="3474720" y="2898648"/>
            <a:ext cx="2194560" cy="548640"/>
          </a:xfrm>
          <a:prstGeom prst="rect">
            <a:avLst/>
          </a:prstGeom>
          <a:noFill/>
          <a:ln/>
        </p:spPr>
        <p:txBody>
          <a:bodyPr wrap="square" lIns="0" tIns="0" rIns="0" bIns="0" rtlCol="0" anchor="ctr"/>
          <a:lstStyle/>
          <a:p>
            <a:pPr algn="ctr" indent="0" marL="0">
              <a:buNone/>
            </a:pPr>
            <a:r>
              <a:rPr lang="en-US" sz="1300" dirty="0">
                <a:solidFill>
                  <a:srgbClr val="222222"/>
                </a:solidFill>
                <a:latin typeface="Arial" pitchFamily="34" charset="0"/>
                <a:ea typeface="Arial" pitchFamily="34" charset="-122"/>
                <a:cs typeface="Arial" pitchFamily="34" charset="-120"/>
              </a:rPr>
              <a:t>More storage</a:t>
            </a:r>
            <a:endParaRPr lang="en-US" sz="1300" dirty="0"/>
          </a:p>
        </p:txBody>
      </p:sp>
      <p:sp>
        <p:nvSpPr>
          <p:cNvPr id="17" name="Shape 13"/>
          <p:cNvSpPr/>
          <p:nvPr/>
        </p:nvSpPr>
        <p:spPr>
          <a:xfrm>
            <a:off x="3474720" y="3557016"/>
            <a:ext cx="2194560" cy="548640"/>
          </a:xfrm>
          <a:prstGeom prst="rect">
            <a:avLst/>
          </a:prstGeom>
          <a:solidFill>
            <a:srgbClr val="4C3629"/>
          </a:solidFill>
          <a:ln w="12700">
            <a:solidFill>
              <a:srgbClr val="4C3629"/>
            </a:solidFill>
            <a:prstDash val="solid"/>
          </a:ln>
        </p:spPr>
      </p:sp>
      <p:sp>
        <p:nvSpPr>
          <p:cNvPr id="18" name="Text 14"/>
          <p:cNvSpPr txBox="1"/>
          <p:nvPr/>
        </p:nvSpPr>
        <p:spPr>
          <a:xfrm>
            <a:off x="3474720" y="3557016"/>
            <a:ext cx="219456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Pro camera</a:t>
            </a:r>
            <a:endParaRPr lang="en-US" sz="1300" dirty="0"/>
          </a:p>
        </p:txBody>
      </p:sp>
      <p:pic>
        <p:nvPicPr>
          <p:cNvPr id="19" name="Image 2" descr="preencoded.png">    </p:cNvPr>
          <p:cNvPicPr>
            <a:picLocks noChangeAspect="1"/>
          </p:cNvPicPr>
          <p:nvPr/>
        </p:nvPicPr>
        <p:blipFill>
          <a:blip r:embed="rId3"/>
          <a:stretch>
            <a:fillRect/>
          </a:stretch>
        </p:blipFill>
        <p:spPr>
          <a:xfrm>
            <a:off x="7132320" y="1143000"/>
            <a:ext cx="548640" cy="548640"/>
          </a:xfrm>
          <a:prstGeom prst="rect">
            <a:avLst/>
          </a:prstGeom>
        </p:spPr>
      </p:pic>
      <p:sp>
        <p:nvSpPr>
          <p:cNvPr id="20" name="Text 15"/>
          <p:cNvSpPr txBox="1"/>
          <p:nvPr/>
        </p:nvSpPr>
        <p:spPr>
          <a:xfrm>
            <a:off x="6126480" y="1737360"/>
            <a:ext cx="2560320" cy="365760"/>
          </a:xfrm>
          <a:prstGeom prst="rect">
            <a:avLst/>
          </a:prstGeom>
          <a:noFill/>
          <a:ln/>
        </p:spPr>
        <p:txBody>
          <a:bodyPr wrap="square" lIns="0" tIns="0" rIns="0" bIns="0" rtlCol="0" anchor="ctr"/>
          <a:lstStyle/>
          <a:p>
            <a:pPr algn="ctr" indent="0" marL="0">
              <a:buNone/>
            </a:pPr>
            <a:r>
              <a:rPr lang="en-US" sz="1600" b="1" dirty="0">
                <a:solidFill>
                  <a:srgbClr val="4C3629"/>
                </a:solidFill>
                <a:latin typeface="Arial" pitchFamily="34" charset="0"/>
                <a:ea typeface="Arial" pitchFamily="34" charset="-122"/>
                <a:cs typeface="Arial" pitchFamily="34" charset="-120"/>
              </a:rPr>
              <a:t>Cars</a:t>
            </a:r>
            <a:endParaRPr lang="en-US" sz="1600" dirty="0"/>
          </a:p>
        </p:txBody>
      </p:sp>
      <p:sp>
        <p:nvSpPr>
          <p:cNvPr id="21" name="Shape 16"/>
          <p:cNvSpPr/>
          <p:nvPr/>
        </p:nvSpPr>
        <p:spPr>
          <a:xfrm>
            <a:off x="6309360" y="2240280"/>
            <a:ext cx="2194560" cy="548640"/>
          </a:xfrm>
          <a:prstGeom prst="rect">
            <a:avLst/>
          </a:prstGeom>
          <a:solidFill>
            <a:srgbClr val="EFE4DA"/>
          </a:solidFill>
          <a:ln w="12700">
            <a:solidFill>
              <a:srgbClr val="EFE4DA"/>
            </a:solidFill>
            <a:prstDash val="solid"/>
          </a:ln>
        </p:spPr>
      </p:sp>
      <p:sp>
        <p:nvSpPr>
          <p:cNvPr id="22" name="Text 17"/>
          <p:cNvSpPr txBox="1"/>
          <p:nvPr/>
        </p:nvSpPr>
        <p:spPr>
          <a:xfrm>
            <a:off x="6309360" y="2240280"/>
            <a:ext cx="2194560" cy="548640"/>
          </a:xfrm>
          <a:prstGeom prst="rect">
            <a:avLst/>
          </a:prstGeom>
          <a:noFill/>
          <a:ln/>
        </p:spPr>
        <p:txBody>
          <a:bodyPr wrap="square" lIns="0" tIns="0" rIns="0" bIns="0" rtlCol="0" anchor="ctr"/>
          <a:lstStyle/>
          <a:p>
            <a:pPr algn="ctr" indent="0" marL="0">
              <a:buNone/>
            </a:pPr>
            <a:r>
              <a:rPr lang="en-US" sz="1300" dirty="0">
                <a:solidFill>
                  <a:srgbClr val="222222"/>
                </a:solidFill>
                <a:latin typeface="Arial" pitchFamily="34" charset="0"/>
                <a:ea typeface="Arial" pitchFamily="34" charset="-122"/>
                <a:cs typeface="Arial" pitchFamily="34" charset="-120"/>
              </a:rPr>
              <a:t>Base trim</a:t>
            </a:r>
            <a:endParaRPr lang="en-US" sz="1300" dirty="0"/>
          </a:p>
        </p:txBody>
      </p:sp>
      <p:sp>
        <p:nvSpPr>
          <p:cNvPr id="23" name="Shape 18"/>
          <p:cNvSpPr/>
          <p:nvPr/>
        </p:nvSpPr>
        <p:spPr>
          <a:xfrm>
            <a:off x="6309360" y="2898648"/>
            <a:ext cx="2194560" cy="548640"/>
          </a:xfrm>
          <a:prstGeom prst="rect">
            <a:avLst/>
          </a:prstGeom>
          <a:solidFill>
            <a:srgbClr val="F2955F"/>
          </a:solidFill>
          <a:ln w="12700">
            <a:solidFill>
              <a:srgbClr val="F2955F"/>
            </a:solidFill>
            <a:prstDash val="solid"/>
          </a:ln>
        </p:spPr>
      </p:sp>
      <p:sp>
        <p:nvSpPr>
          <p:cNvPr id="24" name="Text 19"/>
          <p:cNvSpPr txBox="1"/>
          <p:nvPr/>
        </p:nvSpPr>
        <p:spPr>
          <a:xfrm>
            <a:off x="6309360" y="2898648"/>
            <a:ext cx="2194560" cy="548640"/>
          </a:xfrm>
          <a:prstGeom prst="rect">
            <a:avLst/>
          </a:prstGeom>
          <a:noFill/>
          <a:ln/>
        </p:spPr>
        <p:txBody>
          <a:bodyPr wrap="square" lIns="0" tIns="0" rIns="0" bIns="0" rtlCol="0" anchor="ctr"/>
          <a:lstStyle/>
          <a:p>
            <a:pPr algn="ctr" indent="0" marL="0">
              <a:buNone/>
            </a:pPr>
            <a:r>
              <a:rPr lang="en-US" sz="1300" dirty="0">
                <a:solidFill>
                  <a:srgbClr val="222222"/>
                </a:solidFill>
                <a:latin typeface="Arial" pitchFamily="34" charset="0"/>
                <a:ea typeface="Arial" pitchFamily="34" charset="-122"/>
                <a:cs typeface="Arial" pitchFamily="34" charset="-120"/>
              </a:rPr>
              <a:t>Sport trim</a:t>
            </a:r>
            <a:endParaRPr lang="en-US" sz="1300" dirty="0"/>
          </a:p>
        </p:txBody>
      </p:sp>
      <p:sp>
        <p:nvSpPr>
          <p:cNvPr id="25" name="Shape 20"/>
          <p:cNvSpPr/>
          <p:nvPr/>
        </p:nvSpPr>
        <p:spPr>
          <a:xfrm>
            <a:off x="6309360" y="3557016"/>
            <a:ext cx="2194560" cy="548640"/>
          </a:xfrm>
          <a:prstGeom prst="rect">
            <a:avLst/>
          </a:prstGeom>
          <a:solidFill>
            <a:srgbClr val="4C3629"/>
          </a:solidFill>
          <a:ln w="12700">
            <a:solidFill>
              <a:srgbClr val="4C3629"/>
            </a:solidFill>
            <a:prstDash val="solid"/>
          </a:ln>
        </p:spPr>
      </p:sp>
      <p:sp>
        <p:nvSpPr>
          <p:cNvPr id="26" name="Text 21"/>
          <p:cNvSpPr txBox="1"/>
          <p:nvPr/>
        </p:nvSpPr>
        <p:spPr>
          <a:xfrm>
            <a:off x="6309360" y="3557016"/>
            <a:ext cx="219456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Luxury trim</a:t>
            </a:r>
            <a:endParaRPr lang="en-US" sz="13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6B6B"/>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4C3629"/>
                </a:solidFill>
                <a:latin typeface="Arial" pitchFamily="34" charset="0"/>
                <a:ea typeface="Arial" pitchFamily="34" charset="-122"/>
                <a:cs typeface="Arial" pitchFamily="34" charset="-120"/>
              </a:rPr>
              <a:t>Market Segmentation</a:t>
            </a:r>
            <a:endParaRPr lang="en-US" sz="2800" dirty="0"/>
          </a:p>
        </p:txBody>
      </p:sp>
      <p:graphicFrame>
        <p:nvGraphicFramePr>
          <p:cNvPr id="3" name="Chart 0" descr=""/>
          <p:cNvGraphicFramePr/>
          <p:nvPr/>
        </p:nvGraphicFramePr>
        <p:xfrm>
          <a:off x="365760" y="1005840"/>
          <a:ext cx="3566160" cy="35661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4206240" y="1371600"/>
            <a:ext cx="4480560" cy="2743200"/>
          </a:xfrm>
          <a:prstGeom prst="rect">
            <a:avLst/>
          </a:prstGeom>
          <a:noFill/>
          <a:ln/>
        </p:spPr>
        <p:txBody>
          <a:bodyPr wrap="square" lIns="0" tIns="0" rIns="0" bIns="0" rtlCol="0" anchor="ctr"/>
          <a:lstStyle/>
          <a:p>
            <a:pPr indent="0" marL="0">
              <a:buNone/>
            </a:pPr>
            <a:r>
              <a:rPr lang="en-US" sz="2200" b="1" dirty="0">
                <a:solidFill>
                  <a:srgbClr val="222222"/>
                </a:solidFill>
                <a:latin typeface="Arial" pitchFamily="34" charset="0"/>
                <a:ea typeface="Arial" pitchFamily="34" charset="-122"/>
                <a:cs typeface="Arial" pitchFamily="34" charset="-120"/>
              </a:rPr>
              <a:t>Dividing a whole market into smaller groups of customers who share the same needs, wants, or buying habits.</a:t>
            </a:r>
            <a:endParaRPr lang="en-US" sz="2200" dirty="0"/>
          </a:p>
          <a:p>
            <a:pPr indent="0" marL="0">
              <a:buNone/>
            </a:pPr>
            <a:r>
              <a:rPr lang="en-US" sz="1000" dirty="0">
                <a:solidFill>
                  <a:srgbClr val="222222"/>
                </a:solidFill>
                <a:latin typeface="Arial" pitchFamily="34" charset="0"/>
                <a:ea typeface="Arial" pitchFamily="34" charset="-122"/>
                <a:cs typeface="Arial" pitchFamily="34" charset="-120"/>
              </a:rPr>
              <a:t> </a:t>
            </a:r>
            <a:endParaRPr lang="en-US" sz="2200" dirty="0"/>
          </a:p>
          <a:p>
            <a:pPr indent="0" marL="0">
              <a:buNone/>
            </a:pPr>
            <a:r>
              <a:rPr lang="en-US" sz="1500" dirty="0">
                <a:solidFill>
                  <a:srgbClr val="6B6B6B"/>
                </a:solidFill>
                <a:latin typeface="Arial" pitchFamily="34" charset="0"/>
                <a:ea typeface="Arial" pitchFamily="34" charset="-122"/>
                <a:cs typeface="Arial" pitchFamily="34" charset="-120"/>
              </a:rPr>
              <a:t>You already know the lenses: demographic, geographic, psychographic, behavioral, socioeconomic. Segmentation uses them to split the market.</a:t>
            </a:r>
            <a:endParaRPr lang="en-US" sz="22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6B6B"/>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4C3629"/>
                </a:solidFill>
                <a:latin typeface="Arial" pitchFamily="34" charset="0"/>
                <a:ea typeface="Arial" pitchFamily="34" charset="-122"/>
                <a:cs typeface="Arial" pitchFamily="34" charset="-120"/>
              </a:rPr>
              <a:t>What Makes a Good Segment?</a:t>
            </a:r>
            <a:endParaRPr lang="en-US" sz="2800" dirty="0"/>
          </a:p>
        </p:txBody>
      </p:sp>
      <p:sp>
        <p:nvSpPr>
          <p:cNvPr id="3" name="Shape 1"/>
          <p:cNvSpPr/>
          <p:nvPr/>
        </p:nvSpPr>
        <p:spPr>
          <a:xfrm>
            <a:off x="457200" y="1234440"/>
            <a:ext cx="1920240" cy="2926080"/>
          </a:xfrm>
          <a:prstGeom prst="roundRect">
            <a:avLst>
              <a:gd name="adj" fmla="val 3810"/>
            </a:avLst>
          </a:prstGeom>
          <a:solidFill>
            <a:srgbClr val="FBF3EC"/>
          </a:solidFill>
          <a:ln w="12700">
            <a:solidFill>
              <a:srgbClr val="EFE4DA"/>
            </a:solidFill>
            <a:prstDash val="solid"/>
          </a:ln>
        </p:spPr>
      </p:sp>
      <p:pic>
        <p:nvPicPr>
          <p:cNvPr id="4" name="Image 0" descr="preencoded.png">    </p:cNvPr>
          <p:cNvPicPr>
            <a:picLocks noChangeAspect="1"/>
          </p:cNvPicPr>
          <p:nvPr/>
        </p:nvPicPr>
        <p:blipFill>
          <a:blip r:embed="rId1"/>
          <a:stretch>
            <a:fillRect/>
          </a:stretch>
        </p:blipFill>
        <p:spPr>
          <a:xfrm>
            <a:off x="1097280" y="1463040"/>
            <a:ext cx="640080" cy="640080"/>
          </a:xfrm>
          <a:prstGeom prst="rect">
            <a:avLst/>
          </a:prstGeom>
        </p:spPr>
      </p:pic>
      <p:sp>
        <p:nvSpPr>
          <p:cNvPr id="5" name="Text 2"/>
          <p:cNvSpPr txBox="1"/>
          <p:nvPr/>
        </p:nvSpPr>
        <p:spPr>
          <a:xfrm>
            <a:off x="548640" y="2286000"/>
            <a:ext cx="1737360" cy="548640"/>
          </a:xfrm>
          <a:prstGeom prst="rect">
            <a:avLst/>
          </a:prstGeom>
          <a:noFill/>
          <a:ln/>
        </p:spPr>
        <p:txBody>
          <a:bodyPr wrap="square" lIns="0" tIns="0" rIns="0" bIns="0" rtlCol="0" anchor="ctr"/>
          <a:lstStyle/>
          <a:p>
            <a:pPr algn="ctr" indent="0" marL="0">
              <a:buNone/>
            </a:pPr>
            <a:r>
              <a:rPr lang="en-US" sz="1500" b="1" dirty="0">
                <a:solidFill>
                  <a:srgbClr val="4C3629"/>
                </a:solidFill>
                <a:latin typeface="Arial" pitchFamily="34" charset="0"/>
                <a:ea typeface="Arial" pitchFamily="34" charset="-122"/>
                <a:cs typeface="Arial" pitchFamily="34" charset="-120"/>
              </a:rPr>
              <a:t>Similar inside</a:t>
            </a:r>
            <a:endParaRPr lang="en-US" sz="1500" dirty="0"/>
          </a:p>
        </p:txBody>
      </p:sp>
      <p:sp>
        <p:nvSpPr>
          <p:cNvPr id="6" name="Text 3"/>
          <p:cNvSpPr txBox="1"/>
          <p:nvPr/>
        </p:nvSpPr>
        <p:spPr>
          <a:xfrm>
            <a:off x="594360" y="2880360"/>
            <a:ext cx="1645920" cy="1097280"/>
          </a:xfrm>
          <a:prstGeom prst="rect">
            <a:avLst/>
          </a:prstGeom>
          <a:noFill/>
          <a:ln/>
        </p:spPr>
        <p:txBody>
          <a:bodyPr wrap="square" lIns="0" tIns="0" rIns="0" bIns="0" rtlCol="0" anchor="ctr"/>
          <a:lstStyle/>
          <a:p>
            <a:pPr algn="ctr" indent="0" marL="0">
              <a:buNone/>
            </a:pPr>
            <a:r>
              <a:rPr lang="en-US" sz="1200" dirty="0">
                <a:solidFill>
                  <a:srgbClr val="222222"/>
                </a:solidFill>
                <a:latin typeface="Arial" pitchFamily="34" charset="0"/>
                <a:ea typeface="Arial" pitchFamily="34" charset="-122"/>
                <a:cs typeface="Arial" pitchFamily="34" charset="-120"/>
              </a:rPr>
              <a:t>People in it want the same things.</a:t>
            </a:r>
            <a:endParaRPr lang="en-US" sz="1200" dirty="0"/>
          </a:p>
        </p:txBody>
      </p:sp>
      <p:sp>
        <p:nvSpPr>
          <p:cNvPr id="7" name="Shape 4"/>
          <p:cNvSpPr/>
          <p:nvPr/>
        </p:nvSpPr>
        <p:spPr>
          <a:xfrm>
            <a:off x="2560320" y="1234440"/>
            <a:ext cx="1920240" cy="2926080"/>
          </a:xfrm>
          <a:prstGeom prst="roundRect">
            <a:avLst>
              <a:gd name="adj" fmla="val 3810"/>
            </a:avLst>
          </a:prstGeom>
          <a:solidFill>
            <a:srgbClr val="FBF3EC"/>
          </a:solidFill>
          <a:ln w="12700">
            <a:solidFill>
              <a:srgbClr val="EFE4DA"/>
            </a:solidFill>
            <a:prstDash val="solid"/>
          </a:ln>
        </p:spPr>
      </p:sp>
      <p:pic>
        <p:nvPicPr>
          <p:cNvPr id="8" name="Image 1" descr="preencoded.png">    </p:cNvPr>
          <p:cNvPicPr>
            <a:picLocks noChangeAspect="1"/>
          </p:cNvPicPr>
          <p:nvPr/>
        </p:nvPicPr>
        <p:blipFill>
          <a:blip r:embed="rId2"/>
          <a:stretch>
            <a:fillRect/>
          </a:stretch>
        </p:blipFill>
        <p:spPr>
          <a:xfrm>
            <a:off x="3200400" y="1463040"/>
            <a:ext cx="640080" cy="640080"/>
          </a:xfrm>
          <a:prstGeom prst="rect">
            <a:avLst/>
          </a:prstGeom>
        </p:spPr>
      </p:pic>
      <p:sp>
        <p:nvSpPr>
          <p:cNvPr id="9" name="Text 5"/>
          <p:cNvSpPr txBox="1"/>
          <p:nvPr/>
        </p:nvSpPr>
        <p:spPr>
          <a:xfrm>
            <a:off x="2651760" y="2286000"/>
            <a:ext cx="1737360" cy="548640"/>
          </a:xfrm>
          <a:prstGeom prst="rect">
            <a:avLst/>
          </a:prstGeom>
          <a:noFill/>
          <a:ln/>
        </p:spPr>
        <p:txBody>
          <a:bodyPr wrap="square" lIns="0" tIns="0" rIns="0" bIns="0" rtlCol="0" anchor="ctr"/>
          <a:lstStyle/>
          <a:p>
            <a:pPr algn="ctr" indent="0" marL="0">
              <a:buNone/>
            </a:pPr>
            <a:r>
              <a:rPr lang="en-US" sz="1500" b="1" dirty="0">
                <a:solidFill>
                  <a:srgbClr val="4C3629"/>
                </a:solidFill>
                <a:latin typeface="Arial" pitchFamily="34" charset="0"/>
                <a:ea typeface="Arial" pitchFamily="34" charset="-122"/>
                <a:cs typeface="Arial" pitchFamily="34" charset="-120"/>
              </a:rPr>
              <a:t>Different outside</a:t>
            </a:r>
            <a:endParaRPr lang="en-US" sz="1500" dirty="0"/>
          </a:p>
        </p:txBody>
      </p:sp>
      <p:sp>
        <p:nvSpPr>
          <p:cNvPr id="10" name="Text 6"/>
          <p:cNvSpPr txBox="1"/>
          <p:nvPr/>
        </p:nvSpPr>
        <p:spPr>
          <a:xfrm>
            <a:off x="2697480" y="2880360"/>
            <a:ext cx="1645920" cy="1097280"/>
          </a:xfrm>
          <a:prstGeom prst="rect">
            <a:avLst/>
          </a:prstGeom>
          <a:noFill/>
          <a:ln/>
        </p:spPr>
        <p:txBody>
          <a:bodyPr wrap="square" lIns="0" tIns="0" rIns="0" bIns="0" rtlCol="0" anchor="ctr"/>
          <a:lstStyle/>
          <a:p>
            <a:pPr algn="ctr" indent="0" marL="0">
              <a:buNone/>
            </a:pPr>
            <a:r>
              <a:rPr lang="en-US" sz="1200" dirty="0">
                <a:solidFill>
                  <a:srgbClr val="222222"/>
                </a:solidFill>
                <a:latin typeface="Arial" pitchFamily="34" charset="0"/>
                <a:ea typeface="Arial" pitchFamily="34" charset="-122"/>
                <a:cs typeface="Arial" pitchFamily="34" charset="-120"/>
              </a:rPr>
              <a:t>It wants different things than other segments.</a:t>
            </a:r>
            <a:endParaRPr lang="en-US" sz="1200" dirty="0"/>
          </a:p>
        </p:txBody>
      </p:sp>
      <p:sp>
        <p:nvSpPr>
          <p:cNvPr id="11" name="Shape 7"/>
          <p:cNvSpPr/>
          <p:nvPr/>
        </p:nvSpPr>
        <p:spPr>
          <a:xfrm>
            <a:off x="4663440" y="1234440"/>
            <a:ext cx="1920240" cy="2926080"/>
          </a:xfrm>
          <a:prstGeom prst="roundRect">
            <a:avLst>
              <a:gd name="adj" fmla="val 3810"/>
            </a:avLst>
          </a:prstGeom>
          <a:solidFill>
            <a:srgbClr val="FBF3EC"/>
          </a:solidFill>
          <a:ln w="12700">
            <a:solidFill>
              <a:srgbClr val="EFE4DA"/>
            </a:solidFill>
            <a:prstDash val="solid"/>
          </a:ln>
        </p:spPr>
      </p:sp>
      <p:pic>
        <p:nvPicPr>
          <p:cNvPr id="12" name="Image 2" descr="preencoded.png">    </p:cNvPr>
          <p:cNvPicPr>
            <a:picLocks noChangeAspect="1"/>
          </p:cNvPicPr>
          <p:nvPr/>
        </p:nvPicPr>
        <p:blipFill>
          <a:blip r:embed="rId3"/>
          <a:stretch>
            <a:fillRect/>
          </a:stretch>
        </p:blipFill>
        <p:spPr>
          <a:xfrm>
            <a:off x="5303520" y="1463040"/>
            <a:ext cx="640080" cy="640080"/>
          </a:xfrm>
          <a:prstGeom prst="rect">
            <a:avLst/>
          </a:prstGeom>
        </p:spPr>
      </p:pic>
      <p:sp>
        <p:nvSpPr>
          <p:cNvPr id="13" name="Text 8"/>
          <p:cNvSpPr txBox="1"/>
          <p:nvPr/>
        </p:nvSpPr>
        <p:spPr>
          <a:xfrm>
            <a:off x="4754880" y="2286000"/>
            <a:ext cx="1737360" cy="548640"/>
          </a:xfrm>
          <a:prstGeom prst="rect">
            <a:avLst/>
          </a:prstGeom>
          <a:noFill/>
          <a:ln/>
        </p:spPr>
        <p:txBody>
          <a:bodyPr wrap="square" lIns="0" tIns="0" rIns="0" bIns="0" rtlCol="0" anchor="ctr"/>
          <a:lstStyle/>
          <a:p>
            <a:pPr algn="ctr" indent="0" marL="0">
              <a:buNone/>
            </a:pPr>
            <a:r>
              <a:rPr lang="en-US" sz="1500" b="1" dirty="0">
                <a:solidFill>
                  <a:srgbClr val="4C3629"/>
                </a:solidFill>
                <a:latin typeface="Arial" pitchFamily="34" charset="0"/>
                <a:ea typeface="Arial" pitchFamily="34" charset="-122"/>
                <a:cs typeface="Arial" pitchFamily="34" charset="-120"/>
              </a:rPr>
              <a:t>Big enough</a:t>
            </a:r>
            <a:endParaRPr lang="en-US" sz="1500" dirty="0"/>
          </a:p>
        </p:txBody>
      </p:sp>
      <p:sp>
        <p:nvSpPr>
          <p:cNvPr id="14" name="Text 9"/>
          <p:cNvSpPr txBox="1"/>
          <p:nvPr/>
        </p:nvSpPr>
        <p:spPr>
          <a:xfrm>
            <a:off x="4800600" y="2880360"/>
            <a:ext cx="1645920" cy="1097280"/>
          </a:xfrm>
          <a:prstGeom prst="rect">
            <a:avLst/>
          </a:prstGeom>
          <a:noFill/>
          <a:ln/>
        </p:spPr>
        <p:txBody>
          <a:bodyPr wrap="square" lIns="0" tIns="0" rIns="0" bIns="0" rtlCol="0" anchor="ctr"/>
          <a:lstStyle/>
          <a:p>
            <a:pPr algn="ctr" indent="0" marL="0">
              <a:buNone/>
            </a:pPr>
            <a:r>
              <a:rPr lang="en-US" sz="1200" dirty="0">
                <a:solidFill>
                  <a:srgbClr val="222222"/>
                </a:solidFill>
                <a:latin typeface="Arial" pitchFamily="34" charset="0"/>
                <a:ea typeface="Arial" pitchFamily="34" charset="-122"/>
                <a:cs typeface="Arial" pitchFamily="34" charset="-120"/>
              </a:rPr>
              <a:t>Enough customers to be worth a version.</a:t>
            </a:r>
            <a:endParaRPr lang="en-US" sz="1200" dirty="0"/>
          </a:p>
        </p:txBody>
      </p:sp>
      <p:sp>
        <p:nvSpPr>
          <p:cNvPr id="15" name="Shape 10"/>
          <p:cNvSpPr/>
          <p:nvPr/>
        </p:nvSpPr>
        <p:spPr>
          <a:xfrm>
            <a:off x="6766560" y="1234440"/>
            <a:ext cx="1920240" cy="2926080"/>
          </a:xfrm>
          <a:prstGeom prst="roundRect">
            <a:avLst>
              <a:gd name="adj" fmla="val 3810"/>
            </a:avLst>
          </a:prstGeom>
          <a:solidFill>
            <a:srgbClr val="FBF3EC"/>
          </a:solidFill>
          <a:ln w="12700">
            <a:solidFill>
              <a:srgbClr val="EFE4DA"/>
            </a:solidFill>
            <a:prstDash val="solid"/>
          </a:ln>
        </p:spPr>
      </p:sp>
      <p:pic>
        <p:nvPicPr>
          <p:cNvPr id="16" name="Image 3" descr="preencoded.png">    </p:cNvPr>
          <p:cNvPicPr>
            <a:picLocks noChangeAspect="1"/>
          </p:cNvPicPr>
          <p:nvPr/>
        </p:nvPicPr>
        <p:blipFill>
          <a:blip r:embed="rId4"/>
          <a:stretch>
            <a:fillRect/>
          </a:stretch>
        </p:blipFill>
        <p:spPr>
          <a:xfrm>
            <a:off x="7406640" y="1463040"/>
            <a:ext cx="640080" cy="640080"/>
          </a:xfrm>
          <a:prstGeom prst="rect">
            <a:avLst/>
          </a:prstGeom>
        </p:spPr>
      </p:pic>
      <p:sp>
        <p:nvSpPr>
          <p:cNvPr id="17" name="Text 11"/>
          <p:cNvSpPr txBox="1"/>
          <p:nvPr/>
        </p:nvSpPr>
        <p:spPr>
          <a:xfrm>
            <a:off x="6858000" y="2286000"/>
            <a:ext cx="1737360" cy="548640"/>
          </a:xfrm>
          <a:prstGeom prst="rect">
            <a:avLst/>
          </a:prstGeom>
          <a:noFill/>
          <a:ln/>
        </p:spPr>
        <p:txBody>
          <a:bodyPr wrap="square" lIns="0" tIns="0" rIns="0" bIns="0" rtlCol="0" anchor="ctr"/>
          <a:lstStyle/>
          <a:p>
            <a:pPr algn="ctr" indent="0" marL="0">
              <a:buNone/>
            </a:pPr>
            <a:r>
              <a:rPr lang="en-US" sz="1500" b="1" dirty="0">
                <a:solidFill>
                  <a:srgbClr val="4C3629"/>
                </a:solidFill>
                <a:latin typeface="Arial" pitchFamily="34" charset="0"/>
                <a:ea typeface="Arial" pitchFamily="34" charset="-122"/>
                <a:cs typeface="Arial" pitchFamily="34" charset="-120"/>
              </a:rPr>
              <a:t>Reachable</a:t>
            </a:r>
            <a:endParaRPr lang="en-US" sz="1500" dirty="0"/>
          </a:p>
        </p:txBody>
      </p:sp>
      <p:sp>
        <p:nvSpPr>
          <p:cNvPr id="18" name="Text 12"/>
          <p:cNvSpPr txBox="1"/>
          <p:nvPr/>
        </p:nvSpPr>
        <p:spPr>
          <a:xfrm>
            <a:off x="6903720" y="2880360"/>
            <a:ext cx="1645920" cy="1097280"/>
          </a:xfrm>
          <a:prstGeom prst="rect">
            <a:avLst/>
          </a:prstGeom>
          <a:noFill/>
          <a:ln/>
        </p:spPr>
        <p:txBody>
          <a:bodyPr wrap="square" lIns="0" tIns="0" rIns="0" bIns="0" rtlCol="0" anchor="ctr"/>
          <a:lstStyle/>
          <a:p>
            <a:pPr algn="ctr" indent="0" marL="0">
              <a:buNone/>
            </a:pPr>
            <a:r>
              <a:rPr lang="en-US" sz="1200" dirty="0">
                <a:solidFill>
                  <a:srgbClr val="222222"/>
                </a:solidFill>
                <a:latin typeface="Arial" pitchFamily="34" charset="0"/>
                <a:ea typeface="Arial" pitchFamily="34" charset="-122"/>
                <a:cs typeface="Arial" pitchFamily="34" charset="-120"/>
              </a:rPr>
              <a:t>You can actually get your message to them.</a:t>
            </a:r>
            <a:endParaRPr lang="en-US" sz="12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6B6B"/>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4C3629"/>
                </a:solidFill>
                <a:latin typeface="Arial" pitchFamily="34" charset="0"/>
                <a:ea typeface="Arial" pitchFamily="34" charset="-122"/>
                <a:cs typeface="Arial" pitchFamily="34" charset="-120"/>
              </a:rPr>
              <a:t>Every Feature Costs Money</a:t>
            </a:r>
            <a:endParaRPr lang="en-US" sz="2800" dirty="0"/>
          </a:p>
        </p:txBody>
      </p:sp>
      <p:graphicFrame>
        <p:nvGraphicFramePr>
          <p:cNvPr id="3" name="Chart 0" descr=""/>
          <p:cNvGraphicFramePr/>
          <p:nvPr/>
        </p:nvGraphicFramePr>
        <p:xfrm>
          <a:off x="365760" y="1097280"/>
          <a:ext cx="4754880" cy="34747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394960" y="1463040"/>
            <a:ext cx="3383280" cy="2743200"/>
          </a:xfrm>
          <a:prstGeom prst="rect">
            <a:avLst/>
          </a:prstGeom>
          <a:noFill/>
          <a:ln/>
        </p:spPr>
        <p:txBody>
          <a:bodyPr wrap="square" lIns="0" tIns="0" rIns="0" bIns="0" rtlCol="0" anchor="ctr"/>
          <a:lstStyle/>
          <a:p>
            <a:pPr indent="0" marL="0">
              <a:buNone/>
            </a:pPr>
            <a:r>
              <a:rPr lang="en-US" sz="1400" b="1" dirty="0">
                <a:solidFill>
                  <a:srgbClr val="E26F39"/>
                </a:solidFill>
                <a:latin typeface="Arial" pitchFamily="34" charset="0"/>
                <a:ea typeface="Arial" pitchFamily="34" charset="-122"/>
                <a:cs typeface="Arial" pitchFamily="34" charset="-120"/>
              </a:rPr>
              <a:t>Unit cost</a:t>
            </a:r>
            <a:endParaRPr lang="en-US" sz="1400" dirty="0"/>
          </a:p>
          <a:p>
            <a:pPr indent="0" marL="0">
              <a:buNone/>
            </a:pPr>
            <a:r>
              <a:rPr lang="en-US" sz="2000" b="1" dirty="0">
                <a:solidFill>
                  <a:srgbClr val="4C3629"/>
                </a:solidFill>
                <a:latin typeface="Arial" pitchFamily="34" charset="0"/>
                <a:ea typeface="Arial" pitchFamily="34" charset="-122"/>
                <a:cs typeface="Arial" pitchFamily="34" charset="-120"/>
              </a:rPr>
              <a:t>Base cost + every feature you add</a:t>
            </a:r>
            <a:endParaRPr lang="en-US" sz="1400" dirty="0"/>
          </a:p>
          <a:p>
            <a:pPr indent="0" marL="0">
              <a:buNone/>
            </a:pPr>
            <a:r>
              <a:rPr lang="en-US" sz="800" dirty="0">
                <a:solidFill>
                  <a:srgbClr val="222222"/>
                </a:solidFill>
                <a:latin typeface="Arial" pitchFamily="34" charset="0"/>
                <a:ea typeface="Arial" pitchFamily="34" charset="-122"/>
                <a:cs typeface="Arial" pitchFamily="34" charset="-120"/>
              </a:rPr>
              <a:t> </a:t>
            </a:r>
            <a:endParaRPr lang="en-US" sz="1400" dirty="0"/>
          </a:p>
          <a:p>
            <a:pPr indent="0" marL="0">
              <a:buNone/>
            </a:pPr>
            <a:r>
              <a:rPr lang="en-US" sz="1500" dirty="0">
                <a:solidFill>
                  <a:srgbClr val="222222"/>
                </a:solidFill>
                <a:latin typeface="Arial" pitchFamily="34" charset="0"/>
                <a:ea typeface="Arial" pitchFamily="34" charset="-122"/>
                <a:cs typeface="Arial" pitchFamily="34" charset="-120"/>
              </a:rPr>
              <a:t>Maya's Collector package: $5 + $3 + $6 + $12 + $2 = $28 a pair before she charges a cent.</a:t>
            </a:r>
            <a:endParaRPr lang="en-US" sz="14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6B6B"/>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4C3629"/>
                </a:solidFill>
                <a:latin typeface="Arial" pitchFamily="34" charset="0"/>
                <a:ea typeface="Arial" pitchFamily="34" charset="-122"/>
                <a:cs typeface="Arial" pitchFamily="34" charset="-120"/>
              </a:rPr>
              <a:t>Must-Have, Nice-to-Have, or Don't Care?</a:t>
            </a:r>
            <a:endParaRPr lang="en-US" sz="2800" dirty="0"/>
          </a:p>
        </p:txBody>
      </p:sp>
      <p:sp>
        <p:nvSpPr>
          <p:cNvPr id="3" name="Shape 1"/>
          <p:cNvSpPr/>
          <p:nvPr/>
        </p:nvSpPr>
        <p:spPr>
          <a:xfrm>
            <a:off x="457200" y="1463040"/>
            <a:ext cx="2468880" cy="1005840"/>
          </a:xfrm>
          <a:prstGeom prst="rect">
            <a:avLst/>
          </a:prstGeom>
          <a:solidFill>
            <a:srgbClr val="EFE4DA"/>
          </a:solidFill>
          <a:ln w="25400">
            <a:solidFill>
              <a:srgbClr val="FFFFFF"/>
            </a:solidFill>
            <a:prstDash val="solid"/>
          </a:ln>
        </p:spPr>
      </p:sp>
      <p:sp>
        <p:nvSpPr>
          <p:cNvPr id="4" name="Text 2"/>
          <p:cNvSpPr txBox="1"/>
          <p:nvPr/>
        </p:nvSpPr>
        <p:spPr>
          <a:xfrm>
            <a:off x="457200" y="1508760"/>
            <a:ext cx="2468880" cy="502920"/>
          </a:xfrm>
          <a:prstGeom prst="rect">
            <a:avLst/>
          </a:prstGeom>
          <a:noFill/>
          <a:ln/>
        </p:spPr>
        <p:txBody>
          <a:bodyPr wrap="square" lIns="0" tIns="0" rIns="0" bIns="0" rtlCol="0" anchor="ctr"/>
          <a:lstStyle/>
          <a:p>
            <a:pPr algn="ctr" indent="0" marL="0">
              <a:buNone/>
            </a:pPr>
            <a:r>
              <a:rPr lang="en-US" sz="1800" b="1" dirty="0">
                <a:solidFill>
                  <a:srgbClr val="222222"/>
                </a:solidFill>
                <a:latin typeface="Arial" pitchFamily="34" charset="0"/>
                <a:ea typeface="Arial" pitchFamily="34" charset="-122"/>
                <a:cs typeface="Arial" pitchFamily="34" charset="-120"/>
              </a:rPr>
              <a:t>Don't care</a:t>
            </a:r>
            <a:endParaRPr lang="en-US" sz="1800" dirty="0"/>
          </a:p>
        </p:txBody>
      </p:sp>
      <p:sp>
        <p:nvSpPr>
          <p:cNvPr id="5" name="Text 3"/>
          <p:cNvSpPr txBox="1"/>
          <p:nvPr/>
        </p:nvSpPr>
        <p:spPr>
          <a:xfrm>
            <a:off x="457200" y="1965960"/>
            <a:ext cx="2468880" cy="411480"/>
          </a:xfrm>
          <a:prstGeom prst="rect">
            <a:avLst/>
          </a:prstGeom>
          <a:noFill/>
          <a:ln/>
        </p:spPr>
        <p:txBody>
          <a:bodyPr wrap="square" lIns="0" tIns="0" rIns="0" bIns="0" rtlCol="0" anchor="ctr"/>
          <a:lstStyle/>
          <a:p>
            <a:pPr algn="ctr" indent="0" marL="0">
              <a:buNone/>
            </a:pPr>
            <a:r>
              <a:rPr lang="en-US" sz="1300" dirty="0">
                <a:solidFill>
                  <a:srgbClr val="222222"/>
                </a:solidFill>
                <a:latin typeface="Arial" pitchFamily="34" charset="0"/>
                <a:ea typeface="Arial" pitchFamily="34" charset="-122"/>
                <a:cs typeface="Arial" pitchFamily="34" charset="-120"/>
              </a:rPr>
              <a:t>Under 30%</a:t>
            </a:r>
            <a:endParaRPr lang="en-US" sz="1300" dirty="0"/>
          </a:p>
        </p:txBody>
      </p:sp>
      <p:sp>
        <p:nvSpPr>
          <p:cNvPr id="6" name="Text 4"/>
          <p:cNvSpPr txBox="1"/>
          <p:nvPr/>
        </p:nvSpPr>
        <p:spPr>
          <a:xfrm>
            <a:off x="548640" y="2651760"/>
            <a:ext cx="2286000" cy="640080"/>
          </a:xfrm>
          <a:prstGeom prst="rect">
            <a:avLst/>
          </a:prstGeom>
          <a:noFill/>
          <a:ln/>
        </p:spPr>
        <p:txBody>
          <a:bodyPr wrap="square" lIns="0" tIns="0" rIns="0" bIns="0" rtlCol="0" anchor="ctr"/>
          <a:lstStyle/>
          <a:p>
            <a:pPr algn="ctr" indent="0" marL="0">
              <a:buNone/>
            </a:pPr>
            <a:r>
              <a:rPr lang="en-US" sz="1300" b="1" dirty="0">
                <a:solidFill>
                  <a:srgbClr val="4C3629"/>
                </a:solidFill>
                <a:latin typeface="Arial" pitchFamily="34" charset="0"/>
                <a:ea typeface="Arial" pitchFamily="34" charset="-122"/>
                <a:cs typeface="Arial" pitchFamily="34" charset="-120"/>
              </a:rPr>
              <a:t>Adds cost, nothing else</a:t>
            </a:r>
            <a:endParaRPr lang="en-US" sz="1300" dirty="0"/>
          </a:p>
        </p:txBody>
      </p:sp>
      <p:sp>
        <p:nvSpPr>
          <p:cNvPr id="7" name="Shape 5"/>
          <p:cNvSpPr/>
          <p:nvPr/>
        </p:nvSpPr>
        <p:spPr>
          <a:xfrm>
            <a:off x="2926080" y="1463040"/>
            <a:ext cx="2468880" cy="1005840"/>
          </a:xfrm>
          <a:prstGeom prst="rect">
            <a:avLst/>
          </a:prstGeom>
          <a:solidFill>
            <a:srgbClr val="F2955F"/>
          </a:solidFill>
          <a:ln w="25400">
            <a:solidFill>
              <a:srgbClr val="FFFFFF"/>
            </a:solidFill>
            <a:prstDash val="solid"/>
          </a:ln>
        </p:spPr>
      </p:sp>
      <p:sp>
        <p:nvSpPr>
          <p:cNvPr id="8" name="Text 6"/>
          <p:cNvSpPr txBox="1"/>
          <p:nvPr/>
        </p:nvSpPr>
        <p:spPr>
          <a:xfrm>
            <a:off x="2926080" y="1508760"/>
            <a:ext cx="2468880" cy="502920"/>
          </a:xfrm>
          <a:prstGeom prst="rect">
            <a:avLst/>
          </a:prstGeom>
          <a:noFill/>
          <a:ln/>
        </p:spPr>
        <p:txBody>
          <a:bodyPr wrap="square" lIns="0" tIns="0" rIns="0" bIns="0" rtlCol="0" anchor="ctr"/>
          <a:lstStyle/>
          <a:p>
            <a:pPr algn="ctr" indent="0" marL="0">
              <a:buNone/>
            </a:pPr>
            <a:r>
              <a:rPr lang="en-US" sz="1800" b="1" dirty="0">
                <a:solidFill>
                  <a:srgbClr val="222222"/>
                </a:solidFill>
                <a:latin typeface="Arial" pitchFamily="34" charset="0"/>
                <a:ea typeface="Arial" pitchFamily="34" charset="-122"/>
                <a:cs typeface="Arial" pitchFamily="34" charset="-120"/>
              </a:rPr>
              <a:t>Nice-to-have</a:t>
            </a:r>
            <a:endParaRPr lang="en-US" sz="1800" dirty="0"/>
          </a:p>
        </p:txBody>
      </p:sp>
      <p:sp>
        <p:nvSpPr>
          <p:cNvPr id="9" name="Text 7"/>
          <p:cNvSpPr txBox="1"/>
          <p:nvPr/>
        </p:nvSpPr>
        <p:spPr>
          <a:xfrm>
            <a:off x="2926080" y="1965960"/>
            <a:ext cx="2468880" cy="411480"/>
          </a:xfrm>
          <a:prstGeom prst="rect">
            <a:avLst/>
          </a:prstGeom>
          <a:noFill/>
          <a:ln/>
        </p:spPr>
        <p:txBody>
          <a:bodyPr wrap="square" lIns="0" tIns="0" rIns="0" bIns="0" rtlCol="0" anchor="ctr"/>
          <a:lstStyle/>
          <a:p>
            <a:pPr algn="ctr" indent="0" marL="0">
              <a:buNone/>
            </a:pPr>
            <a:r>
              <a:rPr lang="en-US" sz="1300" dirty="0">
                <a:solidFill>
                  <a:srgbClr val="222222"/>
                </a:solidFill>
                <a:latin typeface="Arial" pitchFamily="34" charset="0"/>
                <a:ea typeface="Arial" pitchFamily="34" charset="-122"/>
                <a:cs typeface="Arial" pitchFamily="34" charset="-120"/>
              </a:rPr>
              <a:t>30% to 59%</a:t>
            </a:r>
            <a:endParaRPr lang="en-US" sz="1300" dirty="0"/>
          </a:p>
        </p:txBody>
      </p:sp>
      <p:sp>
        <p:nvSpPr>
          <p:cNvPr id="10" name="Text 8"/>
          <p:cNvSpPr txBox="1"/>
          <p:nvPr/>
        </p:nvSpPr>
        <p:spPr>
          <a:xfrm>
            <a:off x="3017520" y="2651760"/>
            <a:ext cx="2286000" cy="640080"/>
          </a:xfrm>
          <a:prstGeom prst="rect">
            <a:avLst/>
          </a:prstGeom>
          <a:noFill/>
          <a:ln/>
        </p:spPr>
        <p:txBody>
          <a:bodyPr wrap="square" lIns="0" tIns="0" rIns="0" bIns="0" rtlCol="0" anchor="ctr"/>
          <a:lstStyle/>
          <a:p>
            <a:pPr algn="ctr" indent="0" marL="0">
              <a:buNone/>
            </a:pPr>
            <a:r>
              <a:rPr lang="en-US" sz="1300" b="1" dirty="0">
                <a:solidFill>
                  <a:srgbClr val="4C3629"/>
                </a:solidFill>
                <a:latin typeface="Arial" pitchFamily="34" charset="0"/>
                <a:ea typeface="Arial" pitchFamily="34" charset="-122"/>
                <a:cs typeface="Arial" pitchFamily="34" charset="-120"/>
              </a:rPr>
              <a:t>+5% Fit for each one</a:t>
            </a:r>
            <a:endParaRPr lang="en-US" sz="1300" dirty="0"/>
          </a:p>
        </p:txBody>
      </p:sp>
      <p:sp>
        <p:nvSpPr>
          <p:cNvPr id="11" name="Shape 9"/>
          <p:cNvSpPr/>
          <p:nvPr/>
        </p:nvSpPr>
        <p:spPr>
          <a:xfrm>
            <a:off x="5394960" y="1463040"/>
            <a:ext cx="3291840" cy="1005840"/>
          </a:xfrm>
          <a:prstGeom prst="rect">
            <a:avLst/>
          </a:prstGeom>
          <a:solidFill>
            <a:srgbClr val="4C3629"/>
          </a:solidFill>
          <a:ln w="25400">
            <a:solidFill>
              <a:srgbClr val="FFFFFF"/>
            </a:solidFill>
            <a:prstDash val="solid"/>
          </a:ln>
        </p:spPr>
      </p:sp>
      <p:sp>
        <p:nvSpPr>
          <p:cNvPr id="12" name="Text 10"/>
          <p:cNvSpPr txBox="1"/>
          <p:nvPr/>
        </p:nvSpPr>
        <p:spPr>
          <a:xfrm>
            <a:off x="5394960" y="1508760"/>
            <a:ext cx="329184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Must-have</a:t>
            </a:r>
            <a:endParaRPr lang="en-US" sz="1800" dirty="0"/>
          </a:p>
        </p:txBody>
      </p:sp>
      <p:sp>
        <p:nvSpPr>
          <p:cNvPr id="13" name="Text 11"/>
          <p:cNvSpPr txBox="1"/>
          <p:nvPr/>
        </p:nvSpPr>
        <p:spPr>
          <a:xfrm>
            <a:off x="5394960" y="1965960"/>
            <a:ext cx="3291840" cy="411480"/>
          </a:xfrm>
          <a:prstGeom prst="rect">
            <a:avLst/>
          </a:prstGeom>
          <a:noFill/>
          <a:ln/>
        </p:spPr>
        <p:txBody>
          <a:bodyPr wrap="square" lIns="0" tIns="0" rIns="0" bIns="0" rtlCol="0" anchor="ctr"/>
          <a:lstStyle/>
          <a:p>
            <a:pPr algn="ctr" indent="0" marL="0">
              <a:buNone/>
            </a:pPr>
            <a:r>
              <a:rPr lang="en-US" sz="1300" dirty="0">
                <a:solidFill>
                  <a:srgbClr val="FFFFFF"/>
                </a:solidFill>
                <a:latin typeface="Arial" pitchFamily="34" charset="0"/>
                <a:ea typeface="Arial" pitchFamily="34" charset="-122"/>
                <a:cs typeface="Arial" pitchFamily="34" charset="-120"/>
              </a:rPr>
              <a:t>60% or more</a:t>
            </a:r>
            <a:endParaRPr lang="en-US" sz="1300" dirty="0"/>
          </a:p>
        </p:txBody>
      </p:sp>
      <p:sp>
        <p:nvSpPr>
          <p:cNvPr id="14" name="Text 12"/>
          <p:cNvSpPr txBox="1"/>
          <p:nvPr/>
        </p:nvSpPr>
        <p:spPr>
          <a:xfrm>
            <a:off x="5486400" y="2651760"/>
            <a:ext cx="3108960" cy="640080"/>
          </a:xfrm>
          <a:prstGeom prst="rect">
            <a:avLst/>
          </a:prstGeom>
          <a:noFill/>
          <a:ln/>
        </p:spPr>
        <p:txBody>
          <a:bodyPr wrap="square" lIns="0" tIns="0" rIns="0" bIns="0" rtlCol="0" anchor="ctr"/>
          <a:lstStyle/>
          <a:p>
            <a:pPr algn="ctr" indent="0" marL="0">
              <a:buNone/>
            </a:pPr>
            <a:r>
              <a:rPr lang="en-US" sz="1300" b="1" dirty="0">
                <a:solidFill>
                  <a:srgbClr val="4C3629"/>
                </a:solidFill>
                <a:latin typeface="Arial" pitchFamily="34" charset="0"/>
                <a:ea typeface="Arial" pitchFamily="34" charset="-122"/>
                <a:cs typeface="Arial" pitchFamily="34" charset="-120"/>
              </a:rPr>
              <a:t>Leave it out: buyers cut in half</a:t>
            </a:r>
            <a:endParaRPr lang="en-US" sz="1300" dirty="0"/>
          </a:p>
        </p:txBody>
      </p:sp>
      <p:sp>
        <p:nvSpPr>
          <p:cNvPr id="15" name="Text 13"/>
          <p:cNvSpPr txBox="1"/>
          <p:nvPr/>
        </p:nvSpPr>
        <p:spPr>
          <a:xfrm>
            <a:off x="182880" y="1143000"/>
            <a:ext cx="548640" cy="274320"/>
          </a:xfrm>
          <a:prstGeom prst="rect">
            <a:avLst/>
          </a:prstGeom>
          <a:noFill/>
          <a:ln/>
        </p:spPr>
        <p:txBody>
          <a:bodyPr wrap="square" lIns="0" tIns="0" rIns="0" bIns="0" rtlCol="0" anchor="ctr"/>
          <a:lstStyle/>
          <a:p>
            <a:pPr algn="ctr" indent="0" marL="0">
              <a:buNone/>
            </a:pPr>
            <a:r>
              <a:rPr lang="en-US" sz="1100" dirty="0">
                <a:solidFill>
                  <a:srgbClr val="6B6B6B"/>
                </a:solidFill>
                <a:latin typeface="Arial" pitchFamily="34" charset="0"/>
                <a:ea typeface="Arial" pitchFamily="34" charset="-122"/>
                <a:cs typeface="Arial" pitchFamily="34" charset="-120"/>
              </a:rPr>
              <a:t>0%</a:t>
            </a:r>
            <a:endParaRPr lang="en-US" sz="1100" dirty="0"/>
          </a:p>
        </p:txBody>
      </p:sp>
      <p:sp>
        <p:nvSpPr>
          <p:cNvPr id="16" name="Text 14"/>
          <p:cNvSpPr txBox="1"/>
          <p:nvPr/>
        </p:nvSpPr>
        <p:spPr>
          <a:xfrm>
            <a:off x="2651760" y="1143000"/>
            <a:ext cx="548640" cy="274320"/>
          </a:xfrm>
          <a:prstGeom prst="rect">
            <a:avLst/>
          </a:prstGeom>
          <a:noFill/>
          <a:ln/>
        </p:spPr>
        <p:txBody>
          <a:bodyPr wrap="square" lIns="0" tIns="0" rIns="0" bIns="0" rtlCol="0" anchor="ctr"/>
          <a:lstStyle/>
          <a:p>
            <a:pPr algn="ctr" indent="0" marL="0">
              <a:buNone/>
            </a:pPr>
            <a:r>
              <a:rPr lang="en-US" sz="1100" dirty="0">
                <a:solidFill>
                  <a:srgbClr val="6B6B6B"/>
                </a:solidFill>
                <a:latin typeface="Arial" pitchFamily="34" charset="0"/>
                <a:ea typeface="Arial" pitchFamily="34" charset="-122"/>
                <a:cs typeface="Arial" pitchFamily="34" charset="-120"/>
              </a:rPr>
              <a:t>30%</a:t>
            </a:r>
            <a:endParaRPr lang="en-US" sz="1100" dirty="0"/>
          </a:p>
        </p:txBody>
      </p:sp>
      <p:sp>
        <p:nvSpPr>
          <p:cNvPr id="17" name="Text 15"/>
          <p:cNvSpPr txBox="1"/>
          <p:nvPr/>
        </p:nvSpPr>
        <p:spPr>
          <a:xfrm>
            <a:off x="5120640" y="1143000"/>
            <a:ext cx="548640" cy="274320"/>
          </a:xfrm>
          <a:prstGeom prst="rect">
            <a:avLst/>
          </a:prstGeom>
          <a:noFill/>
          <a:ln/>
        </p:spPr>
        <p:txBody>
          <a:bodyPr wrap="square" lIns="0" tIns="0" rIns="0" bIns="0" rtlCol="0" anchor="ctr"/>
          <a:lstStyle/>
          <a:p>
            <a:pPr algn="ctr" indent="0" marL="0">
              <a:buNone/>
            </a:pPr>
            <a:r>
              <a:rPr lang="en-US" sz="1100" dirty="0">
                <a:solidFill>
                  <a:srgbClr val="6B6B6B"/>
                </a:solidFill>
                <a:latin typeface="Arial" pitchFamily="34" charset="0"/>
                <a:ea typeface="Arial" pitchFamily="34" charset="-122"/>
                <a:cs typeface="Arial" pitchFamily="34" charset="-120"/>
              </a:rPr>
              <a:t>60%</a:t>
            </a:r>
            <a:endParaRPr lang="en-US" sz="1100" dirty="0"/>
          </a:p>
        </p:txBody>
      </p:sp>
      <p:sp>
        <p:nvSpPr>
          <p:cNvPr id="18" name="Text 16"/>
          <p:cNvSpPr txBox="1"/>
          <p:nvPr/>
        </p:nvSpPr>
        <p:spPr>
          <a:xfrm>
            <a:off x="8412480" y="1143000"/>
            <a:ext cx="548640" cy="274320"/>
          </a:xfrm>
          <a:prstGeom prst="rect">
            <a:avLst/>
          </a:prstGeom>
          <a:noFill/>
          <a:ln/>
        </p:spPr>
        <p:txBody>
          <a:bodyPr wrap="square" lIns="0" tIns="0" rIns="0" bIns="0" rtlCol="0" anchor="ctr"/>
          <a:lstStyle/>
          <a:p>
            <a:pPr algn="ctr" indent="0" marL="0">
              <a:buNone/>
            </a:pPr>
            <a:r>
              <a:rPr lang="en-US" sz="1100" dirty="0">
                <a:solidFill>
                  <a:srgbClr val="6B6B6B"/>
                </a:solidFill>
                <a:latin typeface="Arial" pitchFamily="34" charset="0"/>
                <a:ea typeface="Arial" pitchFamily="34" charset="-122"/>
                <a:cs typeface="Arial" pitchFamily="34" charset="-120"/>
              </a:rPr>
              <a:t>100%</a:t>
            </a:r>
            <a:endParaRPr lang="en-US" sz="1100" dirty="0"/>
          </a:p>
        </p:txBody>
      </p:sp>
      <p:sp>
        <p:nvSpPr>
          <p:cNvPr id="19" name="Text 17"/>
          <p:cNvSpPr txBox="1"/>
          <p:nvPr/>
        </p:nvSpPr>
        <p:spPr>
          <a:xfrm>
            <a:off x="457200" y="3749040"/>
            <a:ext cx="8229600" cy="457200"/>
          </a:xfrm>
          <a:prstGeom prst="rect">
            <a:avLst/>
          </a:prstGeom>
          <a:noFill/>
          <a:ln/>
        </p:spPr>
        <p:txBody>
          <a:bodyPr wrap="square" lIns="0" tIns="0" rIns="0" bIns="0" rtlCol="0" anchor="ctr"/>
          <a:lstStyle/>
          <a:p>
            <a:pPr algn="ctr" indent="0" marL="0">
              <a:buNone/>
            </a:pPr>
            <a:r>
              <a:rPr lang="en-US" sz="1500" dirty="0">
                <a:solidFill>
                  <a:srgbClr val="6B6B6B"/>
                </a:solidFill>
                <a:latin typeface="Arial" pitchFamily="34" charset="0"/>
                <a:ea typeface="Arial" pitchFamily="34" charset="-122"/>
                <a:cs typeface="Arial" pitchFamily="34" charset="-120"/>
              </a:rPr>
              <a:t>The survey asked each segment: “Would you only buy it if it had this?”</a:t>
            </a:r>
            <a:endParaRPr lang="en-US" sz="15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6B6B"/>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4C3629"/>
                </a:solidFill>
                <a:latin typeface="Arial" pitchFamily="34" charset="0"/>
                <a:ea typeface="Arial" pitchFamily="34" charset="-122"/>
                <a:cs typeface="Arial" pitchFamily="34" charset="-120"/>
              </a:rPr>
              <a:t>Higher Price, Fewer Buyers</a:t>
            </a:r>
            <a:endParaRPr lang="en-US" sz="2800" dirty="0"/>
          </a:p>
        </p:txBody>
      </p:sp>
      <p:graphicFrame>
        <p:nvGraphicFramePr>
          <p:cNvPr id="3" name="Chart 0" descr=""/>
          <p:cNvGraphicFramePr/>
          <p:nvPr/>
        </p:nvGraphicFramePr>
        <p:xfrm>
          <a:off x="274320" y="1005840"/>
          <a:ext cx="5577840" cy="365760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6035040" y="1371600"/>
            <a:ext cx="2743200" cy="2926080"/>
          </a:xfrm>
          <a:prstGeom prst="rect">
            <a:avLst/>
          </a:prstGeom>
          <a:noFill/>
          <a:ln/>
        </p:spPr>
        <p:txBody>
          <a:bodyPr wrap="square" lIns="0" tIns="0" rIns="0" bIns="0" rtlCol="0" anchor="ctr"/>
          <a:lstStyle/>
          <a:p>
            <a:pPr indent="0" marL="0">
              <a:buNone/>
            </a:pPr>
            <a:r>
              <a:rPr lang="en-US" sz="1400" b="1" dirty="0">
                <a:solidFill>
                  <a:srgbClr val="E26F39"/>
                </a:solidFill>
                <a:latin typeface="Arial" pitchFamily="34" charset="0"/>
                <a:ea typeface="Arial" pitchFamily="34" charset="-122"/>
                <a:cs typeface="Arial" pitchFamily="34" charset="-120"/>
              </a:rPr>
              <a:t>Willingness to pay</a:t>
            </a:r>
            <a:endParaRPr lang="en-US" sz="1400" dirty="0"/>
          </a:p>
          <a:p>
            <a:pPr indent="0" marL="0">
              <a:buNone/>
            </a:pPr>
            <a:r>
              <a:rPr lang="en-US" sz="1800" b="1" dirty="0">
                <a:solidFill>
                  <a:srgbClr val="4C3629"/>
                </a:solidFill>
                <a:latin typeface="Arial" pitchFamily="34" charset="0"/>
                <a:ea typeface="Arial" pitchFamily="34" charset="-122"/>
                <a:cs typeface="Arial" pitchFamily="34" charset="-120"/>
              </a:rPr>
              <a:t>Every segment has a price where people start walking away.</a:t>
            </a:r>
            <a:endParaRPr lang="en-US" sz="1400" dirty="0"/>
          </a:p>
          <a:p>
            <a:pPr indent="0" marL="0">
              <a:buNone/>
            </a:pPr>
            <a:r>
              <a:rPr lang="en-US" sz="800" dirty="0">
                <a:solidFill>
                  <a:srgbClr val="222222"/>
                </a:solidFill>
                <a:latin typeface="Arial" pitchFamily="34" charset="0"/>
                <a:ea typeface="Arial" pitchFamily="34" charset="-122"/>
                <a:cs typeface="Arial" pitchFamily="34" charset="-120"/>
              </a:rPr>
              <a:t> </a:t>
            </a:r>
            <a:endParaRPr lang="en-US" sz="1400" dirty="0"/>
          </a:p>
          <a:p>
            <a:pPr indent="0" marL="0">
              <a:buNone/>
            </a:pPr>
            <a:r>
              <a:rPr lang="en-US" sz="1500" dirty="0">
                <a:solidFill>
                  <a:srgbClr val="222222"/>
                </a:solidFill>
                <a:latin typeface="Arial" pitchFamily="34" charset="0"/>
                <a:ea typeface="Arial" pitchFamily="34" charset="-122"/>
                <a:cs typeface="Arial" pitchFamily="34" charset="-120"/>
              </a:rPr>
              <a:t>Which of Maya's segments could she charge the most? Which one bails first?</a:t>
            </a:r>
            <a:endParaRPr lang="en-US" sz="14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6B6B"/>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4C3629"/>
                </a:solidFill>
                <a:latin typeface="Arial" pitchFamily="34" charset="0"/>
                <a:ea typeface="Arial" pitchFamily="34" charset="-122"/>
                <a:cs typeface="Arial" pitchFamily="34" charset="-120"/>
              </a:rPr>
              <a:t>How You Score a Version</a:t>
            </a:r>
            <a:endParaRPr lang="en-US" sz="2800" dirty="0"/>
          </a:p>
        </p:txBody>
      </p:sp>
      <p:sp>
        <p:nvSpPr>
          <p:cNvPr id="3" name="Shape 1"/>
          <p:cNvSpPr/>
          <p:nvPr/>
        </p:nvSpPr>
        <p:spPr>
          <a:xfrm>
            <a:off x="457200" y="1371600"/>
            <a:ext cx="1920240" cy="640080"/>
          </a:xfrm>
          <a:prstGeom prst="rect">
            <a:avLst/>
          </a:prstGeom>
          <a:solidFill>
            <a:srgbClr val="4C3629"/>
          </a:solidFill>
          <a:ln w="12700">
            <a:solidFill>
              <a:srgbClr val="4C3629"/>
            </a:solidFill>
            <a:prstDash val="solid"/>
          </a:ln>
        </p:spPr>
      </p:sp>
      <p:sp>
        <p:nvSpPr>
          <p:cNvPr id="4" name="Text 2"/>
          <p:cNvSpPr txBox="1"/>
          <p:nvPr/>
        </p:nvSpPr>
        <p:spPr>
          <a:xfrm>
            <a:off x="457200" y="1371600"/>
            <a:ext cx="1920240" cy="64008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1. Unit cost</a:t>
            </a:r>
            <a:endParaRPr lang="en-US" sz="1700" dirty="0"/>
          </a:p>
        </p:txBody>
      </p:sp>
      <p:sp>
        <p:nvSpPr>
          <p:cNvPr id="5" name="Shape 3"/>
          <p:cNvSpPr/>
          <p:nvPr/>
        </p:nvSpPr>
        <p:spPr>
          <a:xfrm>
            <a:off x="457200" y="2103120"/>
            <a:ext cx="1920240" cy="1645920"/>
          </a:xfrm>
          <a:prstGeom prst="roundRect">
            <a:avLst>
              <a:gd name="adj" fmla="val 4444"/>
            </a:avLst>
          </a:prstGeom>
          <a:solidFill>
            <a:srgbClr val="FBF3EC"/>
          </a:solidFill>
          <a:ln w="12700">
            <a:solidFill>
              <a:srgbClr val="EFE4DA"/>
            </a:solidFill>
            <a:prstDash val="solid"/>
          </a:ln>
        </p:spPr>
      </p:sp>
      <p:sp>
        <p:nvSpPr>
          <p:cNvPr id="6" name="Text 4"/>
          <p:cNvSpPr txBox="1"/>
          <p:nvPr/>
        </p:nvSpPr>
        <p:spPr>
          <a:xfrm>
            <a:off x="594360" y="2194560"/>
            <a:ext cx="1645920" cy="1463040"/>
          </a:xfrm>
          <a:prstGeom prst="rect">
            <a:avLst/>
          </a:prstGeom>
          <a:noFill/>
          <a:ln/>
        </p:spPr>
        <p:txBody>
          <a:bodyPr wrap="square" lIns="0" tIns="0" rIns="0" bIns="0" rtlCol="0" anchor="ctr"/>
          <a:lstStyle/>
          <a:p>
            <a:pPr algn="ctr" indent="0" marL="0">
              <a:buNone/>
            </a:pPr>
            <a:r>
              <a:rPr lang="en-US" sz="1400" dirty="0">
                <a:solidFill>
                  <a:srgbClr val="222222"/>
                </a:solidFill>
                <a:latin typeface="Arial" pitchFamily="34" charset="0"/>
                <a:ea typeface="Arial" pitchFamily="34" charset="-122"/>
                <a:cs typeface="Arial" pitchFamily="34" charset="-120"/>
              </a:rPr>
              <a:t>Base cost + features</a:t>
            </a:r>
            <a:endParaRPr lang="en-US" sz="1400" dirty="0"/>
          </a:p>
        </p:txBody>
      </p:sp>
      <p:sp>
        <p:nvSpPr>
          <p:cNvPr id="7" name="Shape 5"/>
          <p:cNvSpPr/>
          <p:nvPr/>
        </p:nvSpPr>
        <p:spPr>
          <a:xfrm>
            <a:off x="2560320" y="1371600"/>
            <a:ext cx="1920240" cy="640080"/>
          </a:xfrm>
          <a:prstGeom prst="rect">
            <a:avLst/>
          </a:prstGeom>
          <a:solidFill>
            <a:srgbClr val="4C3629"/>
          </a:solidFill>
          <a:ln w="12700">
            <a:solidFill>
              <a:srgbClr val="4C3629"/>
            </a:solidFill>
            <a:prstDash val="solid"/>
          </a:ln>
        </p:spPr>
      </p:sp>
      <p:sp>
        <p:nvSpPr>
          <p:cNvPr id="8" name="Text 6"/>
          <p:cNvSpPr txBox="1"/>
          <p:nvPr/>
        </p:nvSpPr>
        <p:spPr>
          <a:xfrm>
            <a:off x="2560320" y="1371600"/>
            <a:ext cx="1920240" cy="64008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2. Fit</a:t>
            </a:r>
            <a:endParaRPr lang="en-US" sz="1700" dirty="0"/>
          </a:p>
        </p:txBody>
      </p:sp>
      <p:sp>
        <p:nvSpPr>
          <p:cNvPr id="9" name="Shape 7"/>
          <p:cNvSpPr/>
          <p:nvPr/>
        </p:nvSpPr>
        <p:spPr>
          <a:xfrm>
            <a:off x="2560320" y="2103120"/>
            <a:ext cx="1920240" cy="1645920"/>
          </a:xfrm>
          <a:prstGeom prst="roundRect">
            <a:avLst>
              <a:gd name="adj" fmla="val 4444"/>
            </a:avLst>
          </a:prstGeom>
          <a:solidFill>
            <a:srgbClr val="FBF3EC"/>
          </a:solidFill>
          <a:ln w="12700">
            <a:solidFill>
              <a:srgbClr val="EFE4DA"/>
            </a:solidFill>
            <a:prstDash val="solid"/>
          </a:ln>
        </p:spPr>
      </p:sp>
      <p:sp>
        <p:nvSpPr>
          <p:cNvPr id="10" name="Text 8"/>
          <p:cNvSpPr txBox="1"/>
          <p:nvPr/>
        </p:nvSpPr>
        <p:spPr>
          <a:xfrm>
            <a:off x="2697480" y="2194560"/>
            <a:ext cx="1645920" cy="1463040"/>
          </a:xfrm>
          <a:prstGeom prst="rect">
            <a:avLst/>
          </a:prstGeom>
          <a:noFill/>
          <a:ln/>
        </p:spPr>
        <p:txBody>
          <a:bodyPr wrap="square" lIns="0" tIns="0" rIns="0" bIns="0" rtlCol="0" anchor="ctr"/>
          <a:lstStyle/>
          <a:p>
            <a:pPr algn="ctr" indent="0" marL="0">
              <a:buNone/>
            </a:pPr>
            <a:r>
              <a:rPr lang="en-US" sz="1400" dirty="0">
                <a:solidFill>
                  <a:srgbClr val="222222"/>
                </a:solidFill>
                <a:latin typeface="Arial" pitchFamily="34" charset="0"/>
                <a:ea typeface="Arial" pitchFamily="34" charset="-122"/>
                <a:cs typeface="Arial" pitchFamily="34" charset="-120"/>
              </a:rPr>
              <a:t>100%, +5% per nice-to-have, ÷2 per missing must-have</a:t>
            </a:r>
            <a:endParaRPr lang="en-US" sz="1400" dirty="0"/>
          </a:p>
        </p:txBody>
      </p:sp>
      <p:sp>
        <p:nvSpPr>
          <p:cNvPr id="11" name="Shape 9"/>
          <p:cNvSpPr/>
          <p:nvPr/>
        </p:nvSpPr>
        <p:spPr>
          <a:xfrm>
            <a:off x="4663440" y="1371600"/>
            <a:ext cx="1920240" cy="640080"/>
          </a:xfrm>
          <a:prstGeom prst="rect">
            <a:avLst/>
          </a:prstGeom>
          <a:solidFill>
            <a:srgbClr val="4C3629"/>
          </a:solidFill>
          <a:ln w="12700">
            <a:solidFill>
              <a:srgbClr val="4C3629"/>
            </a:solidFill>
            <a:prstDash val="solid"/>
          </a:ln>
        </p:spPr>
      </p:sp>
      <p:sp>
        <p:nvSpPr>
          <p:cNvPr id="12" name="Text 10"/>
          <p:cNvSpPr txBox="1"/>
          <p:nvPr/>
        </p:nvSpPr>
        <p:spPr>
          <a:xfrm>
            <a:off x="4663440" y="1371600"/>
            <a:ext cx="1920240" cy="64008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3. Buyers</a:t>
            </a:r>
            <a:endParaRPr lang="en-US" sz="1700" dirty="0"/>
          </a:p>
        </p:txBody>
      </p:sp>
      <p:sp>
        <p:nvSpPr>
          <p:cNvPr id="13" name="Shape 11"/>
          <p:cNvSpPr/>
          <p:nvPr/>
        </p:nvSpPr>
        <p:spPr>
          <a:xfrm>
            <a:off x="4663440" y="2103120"/>
            <a:ext cx="1920240" cy="1645920"/>
          </a:xfrm>
          <a:prstGeom prst="roundRect">
            <a:avLst>
              <a:gd name="adj" fmla="val 4444"/>
            </a:avLst>
          </a:prstGeom>
          <a:solidFill>
            <a:srgbClr val="FBF3EC"/>
          </a:solidFill>
          <a:ln w="12700">
            <a:solidFill>
              <a:srgbClr val="EFE4DA"/>
            </a:solidFill>
            <a:prstDash val="solid"/>
          </a:ln>
        </p:spPr>
      </p:sp>
      <p:sp>
        <p:nvSpPr>
          <p:cNvPr id="14" name="Text 12"/>
          <p:cNvSpPr txBox="1"/>
          <p:nvPr/>
        </p:nvSpPr>
        <p:spPr>
          <a:xfrm>
            <a:off x="4800600" y="2194560"/>
            <a:ext cx="1645920" cy="1463040"/>
          </a:xfrm>
          <a:prstGeom prst="rect">
            <a:avLst/>
          </a:prstGeom>
          <a:noFill/>
          <a:ln/>
        </p:spPr>
        <p:txBody>
          <a:bodyPr wrap="square" lIns="0" tIns="0" rIns="0" bIns="0" rtlCol="0" anchor="ctr"/>
          <a:lstStyle/>
          <a:p>
            <a:pPr algn="ctr" indent="0" marL="0">
              <a:buNone/>
            </a:pPr>
            <a:r>
              <a:rPr lang="en-US" sz="1400" dirty="0">
                <a:solidFill>
                  <a:srgbClr val="222222"/>
                </a:solidFill>
                <a:latin typeface="Arial" pitchFamily="34" charset="0"/>
                <a:ea typeface="Arial" pitchFamily="34" charset="-122"/>
                <a:cs typeface="Arial" pitchFamily="34" charset="-120"/>
              </a:rPr>
              <a:t>Size × % who'd buy × Fit</a:t>
            </a:r>
            <a:endParaRPr lang="en-US" sz="1400" dirty="0"/>
          </a:p>
        </p:txBody>
      </p:sp>
      <p:sp>
        <p:nvSpPr>
          <p:cNvPr id="15" name="Shape 13"/>
          <p:cNvSpPr/>
          <p:nvPr/>
        </p:nvSpPr>
        <p:spPr>
          <a:xfrm>
            <a:off x="6766560" y="1371600"/>
            <a:ext cx="1920240" cy="640080"/>
          </a:xfrm>
          <a:prstGeom prst="rect">
            <a:avLst/>
          </a:prstGeom>
          <a:solidFill>
            <a:srgbClr val="E26F39"/>
          </a:solidFill>
          <a:ln w="12700">
            <a:solidFill>
              <a:srgbClr val="E26F39"/>
            </a:solidFill>
            <a:prstDash val="solid"/>
          </a:ln>
        </p:spPr>
      </p:sp>
      <p:sp>
        <p:nvSpPr>
          <p:cNvPr id="16" name="Text 14"/>
          <p:cNvSpPr txBox="1"/>
          <p:nvPr/>
        </p:nvSpPr>
        <p:spPr>
          <a:xfrm>
            <a:off x="6766560" y="1371600"/>
            <a:ext cx="1920240" cy="64008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4. Profit</a:t>
            </a:r>
            <a:endParaRPr lang="en-US" sz="1700" dirty="0"/>
          </a:p>
        </p:txBody>
      </p:sp>
      <p:sp>
        <p:nvSpPr>
          <p:cNvPr id="17" name="Shape 15"/>
          <p:cNvSpPr/>
          <p:nvPr/>
        </p:nvSpPr>
        <p:spPr>
          <a:xfrm>
            <a:off x="6766560" y="2103120"/>
            <a:ext cx="1920240" cy="1645920"/>
          </a:xfrm>
          <a:prstGeom prst="roundRect">
            <a:avLst>
              <a:gd name="adj" fmla="val 4444"/>
            </a:avLst>
          </a:prstGeom>
          <a:solidFill>
            <a:srgbClr val="FBF3EC"/>
          </a:solidFill>
          <a:ln w="12700">
            <a:solidFill>
              <a:srgbClr val="EFE4DA"/>
            </a:solidFill>
            <a:prstDash val="solid"/>
          </a:ln>
        </p:spPr>
      </p:sp>
      <p:sp>
        <p:nvSpPr>
          <p:cNvPr id="18" name="Text 16"/>
          <p:cNvSpPr txBox="1"/>
          <p:nvPr/>
        </p:nvSpPr>
        <p:spPr>
          <a:xfrm>
            <a:off x="6903720" y="2194560"/>
            <a:ext cx="1645920" cy="1463040"/>
          </a:xfrm>
          <a:prstGeom prst="rect">
            <a:avLst/>
          </a:prstGeom>
          <a:noFill/>
          <a:ln/>
        </p:spPr>
        <p:txBody>
          <a:bodyPr wrap="square" lIns="0" tIns="0" rIns="0" bIns="0" rtlCol="0" anchor="ctr"/>
          <a:lstStyle/>
          <a:p>
            <a:pPr algn="ctr" indent="0" marL="0">
              <a:buNone/>
            </a:pPr>
            <a:r>
              <a:rPr lang="en-US" sz="1400" dirty="0">
                <a:solidFill>
                  <a:srgbClr val="222222"/>
                </a:solidFill>
                <a:latin typeface="Arial" pitchFamily="34" charset="0"/>
                <a:ea typeface="Arial" pitchFamily="34" charset="-122"/>
                <a:cs typeface="Arial" pitchFamily="34" charset="-120"/>
              </a:rPr>
              <a:t>Buyers × (Price − Unit cost)</a:t>
            </a:r>
            <a:endParaRPr lang="en-US" sz="1400" dirty="0"/>
          </a:p>
        </p:txBody>
      </p:sp>
      <p:sp>
        <p:nvSpPr>
          <p:cNvPr id="19" name="Text 17"/>
          <p:cNvSpPr txBox="1"/>
          <p:nvPr/>
        </p:nvSpPr>
        <p:spPr>
          <a:xfrm>
            <a:off x="457200" y="3977640"/>
            <a:ext cx="8229600" cy="365760"/>
          </a:xfrm>
          <a:prstGeom prst="rect">
            <a:avLst/>
          </a:prstGeom>
          <a:noFill/>
          <a:ln/>
        </p:spPr>
        <p:txBody>
          <a:bodyPr wrap="square" lIns="0" tIns="0" rIns="0" bIns="0" rtlCol="0" anchor="ctr"/>
          <a:lstStyle/>
          <a:p>
            <a:pPr algn="ctr" indent="0" marL="0">
              <a:buNone/>
            </a:pPr>
            <a:r>
              <a:rPr lang="en-US" sz="1400" dirty="0">
                <a:solidFill>
                  <a:srgbClr val="6B6B6B"/>
                </a:solidFill>
                <a:latin typeface="Arial" pitchFamily="34" charset="0"/>
                <a:ea typeface="Arial" pitchFamily="34" charset="-122"/>
                <a:cs typeface="Arial" pitchFamily="34" charset="-120"/>
              </a:rPr>
              <a:t>Prices come from your case file's price list. Test at least two for every version.</a:t>
            </a:r>
            <a:endParaRPr lang="en-US" sz="14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6B6B"/>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411480"/>
            <a:ext cx="5486400" cy="320040"/>
          </a:xfrm>
          <a:prstGeom prst="rect">
            <a:avLst/>
          </a:prstGeom>
          <a:noFill/>
          <a:ln/>
        </p:spPr>
        <p:txBody>
          <a:bodyPr wrap="square" lIns="0" tIns="0" rIns="0" bIns="0" rtlCol="0" anchor="ctr"/>
          <a:lstStyle/>
          <a:p>
            <a:pPr indent="0" marL="0">
              <a:buNone/>
            </a:pPr>
            <a:r>
              <a:rPr lang="en-US" sz="1300" b="1" spc="300" kern="0" dirty="0">
                <a:solidFill>
                  <a:srgbClr val="F2955F"/>
                </a:solidFill>
                <a:latin typeface="Arial" pitchFamily="34" charset="0"/>
                <a:ea typeface="Arial" pitchFamily="34" charset="-122"/>
                <a:cs typeface="Arial" pitchFamily="34" charset="-120"/>
              </a:rPr>
              <a:t>WORKED EXAMPLE</a:t>
            </a:r>
            <a:endParaRPr lang="en-US" sz="1300" dirty="0"/>
          </a:p>
        </p:txBody>
      </p:sp>
      <p:sp>
        <p:nvSpPr>
          <p:cNvPr id="3" name="Text 1"/>
          <p:cNvSpPr txBox="1"/>
          <p:nvPr/>
        </p:nvSpPr>
        <p:spPr>
          <a:xfrm>
            <a:off x="548640" y="731520"/>
            <a:ext cx="8229600" cy="64008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Maya's Sneaker Restoration</a:t>
            </a:r>
            <a:endParaRPr lang="en-US" sz="3200" dirty="0"/>
          </a:p>
        </p:txBody>
      </p:sp>
      <p:sp>
        <p:nvSpPr>
          <p:cNvPr id="4" name="Shape 2"/>
          <p:cNvSpPr/>
          <p:nvPr/>
        </p:nvSpPr>
        <p:spPr>
          <a:xfrm>
            <a:off x="548640" y="1600200"/>
            <a:ext cx="2468880" cy="2743200"/>
          </a:xfrm>
          <a:prstGeom prst="rect">
            <a:avLst/>
          </a:prstGeom>
          <a:solidFill>
            <a:srgbClr val="5E4638"/>
          </a:solidFill>
          <a:ln w="12700">
            <a:solidFill>
              <a:srgbClr val="F2955F"/>
            </a:solidFill>
            <a:prstDash val="solid"/>
          </a:ln>
        </p:spPr>
      </p:sp>
      <p:sp>
        <p:nvSpPr>
          <p:cNvPr id="5" name="Text 3"/>
          <p:cNvSpPr txBox="1"/>
          <p:nvPr/>
        </p:nvSpPr>
        <p:spPr>
          <a:xfrm>
            <a:off x="685800" y="1691640"/>
            <a:ext cx="2194560" cy="411480"/>
          </a:xfrm>
          <a:prstGeom prst="rect">
            <a:avLst/>
          </a:prstGeom>
          <a:noFill/>
          <a:ln/>
        </p:spPr>
        <p:txBody>
          <a:bodyPr wrap="square" lIns="0" tIns="0" rIns="0" bIns="0" rtlCol="0" anchor="ctr"/>
          <a:lstStyle/>
          <a:p>
            <a:pPr indent="0" marL="0">
              <a:buNone/>
            </a:pPr>
            <a:r>
              <a:rPr lang="en-US" sz="1700" b="1" dirty="0">
                <a:solidFill>
                  <a:srgbClr val="F2955F"/>
                </a:solidFill>
                <a:latin typeface="Arial" pitchFamily="34" charset="0"/>
                <a:ea typeface="Arial" pitchFamily="34" charset="-122"/>
                <a:cs typeface="Arial" pitchFamily="34" charset="-120"/>
              </a:rPr>
              <a:t>Weekend Wearers</a:t>
            </a:r>
            <a:endParaRPr lang="en-US" sz="1700" dirty="0"/>
          </a:p>
        </p:txBody>
      </p:sp>
      <p:sp>
        <p:nvSpPr>
          <p:cNvPr id="6" name="Text 4"/>
          <p:cNvSpPr txBox="1"/>
          <p:nvPr/>
        </p:nvSpPr>
        <p:spPr>
          <a:xfrm>
            <a:off x="685800" y="2103120"/>
            <a:ext cx="2194560" cy="274320"/>
          </a:xfrm>
          <a:prstGeom prst="rect">
            <a:avLst/>
          </a:prstGeom>
          <a:noFill/>
          <a:ln/>
        </p:spPr>
        <p:txBody>
          <a:bodyPr wrap="square" lIns="0" tIns="0" rIns="0" bIns="0" rtlCol="0" anchor="ctr"/>
          <a:lstStyle/>
          <a:p>
            <a:pPr indent="0" marL="0">
              <a:buNone/>
            </a:pPr>
            <a:r>
              <a:rPr lang="en-US" sz="1100" dirty="0">
                <a:solidFill>
                  <a:srgbClr val="FBF3EC"/>
                </a:solidFill>
                <a:latin typeface="Arial" pitchFamily="34" charset="0"/>
                <a:ea typeface="Arial" pitchFamily="34" charset="-122"/>
                <a:cs typeface="Arial" pitchFamily="34" charset="-120"/>
              </a:rPr>
              <a:t>600 potential customers</a:t>
            </a:r>
            <a:endParaRPr lang="en-US" sz="1100" dirty="0"/>
          </a:p>
        </p:txBody>
      </p:sp>
      <p:sp>
        <p:nvSpPr>
          <p:cNvPr id="7" name="Text 5"/>
          <p:cNvSpPr txBox="1"/>
          <p:nvPr/>
        </p:nvSpPr>
        <p:spPr>
          <a:xfrm>
            <a:off x="685800" y="2514600"/>
            <a:ext cx="2194560" cy="164592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“I just want them to look clean for homecoming.”</a:t>
            </a:r>
            <a:endParaRPr lang="en-US" sz="1500" dirty="0"/>
          </a:p>
        </p:txBody>
      </p:sp>
      <p:sp>
        <p:nvSpPr>
          <p:cNvPr id="8" name="Shape 6"/>
          <p:cNvSpPr/>
          <p:nvPr/>
        </p:nvSpPr>
        <p:spPr>
          <a:xfrm>
            <a:off x="3246120" y="1600200"/>
            <a:ext cx="2468880" cy="2743200"/>
          </a:xfrm>
          <a:prstGeom prst="rect">
            <a:avLst/>
          </a:prstGeom>
          <a:solidFill>
            <a:srgbClr val="5E4638"/>
          </a:solidFill>
          <a:ln w="12700">
            <a:solidFill>
              <a:srgbClr val="F2955F"/>
            </a:solidFill>
            <a:prstDash val="solid"/>
          </a:ln>
        </p:spPr>
      </p:sp>
      <p:sp>
        <p:nvSpPr>
          <p:cNvPr id="9" name="Text 7"/>
          <p:cNvSpPr txBox="1"/>
          <p:nvPr/>
        </p:nvSpPr>
        <p:spPr>
          <a:xfrm>
            <a:off x="3383280" y="1691640"/>
            <a:ext cx="2194560" cy="411480"/>
          </a:xfrm>
          <a:prstGeom prst="rect">
            <a:avLst/>
          </a:prstGeom>
          <a:noFill/>
          <a:ln/>
        </p:spPr>
        <p:txBody>
          <a:bodyPr wrap="square" lIns="0" tIns="0" rIns="0" bIns="0" rtlCol="0" anchor="ctr"/>
          <a:lstStyle/>
          <a:p>
            <a:pPr indent="0" marL="0">
              <a:buNone/>
            </a:pPr>
            <a:r>
              <a:rPr lang="en-US" sz="1700" b="1" dirty="0">
                <a:solidFill>
                  <a:srgbClr val="F2955F"/>
                </a:solidFill>
                <a:latin typeface="Arial" pitchFamily="34" charset="0"/>
                <a:ea typeface="Arial" pitchFamily="34" charset="-122"/>
                <a:cs typeface="Arial" pitchFamily="34" charset="-120"/>
              </a:rPr>
              <a:t>Collectors</a:t>
            </a:r>
            <a:endParaRPr lang="en-US" sz="1700" dirty="0"/>
          </a:p>
        </p:txBody>
      </p:sp>
      <p:sp>
        <p:nvSpPr>
          <p:cNvPr id="10" name="Text 8"/>
          <p:cNvSpPr txBox="1"/>
          <p:nvPr/>
        </p:nvSpPr>
        <p:spPr>
          <a:xfrm>
            <a:off x="3383280" y="2103120"/>
            <a:ext cx="2194560" cy="274320"/>
          </a:xfrm>
          <a:prstGeom prst="rect">
            <a:avLst/>
          </a:prstGeom>
          <a:noFill/>
          <a:ln/>
        </p:spPr>
        <p:txBody>
          <a:bodyPr wrap="square" lIns="0" tIns="0" rIns="0" bIns="0" rtlCol="0" anchor="ctr"/>
          <a:lstStyle/>
          <a:p>
            <a:pPr indent="0" marL="0">
              <a:buNone/>
            </a:pPr>
            <a:r>
              <a:rPr lang="en-US" sz="1100" dirty="0">
                <a:solidFill>
                  <a:srgbClr val="FBF3EC"/>
                </a:solidFill>
                <a:latin typeface="Arial" pitchFamily="34" charset="0"/>
                <a:ea typeface="Arial" pitchFamily="34" charset="-122"/>
                <a:cs typeface="Arial" pitchFamily="34" charset="-120"/>
              </a:rPr>
              <a:t>150 potential customers</a:t>
            </a:r>
            <a:endParaRPr lang="en-US" sz="1100" dirty="0"/>
          </a:p>
        </p:txBody>
      </p:sp>
      <p:sp>
        <p:nvSpPr>
          <p:cNvPr id="11" name="Text 9"/>
          <p:cNvSpPr txBox="1"/>
          <p:nvPr/>
        </p:nvSpPr>
        <p:spPr>
          <a:xfrm>
            <a:off x="3383280" y="2514600"/>
            <a:ext cx="2194560" cy="164592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“A crease costs me $50 on resale.”</a:t>
            </a:r>
            <a:endParaRPr lang="en-US" sz="1500" dirty="0"/>
          </a:p>
        </p:txBody>
      </p:sp>
      <p:sp>
        <p:nvSpPr>
          <p:cNvPr id="12" name="Shape 10"/>
          <p:cNvSpPr/>
          <p:nvPr/>
        </p:nvSpPr>
        <p:spPr>
          <a:xfrm>
            <a:off x="5943600" y="1600200"/>
            <a:ext cx="2468880" cy="2743200"/>
          </a:xfrm>
          <a:prstGeom prst="rect">
            <a:avLst/>
          </a:prstGeom>
          <a:solidFill>
            <a:srgbClr val="5E4638"/>
          </a:solidFill>
          <a:ln w="12700">
            <a:solidFill>
              <a:srgbClr val="F2955F"/>
            </a:solidFill>
            <a:prstDash val="solid"/>
          </a:ln>
        </p:spPr>
      </p:sp>
      <p:sp>
        <p:nvSpPr>
          <p:cNvPr id="13" name="Text 11"/>
          <p:cNvSpPr txBox="1"/>
          <p:nvPr/>
        </p:nvSpPr>
        <p:spPr>
          <a:xfrm>
            <a:off x="6080760" y="1691640"/>
            <a:ext cx="2194560" cy="411480"/>
          </a:xfrm>
          <a:prstGeom prst="rect">
            <a:avLst/>
          </a:prstGeom>
          <a:noFill/>
          <a:ln/>
        </p:spPr>
        <p:txBody>
          <a:bodyPr wrap="square" lIns="0" tIns="0" rIns="0" bIns="0" rtlCol="0" anchor="ctr"/>
          <a:lstStyle/>
          <a:p>
            <a:pPr indent="0" marL="0">
              <a:buNone/>
            </a:pPr>
            <a:r>
              <a:rPr lang="en-US" sz="1700" b="1" dirty="0">
                <a:solidFill>
                  <a:srgbClr val="F2955F"/>
                </a:solidFill>
                <a:latin typeface="Arial" pitchFamily="34" charset="0"/>
                <a:ea typeface="Arial" pitchFamily="34" charset="-122"/>
                <a:cs typeface="Arial" pitchFamily="34" charset="-120"/>
              </a:rPr>
              <a:t>Team Athletes</a:t>
            </a:r>
            <a:endParaRPr lang="en-US" sz="1700" dirty="0"/>
          </a:p>
        </p:txBody>
      </p:sp>
      <p:sp>
        <p:nvSpPr>
          <p:cNvPr id="14" name="Text 12"/>
          <p:cNvSpPr txBox="1"/>
          <p:nvPr/>
        </p:nvSpPr>
        <p:spPr>
          <a:xfrm>
            <a:off x="6080760" y="2103120"/>
            <a:ext cx="2194560" cy="274320"/>
          </a:xfrm>
          <a:prstGeom prst="rect">
            <a:avLst/>
          </a:prstGeom>
          <a:noFill/>
          <a:ln/>
        </p:spPr>
        <p:txBody>
          <a:bodyPr wrap="square" lIns="0" tIns="0" rIns="0" bIns="0" rtlCol="0" anchor="ctr"/>
          <a:lstStyle/>
          <a:p>
            <a:pPr indent="0" marL="0">
              <a:buNone/>
            </a:pPr>
            <a:r>
              <a:rPr lang="en-US" sz="1100" dirty="0">
                <a:solidFill>
                  <a:srgbClr val="FBF3EC"/>
                </a:solidFill>
                <a:latin typeface="Arial" pitchFamily="34" charset="0"/>
                <a:ea typeface="Arial" pitchFamily="34" charset="-122"/>
                <a:cs typeface="Arial" pitchFamily="34" charset="-120"/>
              </a:rPr>
              <a:t>300 potential customers</a:t>
            </a:r>
            <a:endParaRPr lang="en-US" sz="1100" dirty="0"/>
          </a:p>
        </p:txBody>
      </p:sp>
      <p:sp>
        <p:nvSpPr>
          <p:cNvPr id="15" name="Text 13"/>
          <p:cNvSpPr txBox="1"/>
          <p:nvPr/>
        </p:nvSpPr>
        <p:spPr>
          <a:xfrm>
            <a:off x="6080760" y="2514600"/>
            <a:ext cx="2194560" cy="164592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“I need them back by Friday's game.”</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4C3629"/>
                </a:solidFill>
                <a:latin typeface="Arial" pitchFamily="34" charset="0"/>
                <a:ea typeface="Arial" pitchFamily="34" charset="-122"/>
                <a:cs typeface="Arial" pitchFamily="34" charset="-120"/>
              </a:rPr>
              <a:t>What Does Each Segment Require?</a:t>
            </a:r>
            <a:endParaRPr lang="en-US" sz="2800" dirty="0"/>
          </a:p>
        </p:txBody>
      </p:sp>
      <p:pic>
        <p:nvPicPr>
          <p:cNvPr id="3" name="Image 0" descr="/home/claude/seg/charts/maya_features.png">    </p:cNvPr>
          <p:cNvPicPr>
            <a:picLocks noChangeAspect="1"/>
          </p:cNvPicPr>
          <p:nvPr/>
        </p:nvPicPr>
        <p:blipFill>
          <a:blip r:embed="rId1"/>
          <a:stretch>
            <a:fillRect/>
          </a:stretch>
        </p:blipFill>
        <p:spPr>
          <a:xfrm>
            <a:off x="365760" y="960120"/>
            <a:ext cx="5394960" cy="3657600"/>
          </a:xfrm>
          <a:prstGeom prst="rect">
            <a:avLst/>
          </a:prstGeom>
        </p:spPr>
      </p:pic>
      <p:sp>
        <p:nvSpPr>
          <p:cNvPr id="4" name="Text 1"/>
          <p:cNvSpPr txBox="1"/>
          <p:nvPr/>
        </p:nvSpPr>
        <p:spPr>
          <a:xfrm>
            <a:off x="5943600" y="1280160"/>
            <a:ext cx="2834640" cy="2926080"/>
          </a:xfrm>
          <a:prstGeom prst="rect">
            <a:avLst/>
          </a:prstGeom>
          <a:noFill/>
          <a:ln/>
        </p:spPr>
        <p:txBody>
          <a:bodyPr wrap="square" lIns="0" tIns="0" rIns="0" bIns="0" rtlCol="0" anchor="ctr"/>
          <a:lstStyle/>
          <a:p>
            <a:pPr indent="0" marL="0">
              <a:buNone/>
            </a:pPr>
            <a:r>
              <a:rPr lang="en-US" sz="1400" b="1" dirty="0">
                <a:solidFill>
                  <a:srgbClr val="E26F39"/>
                </a:solidFill>
                <a:latin typeface="Arial" pitchFamily="34" charset="0"/>
                <a:ea typeface="Arial" pitchFamily="34" charset="-122"/>
                <a:cs typeface="Arial" pitchFamily="34" charset="-120"/>
              </a:rPr>
              <a:t>Read it like a scout</a:t>
            </a:r>
            <a:endParaRPr lang="en-US" sz="1400" dirty="0"/>
          </a:p>
          <a:p>
            <a:pPr indent="0" marL="0">
              <a:buNone/>
            </a:pPr>
            <a:r>
              <a:rPr lang="en-US" sz="1600" b="1" dirty="0">
                <a:solidFill>
                  <a:srgbClr val="4C3629"/>
                </a:solidFill>
                <a:latin typeface="Arial" pitchFamily="34" charset="0"/>
                <a:ea typeface="Arial" pitchFamily="34" charset="-122"/>
                <a:cs typeface="Arial" pitchFamily="34" charset="-120"/>
              </a:rPr>
              <a:t>Which features cross the must-have line for Collectors?</a:t>
            </a:r>
            <a:endParaRPr lang="en-US" sz="1400" dirty="0"/>
          </a:p>
          <a:p>
            <a:pPr indent="0" marL="0">
              <a:buNone/>
            </a:pPr>
            <a:r>
              <a:rPr lang="en-US" sz="800" dirty="0">
                <a:solidFill>
                  <a:srgbClr val="222222"/>
                </a:solidFill>
                <a:latin typeface="Arial" pitchFamily="34" charset="0"/>
                <a:ea typeface="Arial" pitchFamily="34" charset="-122"/>
                <a:cs typeface="Arial" pitchFamily="34" charset="-120"/>
              </a:rPr>
              <a:t> </a:t>
            </a:r>
            <a:endParaRPr lang="en-US" sz="1400" dirty="0"/>
          </a:p>
          <a:p>
            <a:pPr indent="0" marL="0">
              <a:buNone/>
            </a:pPr>
            <a:r>
              <a:rPr lang="en-US" sz="1600" b="1" dirty="0">
                <a:solidFill>
                  <a:srgbClr val="4C3629"/>
                </a:solidFill>
                <a:latin typeface="Arial" pitchFamily="34" charset="0"/>
                <a:ea typeface="Arial" pitchFamily="34" charset="-122"/>
                <a:cs typeface="Arial" pitchFamily="34" charset="-120"/>
              </a:rPr>
              <a:t>Which feature does nobody require?</a:t>
            </a:r>
            <a:endParaRPr lang="en-US" sz="14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6B6B"/>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4C3629"/>
                </a:solidFill>
                <a:latin typeface="Arial" pitchFamily="34" charset="0"/>
                <a:ea typeface="Arial" pitchFamily="34" charset="-122"/>
                <a:cs typeface="Arial" pitchFamily="34" charset="-120"/>
              </a:rPr>
              <a:t>Version 1: The Fresh Start</a:t>
            </a:r>
            <a:endParaRPr lang="en-US" sz="2800" dirty="0"/>
          </a:p>
        </p:txBody>
      </p:sp>
      <p:sp>
        <p:nvSpPr>
          <p:cNvPr id="3" name="Text 1"/>
          <p:cNvSpPr txBox="1"/>
          <p:nvPr/>
        </p:nvSpPr>
        <p:spPr>
          <a:xfrm>
            <a:off x="457200" y="914400"/>
            <a:ext cx="4572000" cy="320040"/>
          </a:xfrm>
          <a:prstGeom prst="rect">
            <a:avLst/>
          </a:prstGeom>
          <a:noFill/>
          <a:ln/>
        </p:spPr>
        <p:txBody>
          <a:bodyPr wrap="square" lIns="0" tIns="0" rIns="0" bIns="0" rtlCol="0" anchor="ctr"/>
          <a:lstStyle/>
          <a:p>
            <a:pPr indent="0" marL="0">
              <a:buNone/>
            </a:pPr>
            <a:r>
              <a:rPr lang="en-US" sz="1400" b="1" dirty="0">
                <a:solidFill>
                  <a:srgbClr val="E26F39"/>
                </a:solidFill>
                <a:latin typeface="Arial" pitchFamily="34" charset="0"/>
                <a:ea typeface="Arial" pitchFamily="34" charset="-122"/>
                <a:cs typeface="Arial" pitchFamily="34" charset="-120"/>
              </a:rPr>
              <a:t>For the Weekend Wearers</a:t>
            </a:r>
            <a:endParaRPr lang="en-US" sz="1400" dirty="0"/>
          </a:p>
        </p:txBody>
      </p:sp>
      <p:sp>
        <p:nvSpPr>
          <p:cNvPr id="4" name="Shape 2"/>
          <p:cNvSpPr/>
          <p:nvPr/>
        </p:nvSpPr>
        <p:spPr>
          <a:xfrm>
            <a:off x="457200" y="1325880"/>
            <a:ext cx="3840480" cy="3246120"/>
          </a:xfrm>
          <a:prstGeom prst="roundRect">
            <a:avLst>
              <a:gd name="adj" fmla="val 2254"/>
            </a:avLst>
          </a:prstGeom>
          <a:solidFill>
            <a:srgbClr val="FBF3EC"/>
          </a:solidFill>
          <a:ln w="12700">
            <a:solidFill>
              <a:srgbClr val="EFE4DA"/>
            </a:solidFill>
            <a:prstDash val="solid"/>
          </a:ln>
        </p:spPr>
      </p:sp>
      <p:sp>
        <p:nvSpPr>
          <p:cNvPr id="5" name="Text 3"/>
          <p:cNvSpPr txBox="1"/>
          <p:nvPr/>
        </p:nvSpPr>
        <p:spPr>
          <a:xfrm>
            <a:off x="640080" y="1417320"/>
            <a:ext cx="3474720" cy="320040"/>
          </a:xfrm>
          <a:prstGeom prst="rect">
            <a:avLst/>
          </a:prstGeom>
          <a:noFill/>
          <a:ln/>
        </p:spPr>
        <p:txBody>
          <a:bodyPr wrap="square" lIns="0" tIns="0" rIns="0" bIns="0" rtlCol="0" anchor="ctr"/>
          <a:lstStyle/>
          <a:p>
            <a:pPr indent="0" marL="0">
              <a:buNone/>
            </a:pPr>
            <a:r>
              <a:rPr lang="en-US" sz="1300" b="1" dirty="0">
                <a:solidFill>
                  <a:srgbClr val="4C3629"/>
                </a:solidFill>
                <a:latin typeface="Arial" pitchFamily="34" charset="0"/>
                <a:ea typeface="Arial" pitchFamily="34" charset="-122"/>
                <a:cs typeface="Arial" pitchFamily="34" charset="-120"/>
              </a:rPr>
              <a:t>Features</a:t>
            </a:r>
            <a:endParaRPr lang="en-US" sz="1300" dirty="0"/>
          </a:p>
        </p:txBody>
      </p:sp>
      <p:sp>
        <p:nvSpPr>
          <p:cNvPr id="6" name="Text 4"/>
          <p:cNvSpPr txBox="1"/>
          <p:nvPr/>
        </p:nvSpPr>
        <p:spPr>
          <a:xfrm>
            <a:off x="640080" y="1828800"/>
            <a:ext cx="3474720" cy="18288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222222"/>
                </a:solidFill>
                <a:latin typeface="Arial" pitchFamily="34" charset="0"/>
                <a:ea typeface="Arial" pitchFamily="34" charset="-122"/>
                <a:cs typeface="Arial" pitchFamily="34" charset="-120"/>
              </a:rPr>
              <a:t>Deep clean  $3  (must)</a:t>
            </a:r>
            <a:endParaRPr lang="en-US" sz="1500" dirty="0"/>
          </a:p>
          <a:p>
            <a:pPr marL="342900" indent="-342900">
              <a:spcAft>
                <a:spcPts val="1000"/>
              </a:spcAft>
              <a:buSzPct val="100000"/>
              <a:buChar char="•"/>
            </a:pPr>
            <a:r>
              <a:rPr lang="en-US" sz="1500" dirty="0">
                <a:solidFill>
                  <a:srgbClr val="222222"/>
                </a:solidFill>
                <a:latin typeface="Arial" pitchFamily="34" charset="0"/>
                <a:ea typeface="Arial" pitchFamily="34" charset="-122"/>
                <a:cs typeface="Arial" pitchFamily="34" charset="-120"/>
              </a:rPr>
              <a:t>Sole whitening  $4  (must)</a:t>
            </a:r>
            <a:endParaRPr lang="en-US" sz="1500" dirty="0"/>
          </a:p>
          <a:p>
            <a:pPr marL="342900" indent="-342900">
              <a:spcAft>
                <a:spcPts val="1000"/>
              </a:spcAft>
              <a:buSzPct val="100000"/>
              <a:buChar char="•"/>
            </a:pPr>
            <a:r>
              <a:rPr lang="en-US" sz="1500" dirty="0">
                <a:solidFill>
                  <a:srgbClr val="222222"/>
                </a:solidFill>
                <a:latin typeface="Arial" pitchFamily="34" charset="0"/>
                <a:ea typeface="Arial" pitchFamily="34" charset="-122"/>
                <a:cs typeface="Arial" pitchFamily="34" charset="-120"/>
              </a:rPr>
              <a:t>Fresh laces  $2  (must)</a:t>
            </a:r>
            <a:endParaRPr lang="en-US" sz="1500" dirty="0"/>
          </a:p>
        </p:txBody>
      </p:sp>
      <p:sp>
        <p:nvSpPr>
          <p:cNvPr id="7" name="Text 5"/>
          <p:cNvSpPr txBox="1"/>
          <p:nvPr/>
        </p:nvSpPr>
        <p:spPr>
          <a:xfrm>
            <a:off x="640080" y="3840480"/>
            <a:ext cx="3566160" cy="548640"/>
          </a:xfrm>
          <a:prstGeom prst="rect">
            <a:avLst/>
          </a:prstGeom>
          <a:noFill/>
          <a:ln/>
        </p:spPr>
        <p:txBody>
          <a:bodyPr wrap="square" lIns="0" tIns="0" rIns="0" bIns="0" rtlCol="0" anchor="ctr"/>
          <a:lstStyle/>
          <a:p>
            <a:pPr indent="0" marL="0">
              <a:buNone/>
            </a:pPr>
            <a:r>
              <a:rPr lang="en-US" sz="1300" b="1" dirty="0">
                <a:solidFill>
                  <a:srgbClr val="4C3629"/>
                </a:solidFill>
                <a:latin typeface="Arial" pitchFamily="34" charset="0"/>
                <a:ea typeface="Arial" pitchFamily="34" charset="-122"/>
                <a:cs typeface="Arial" pitchFamily="34" charset="-120"/>
              </a:rPr>
              <a:t>Unit cost: $5 base + features = $14</a:t>
            </a:r>
            <a:endParaRPr lang="en-US" sz="13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0" y="1325880"/>
          <a:ext cx="4114800" cy="914400"/>
        </p:xfrm>
        <a:graphic>
          <a:graphicData uri="http://schemas.openxmlformats.org/drawingml/2006/table">
            <a:tbl>
              <a:tblPr/>
              <a:tblGrid>
                <a:gridCol w="777240"/>
                <a:gridCol w="731520"/>
                <a:gridCol w="685800"/>
                <a:gridCol w="822960"/>
                <a:gridCol w="1097280"/>
              </a:tblGrid>
              <a:tr h="411480">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Price</a:t>
                      </a:r>
                      <a:endParaRPr lang="en-US" sz="1300" dirty="0">
                        <a:latin typeface="Arial" charset="0"/>
                        <a:ea typeface="Arial" charset="0"/>
                        <a:cs typeface="Arial" charset="0"/>
                      </a:endParaRPr>
                    </a:p>
                  </a:txBody>
                  <a:tcPr marL="91440" marR="91440" marT="45720" marB="45720" anchor="ctr">
                    <a:lnL w="9525" cap="flat" cmpd="sng" algn="ctr">
                      <a:solidFill>
                        <a:srgbClr val="B9AFA8"/>
                      </a:solidFill>
                      <a:prstDash val="solid"/>
                      <a:round/>
                      <a:headEnd type="none" w="med" len="med"/>
                      <a:tailEnd type="none" w="med" len="med"/>
                    </a:lnL>
                    <a:lnR w="9525" cap="flat" cmpd="sng" algn="ctr">
                      <a:solidFill>
                        <a:srgbClr val="B9AFA8"/>
                      </a:solidFill>
                      <a:prstDash val="solid"/>
                      <a:round/>
                      <a:headEnd type="none" w="med" len="med"/>
                      <a:tailEnd type="none" w="med" len="med"/>
                    </a:lnR>
                    <a:lnT w="9525" cap="flat" cmpd="sng" algn="ctr">
                      <a:solidFill>
                        <a:srgbClr val="B9AFA8"/>
                      </a:solidFill>
                      <a:prstDash val="solid"/>
                      <a:round/>
                      <a:headEnd type="none" w="med" len="med"/>
                      <a:tailEnd type="none" w="med" len="med"/>
                    </a:lnT>
                    <a:lnB w="9525" cap="flat" cmpd="sng" algn="ctr">
                      <a:solidFill>
                        <a:srgbClr val="B9AFA8"/>
                      </a:solidFill>
                      <a:prstDash val="solid"/>
                      <a:round/>
                      <a:headEnd type="none" w="med" len="med"/>
                      <a:tailEnd type="none" w="med" len="med"/>
                    </a:lnB>
                    <a:solidFill>
                      <a:srgbClr val="4C3629"/>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 buy</a:t>
                      </a:r>
                      <a:endParaRPr lang="en-US" sz="1300" dirty="0">
                        <a:latin typeface="Arial" charset="0"/>
                        <a:ea typeface="Arial" charset="0"/>
                        <a:cs typeface="Arial" charset="0"/>
                      </a:endParaRPr>
                    </a:p>
                  </a:txBody>
                  <a:tcPr marL="91440" marR="91440" marT="45720" marB="45720" anchor="ctr">
                    <a:lnL w="9525" cap="flat" cmpd="sng" algn="ctr">
                      <a:solidFill>
                        <a:srgbClr val="B9AFA8"/>
                      </a:solidFill>
                      <a:prstDash val="solid"/>
                      <a:round/>
                      <a:headEnd type="none" w="med" len="med"/>
                      <a:tailEnd type="none" w="med" len="med"/>
                    </a:lnL>
                    <a:lnR w="9525" cap="flat" cmpd="sng" algn="ctr">
                      <a:solidFill>
                        <a:srgbClr val="B9AFA8"/>
                      </a:solidFill>
                      <a:prstDash val="solid"/>
                      <a:round/>
                      <a:headEnd type="none" w="med" len="med"/>
                      <a:tailEnd type="none" w="med" len="med"/>
                    </a:lnR>
                    <a:lnT w="9525" cap="flat" cmpd="sng" algn="ctr">
                      <a:solidFill>
                        <a:srgbClr val="B9AFA8"/>
                      </a:solidFill>
                      <a:prstDash val="solid"/>
                      <a:round/>
                      <a:headEnd type="none" w="med" len="med"/>
                      <a:tailEnd type="none" w="med" len="med"/>
                    </a:lnT>
                    <a:lnB w="9525" cap="flat" cmpd="sng" algn="ctr">
                      <a:solidFill>
                        <a:srgbClr val="B9AFA8"/>
                      </a:solidFill>
                      <a:prstDash val="solid"/>
                      <a:round/>
                      <a:headEnd type="none" w="med" len="med"/>
                      <a:tailEnd type="none" w="med" len="med"/>
                    </a:lnB>
                    <a:solidFill>
                      <a:srgbClr val="4C3629"/>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Fit</a:t>
                      </a:r>
                      <a:endParaRPr lang="en-US" sz="1300" dirty="0">
                        <a:latin typeface="Arial" charset="0"/>
                        <a:ea typeface="Arial" charset="0"/>
                        <a:cs typeface="Arial" charset="0"/>
                      </a:endParaRPr>
                    </a:p>
                  </a:txBody>
                  <a:tcPr marL="91440" marR="91440" marT="45720" marB="45720" anchor="ctr">
                    <a:lnL w="9525" cap="flat" cmpd="sng" algn="ctr">
                      <a:solidFill>
                        <a:srgbClr val="B9AFA8"/>
                      </a:solidFill>
                      <a:prstDash val="solid"/>
                      <a:round/>
                      <a:headEnd type="none" w="med" len="med"/>
                      <a:tailEnd type="none" w="med" len="med"/>
                    </a:lnL>
                    <a:lnR w="9525" cap="flat" cmpd="sng" algn="ctr">
                      <a:solidFill>
                        <a:srgbClr val="B9AFA8"/>
                      </a:solidFill>
                      <a:prstDash val="solid"/>
                      <a:round/>
                      <a:headEnd type="none" w="med" len="med"/>
                      <a:tailEnd type="none" w="med" len="med"/>
                    </a:lnR>
                    <a:lnT w="9525" cap="flat" cmpd="sng" algn="ctr">
                      <a:solidFill>
                        <a:srgbClr val="B9AFA8"/>
                      </a:solidFill>
                      <a:prstDash val="solid"/>
                      <a:round/>
                      <a:headEnd type="none" w="med" len="med"/>
                      <a:tailEnd type="none" w="med" len="med"/>
                    </a:lnT>
                    <a:lnB w="9525" cap="flat" cmpd="sng" algn="ctr">
                      <a:solidFill>
                        <a:srgbClr val="B9AFA8"/>
                      </a:solidFill>
                      <a:prstDash val="solid"/>
                      <a:round/>
                      <a:headEnd type="none" w="med" len="med"/>
                      <a:tailEnd type="none" w="med" len="med"/>
                    </a:lnB>
                    <a:solidFill>
                      <a:srgbClr val="4C3629"/>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Buyers</a:t>
                      </a:r>
                      <a:endParaRPr lang="en-US" sz="1300" dirty="0">
                        <a:latin typeface="Arial" charset="0"/>
                        <a:ea typeface="Arial" charset="0"/>
                        <a:cs typeface="Arial" charset="0"/>
                      </a:endParaRPr>
                    </a:p>
                  </a:txBody>
                  <a:tcPr marL="91440" marR="91440" marT="45720" marB="45720" anchor="ctr">
                    <a:lnL w="9525" cap="flat" cmpd="sng" algn="ctr">
                      <a:solidFill>
                        <a:srgbClr val="B9AFA8"/>
                      </a:solidFill>
                      <a:prstDash val="solid"/>
                      <a:round/>
                      <a:headEnd type="none" w="med" len="med"/>
                      <a:tailEnd type="none" w="med" len="med"/>
                    </a:lnL>
                    <a:lnR w="9525" cap="flat" cmpd="sng" algn="ctr">
                      <a:solidFill>
                        <a:srgbClr val="B9AFA8"/>
                      </a:solidFill>
                      <a:prstDash val="solid"/>
                      <a:round/>
                      <a:headEnd type="none" w="med" len="med"/>
                      <a:tailEnd type="none" w="med" len="med"/>
                    </a:lnR>
                    <a:lnT w="9525" cap="flat" cmpd="sng" algn="ctr">
                      <a:solidFill>
                        <a:srgbClr val="B9AFA8"/>
                      </a:solidFill>
                      <a:prstDash val="solid"/>
                      <a:round/>
                      <a:headEnd type="none" w="med" len="med"/>
                      <a:tailEnd type="none" w="med" len="med"/>
                    </a:lnT>
                    <a:lnB w="9525" cap="flat" cmpd="sng" algn="ctr">
                      <a:solidFill>
                        <a:srgbClr val="B9AFA8"/>
                      </a:solidFill>
                      <a:prstDash val="solid"/>
                      <a:round/>
                      <a:headEnd type="none" w="med" len="med"/>
                      <a:tailEnd type="none" w="med" len="med"/>
                    </a:lnB>
                    <a:solidFill>
                      <a:srgbClr val="4C3629"/>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Profit</a:t>
                      </a:r>
                      <a:endParaRPr lang="en-US" sz="1300" dirty="0">
                        <a:latin typeface="Arial" charset="0"/>
                        <a:ea typeface="Arial" charset="0"/>
                        <a:cs typeface="Arial" charset="0"/>
                      </a:endParaRPr>
                    </a:p>
                  </a:txBody>
                  <a:tcPr marL="91440" marR="91440" marT="45720" marB="45720" anchor="ctr">
                    <a:lnL w="9525" cap="flat" cmpd="sng" algn="ctr">
                      <a:solidFill>
                        <a:srgbClr val="B9AFA8"/>
                      </a:solidFill>
                      <a:prstDash val="solid"/>
                      <a:round/>
                      <a:headEnd type="none" w="med" len="med"/>
                      <a:tailEnd type="none" w="med" len="med"/>
                    </a:lnL>
                    <a:lnR w="9525" cap="flat" cmpd="sng" algn="ctr">
                      <a:solidFill>
                        <a:srgbClr val="B9AFA8"/>
                      </a:solidFill>
                      <a:prstDash val="solid"/>
                      <a:round/>
                      <a:headEnd type="none" w="med" len="med"/>
                      <a:tailEnd type="none" w="med" len="med"/>
                    </a:lnR>
                    <a:lnT w="9525" cap="flat" cmpd="sng" algn="ctr">
                      <a:solidFill>
                        <a:srgbClr val="B9AFA8"/>
                      </a:solidFill>
                      <a:prstDash val="solid"/>
                      <a:round/>
                      <a:headEnd type="none" w="med" len="med"/>
                      <a:tailEnd type="none" w="med" len="med"/>
                    </a:lnT>
                    <a:lnB w="9525" cap="flat" cmpd="sng" algn="ctr">
                      <a:solidFill>
                        <a:srgbClr val="B9AFA8"/>
                      </a:solidFill>
                      <a:prstDash val="solid"/>
                      <a:round/>
                      <a:headEnd type="none" w="med" len="med"/>
                      <a:tailEnd type="none" w="med" len="med"/>
                    </a:lnB>
                    <a:solidFill>
                      <a:srgbClr val="4C3629"/>
                    </a:solidFill>
                  </a:tcPr>
                </a:tc>
              </a:tr>
              <a:tr h="411480">
                <a:tc>
                  <a:txBody>
                    <a:bodyPr/>
                    <a:lstStyle/>
                    <a:p>
                      <a:pPr algn="ctr" indent="0" marL="0">
                        <a:buNone/>
                      </a:pPr>
                      <a:r>
                        <a:rPr lang="en-US" sz="1300" dirty="0">
                          <a:solidFill>
                            <a:srgbClr val="222222"/>
                          </a:solidFill>
                          <a:latin typeface="Arial" pitchFamily="34" charset="0"/>
                          <a:ea typeface="Arial" pitchFamily="34" charset="-122"/>
                          <a:cs typeface="Arial" pitchFamily="34" charset="-120"/>
                        </a:rPr>
                        <a:t>$20</a:t>
                      </a:r>
                      <a:endParaRPr lang="en-US" sz="1300" dirty="0">
                        <a:latin typeface="Arial" charset="0"/>
                        <a:ea typeface="Arial" charset="0"/>
                        <a:cs typeface="Arial" charset="0"/>
                      </a:endParaRPr>
                    </a:p>
                  </a:txBody>
                  <a:tcPr marL="91440" marR="91440" marT="45720" marB="45720" anchor="ctr">
                    <a:lnL w="9525" cap="flat" cmpd="sng" algn="ctr">
                      <a:solidFill>
                        <a:srgbClr val="B9AFA8"/>
                      </a:solidFill>
                      <a:prstDash val="solid"/>
                      <a:round/>
                      <a:headEnd type="none" w="med" len="med"/>
                      <a:tailEnd type="none" w="med" len="med"/>
                    </a:lnL>
                    <a:lnR w="9525" cap="flat" cmpd="sng" algn="ctr">
                      <a:solidFill>
                        <a:srgbClr val="B9AFA8"/>
                      </a:solidFill>
                      <a:prstDash val="solid"/>
                      <a:round/>
                      <a:headEnd type="none" w="med" len="med"/>
                      <a:tailEnd type="none" w="med" len="med"/>
                    </a:lnR>
                    <a:lnT w="9525" cap="flat" cmpd="sng" algn="ctr">
                      <a:solidFill>
                        <a:srgbClr val="B9AFA8"/>
                      </a:solidFill>
                      <a:prstDash val="solid"/>
                      <a:round/>
                      <a:headEnd type="none" w="med" len="med"/>
                      <a:tailEnd type="none" w="med" len="med"/>
                    </a:lnT>
                    <a:lnB w="9525" cap="flat" cmpd="sng" algn="ctr">
                      <a:solidFill>
                        <a:srgbClr val="B9AFA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latin typeface="Arial" pitchFamily="34" charset="0"/>
                          <a:ea typeface="Arial" pitchFamily="34" charset="-122"/>
                          <a:cs typeface="Arial" pitchFamily="34" charset="-120"/>
                        </a:rPr>
                        <a:t>79%</a:t>
                      </a:r>
                      <a:endParaRPr lang="en-US" sz="1300" dirty="0">
                        <a:latin typeface="Arial" charset="0"/>
                        <a:ea typeface="Arial" charset="0"/>
                        <a:cs typeface="Arial" charset="0"/>
                      </a:endParaRPr>
                    </a:p>
                  </a:txBody>
                  <a:tcPr marL="91440" marR="91440" marT="45720" marB="45720" anchor="ctr">
                    <a:lnL w="9525" cap="flat" cmpd="sng" algn="ctr">
                      <a:solidFill>
                        <a:srgbClr val="B9AFA8"/>
                      </a:solidFill>
                      <a:prstDash val="solid"/>
                      <a:round/>
                      <a:headEnd type="none" w="med" len="med"/>
                      <a:tailEnd type="none" w="med" len="med"/>
                    </a:lnL>
                    <a:lnR w="9525" cap="flat" cmpd="sng" algn="ctr">
                      <a:solidFill>
                        <a:srgbClr val="B9AFA8"/>
                      </a:solidFill>
                      <a:prstDash val="solid"/>
                      <a:round/>
                      <a:headEnd type="none" w="med" len="med"/>
                      <a:tailEnd type="none" w="med" len="med"/>
                    </a:lnR>
                    <a:lnT w="9525" cap="flat" cmpd="sng" algn="ctr">
                      <a:solidFill>
                        <a:srgbClr val="B9AFA8"/>
                      </a:solidFill>
                      <a:prstDash val="solid"/>
                      <a:round/>
                      <a:headEnd type="none" w="med" len="med"/>
                      <a:tailEnd type="none" w="med" len="med"/>
                    </a:lnT>
                    <a:lnB w="9525" cap="flat" cmpd="sng" algn="ctr">
                      <a:solidFill>
                        <a:srgbClr val="B9AFA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latin typeface="Arial" pitchFamily="34" charset="0"/>
                          <a:ea typeface="Arial" pitchFamily="34" charset="-122"/>
                          <a:cs typeface="Arial" pitchFamily="34" charset="-120"/>
                        </a:rPr>
                        <a:t>100%</a:t>
                      </a:r>
                      <a:endParaRPr lang="en-US" sz="1300" dirty="0">
                        <a:latin typeface="Arial" charset="0"/>
                        <a:ea typeface="Arial" charset="0"/>
                        <a:cs typeface="Arial" charset="0"/>
                      </a:endParaRPr>
                    </a:p>
                  </a:txBody>
                  <a:tcPr marL="91440" marR="91440" marT="45720" marB="45720" anchor="ctr">
                    <a:lnL w="9525" cap="flat" cmpd="sng" algn="ctr">
                      <a:solidFill>
                        <a:srgbClr val="B9AFA8"/>
                      </a:solidFill>
                      <a:prstDash val="solid"/>
                      <a:round/>
                      <a:headEnd type="none" w="med" len="med"/>
                      <a:tailEnd type="none" w="med" len="med"/>
                    </a:lnL>
                    <a:lnR w="9525" cap="flat" cmpd="sng" algn="ctr">
                      <a:solidFill>
                        <a:srgbClr val="B9AFA8"/>
                      </a:solidFill>
                      <a:prstDash val="solid"/>
                      <a:round/>
                      <a:headEnd type="none" w="med" len="med"/>
                      <a:tailEnd type="none" w="med" len="med"/>
                    </a:lnR>
                    <a:lnT w="9525" cap="flat" cmpd="sng" algn="ctr">
                      <a:solidFill>
                        <a:srgbClr val="B9AFA8"/>
                      </a:solidFill>
                      <a:prstDash val="solid"/>
                      <a:round/>
                      <a:headEnd type="none" w="med" len="med"/>
                      <a:tailEnd type="none" w="med" len="med"/>
                    </a:lnT>
                    <a:lnB w="9525" cap="flat" cmpd="sng" algn="ctr">
                      <a:solidFill>
                        <a:srgbClr val="B9AFA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latin typeface="Arial" pitchFamily="34" charset="0"/>
                          <a:ea typeface="Arial" pitchFamily="34" charset="-122"/>
                          <a:cs typeface="Arial" pitchFamily="34" charset="-120"/>
                        </a:rPr>
                        <a:t>474</a:t>
                      </a:r>
                      <a:endParaRPr lang="en-US" sz="1300" dirty="0">
                        <a:latin typeface="Arial" charset="0"/>
                        <a:ea typeface="Arial" charset="0"/>
                        <a:cs typeface="Arial" charset="0"/>
                      </a:endParaRPr>
                    </a:p>
                  </a:txBody>
                  <a:tcPr marL="91440" marR="91440" marT="45720" marB="45720" anchor="ctr">
                    <a:lnL w="9525" cap="flat" cmpd="sng" algn="ctr">
                      <a:solidFill>
                        <a:srgbClr val="B9AFA8"/>
                      </a:solidFill>
                      <a:prstDash val="solid"/>
                      <a:round/>
                      <a:headEnd type="none" w="med" len="med"/>
                      <a:tailEnd type="none" w="med" len="med"/>
                    </a:lnL>
                    <a:lnR w="9525" cap="flat" cmpd="sng" algn="ctr">
                      <a:solidFill>
                        <a:srgbClr val="B9AFA8"/>
                      </a:solidFill>
                      <a:prstDash val="solid"/>
                      <a:round/>
                      <a:headEnd type="none" w="med" len="med"/>
                      <a:tailEnd type="none" w="med" len="med"/>
                    </a:lnR>
                    <a:lnT w="9525" cap="flat" cmpd="sng" algn="ctr">
                      <a:solidFill>
                        <a:srgbClr val="B9AFA8"/>
                      </a:solidFill>
                      <a:prstDash val="solid"/>
                      <a:round/>
                      <a:headEnd type="none" w="med" len="med"/>
                      <a:tailEnd type="none" w="med" len="med"/>
                    </a:lnT>
                    <a:lnB w="9525" cap="flat" cmpd="sng" algn="ctr">
                      <a:solidFill>
                        <a:srgbClr val="B9AFA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latin typeface="Arial" pitchFamily="34" charset="0"/>
                          <a:ea typeface="Arial" pitchFamily="34" charset="-122"/>
                          <a:cs typeface="Arial" pitchFamily="34" charset="-120"/>
                        </a:rPr>
                        <a:t>$2,844</a:t>
                      </a:r>
                      <a:endParaRPr lang="en-US" sz="1300" dirty="0">
                        <a:latin typeface="Arial" charset="0"/>
                        <a:ea typeface="Arial" charset="0"/>
                        <a:cs typeface="Arial" charset="0"/>
                      </a:endParaRPr>
                    </a:p>
                  </a:txBody>
                  <a:tcPr marL="91440" marR="91440" marT="45720" marB="45720" anchor="ctr">
                    <a:lnL w="9525" cap="flat" cmpd="sng" algn="ctr">
                      <a:solidFill>
                        <a:srgbClr val="B9AFA8"/>
                      </a:solidFill>
                      <a:prstDash val="solid"/>
                      <a:round/>
                      <a:headEnd type="none" w="med" len="med"/>
                      <a:tailEnd type="none" w="med" len="med"/>
                    </a:lnL>
                    <a:lnR w="9525" cap="flat" cmpd="sng" algn="ctr">
                      <a:solidFill>
                        <a:srgbClr val="B9AFA8"/>
                      </a:solidFill>
                      <a:prstDash val="solid"/>
                      <a:round/>
                      <a:headEnd type="none" w="med" len="med"/>
                      <a:tailEnd type="none" w="med" len="med"/>
                    </a:lnR>
                    <a:lnT w="9525" cap="flat" cmpd="sng" algn="ctr">
                      <a:solidFill>
                        <a:srgbClr val="B9AFA8"/>
                      </a:solidFill>
                      <a:prstDash val="solid"/>
                      <a:round/>
                      <a:headEnd type="none" w="med" len="med"/>
                      <a:tailEnd type="none" w="med" len="med"/>
                    </a:lnT>
                    <a:lnB w="9525" cap="flat" cmpd="sng" algn="ctr">
                      <a:solidFill>
                        <a:srgbClr val="B9AFA8"/>
                      </a:solidFill>
                      <a:prstDash val="solid"/>
                      <a:round/>
                      <a:headEnd type="none" w="med" len="med"/>
                      <a:tailEnd type="none" w="med" len="med"/>
                    </a:lnB>
                    <a:solidFill>
                      <a:srgbClr val="FFFFFF"/>
                    </a:solidFill>
                  </a:tcPr>
                </a:tc>
              </a:tr>
              <a:tr h="411480">
                <a:tc>
                  <a:txBody>
                    <a:bodyPr/>
                    <a:lstStyle/>
                    <a:p>
                      <a:pPr algn="ctr" indent="0" marL="0">
                        <a:buNone/>
                      </a:pPr>
                      <a:r>
                        <a:rPr lang="en-US" sz="1300" b="1" dirty="0">
                          <a:solidFill>
                            <a:srgbClr val="222222"/>
                          </a:solidFill>
                          <a:latin typeface="Arial" pitchFamily="34" charset="0"/>
                          <a:ea typeface="Arial" pitchFamily="34" charset="-122"/>
                          <a:cs typeface="Arial" pitchFamily="34" charset="-120"/>
                        </a:rPr>
                        <a:t>$30</a:t>
                      </a:r>
                      <a:endParaRPr lang="en-US" sz="1300" dirty="0">
                        <a:latin typeface="Arial" charset="0"/>
                        <a:ea typeface="Arial" charset="0"/>
                        <a:cs typeface="Arial" charset="0"/>
                      </a:endParaRPr>
                    </a:p>
                  </a:txBody>
                  <a:tcPr marL="91440" marR="91440" marT="45720" marB="45720" anchor="ctr">
                    <a:lnL w="9525" cap="flat" cmpd="sng" algn="ctr">
                      <a:solidFill>
                        <a:srgbClr val="B9AFA8"/>
                      </a:solidFill>
                      <a:prstDash val="solid"/>
                      <a:round/>
                      <a:headEnd type="none" w="med" len="med"/>
                      <a:tailEnd type="none" w="med" len="med"/>
                    </a:lnL>
                    <a:lnR w="9525" cap="flat" cmpd="sng" algn="ctr">
                      <a:solidFill>
                        <a:srgbClr val="B9AFA8"/>
                      </a:solidFill>
                      <a:prstDash val="solid"/>
                      <a:round/>
                      <a:headEnd type="none" w="med" len="med"/>
                      <a:tailEnd type="none" w="med" len="med"/>
                    </a:lnR>
                    <a:lnT w="9525" cap="flat" cmpd="sng" algn="ctr">
                      <a:solidFill>
                        <a:srgbClr val="B9AFA8"/>
                      </a:solidFill>
                      <a:prstDash val="solid"/>
                      <a:round/>
                      <a:headEnd type="none" w="med" len="med"/>
                      <a:tailEnd type="none" w="med" len="med"/>
                    </a:lnT>
                    <a:lnB w="9525" cap="flat" cmpd="sng" algn="ctr">
                      <a:solidFill>
                        <a:srgbClr val="B9AFA8"/>
                      </a:solidFill>
                      <a:prstDash val="solid"/>
                      <a:round/>
                      <a:headEnd type="none" w="med" len="med"/>
                      <a:tailEnd type="none" w="med" len="med"/>
                    </a:lnB>
                    <a:solidFill>
                      <a:srgbClr val="F2955F"/>
                    </a:solidFill>
                  </a:tcPr>
                </a:tc>
                <a:tc>
                  <a:txBody>
                    <a:bodyPr/>
                    <a:lstStyle/>
                    <a:p>
                      <a:pPr algn="ctr" indent="0" marL="0">
                        <a:buNone/>
                      </a:pPr>
                      <a:r>
                        <a:rPr lang="en-US" sz="1300" b="1" dirty="0">
                          <a:solidFill>
                            <a:srgbClr val="222222"/>
                          </a:solidFill>
                          <a:latin typeface="Arial" pitchFamily="34" charset="0"/>
                          <a:ea typeface="Arial" pitchFamily="34" charset="-122"/>
                          <a:cs typeface="Arial" pitchFamily="34" charset="-120"/>
                        </a:rPr>
                        <a:t>61%</a:t>
                      </a:r>
                      <a:endParaRPr lang="en-US" sz="1300" dirty="0">
                        <a:latin typeface="Arial" charset="0"/>
                        <a:ea typeface="Arial" charset="0"/>
                        <a:cs typeface="Arial" charset="0"/>
                      </a:endParaRPr>
                    </a:p>
                  </a:txBody>
                  <a:tcPr marL="91440" marR="91440" marT="45720" marB="45720" anchor="ctr">
                    <a:lnL w="9525" cap="flat" cmpd="sng" algn="ctr">
                      <a:solidFill>
                        <a:srgbClr val="B9AFA8"/>
                      </a:solidFill>
                      <a:prstDash val="solid"/>
                      <a:round/>
                      <a:headEnd type="none" w="med" len="med"/>
                      <a:tailEnd type="none" w="med" len="med"/>
                    </a:lnL>
                    <a:lnR w="9525" cap="flat" cmpd="sng" algn="ctr">
                      <a:solidFill>
                        <a:srgbClr val="B9AFA8"/>
                      </a:solidFill>
                      <a:prstDash val="solid"/>
                      <a:round/>
                      <a:headEnd type="none" w="med" len="med"/>
                      <a:tailEnd type="none" w="med" len="med"/>
                    </a:lnR>
                    <a:lnT w="9525" cap="flat" cmpd="sng" algn="ctr">
                      <a:solidFill>
                        <a:srgbClr val="B9AFA8"/>
                      </a:solidFill>
                      <a:prstDash val="solid"/>
                      <a:round/>
                      <a:headEnd type="none" w="med" len="med"/>
                      <a:tailEnd type="none" w="med" len="med"/>
                    </a:lnT>
                    <a:lnB w="9525" cap="flat" cmpd="sng" algn="ctr">
                      <a:solidFill>
                        <a:srgbClr val="B9AFA8"/>
                      </a:solidFill>
                      <a:prstDash val="solid"/>
                      <a:round/>
                      <a:headEnd type="none" w="med" len="med"/>
                      <a:tailEnd type="none" w="med" len="med"/>
                    </a:lnB>
                    <a:solidFill>
                      <a:srgbClr val="F2955F"/>
                    </a:solidFill>
                  </a:tcPr>
                </a:tc>
                <a:tc>
                  <a:txBody>
                    <a:bodyPr/>
                    <a:lstStyle/>
                    <a:p>
                      <a:pPr algn="ctr" indent="0" marL="0">
                        <a:buNone/>
                      </a:pPr>
                      <a:r>
                        <a:rPr lang="en-US" sz="1300" b="1" dirty="0">
                          <a:solidFill>
                            <a:srgbClr val="222222"/>
                          </a:solidFill>
                          <a:latin typeface="Arial" pitchFamily="34" charset="0"/>
                          <a:ea typeface="Arial" pitchFamily="34" charset="-122"/>
                          <a:cs typeface="Arial" pitchFamily="34" charset="-120"/>
                        </a:rPr>
                        <a:t>100%</a:t>
                      </a:r>
                      <a:endParaRPr lang="en-US" sz="1300" dirty="0">
                        <a:latin typeface="Arial" charset="0"/>
                        <a:ea typeface="Arial" charset="0"/>
                        <a:cs typeface="Arial" charset="0"/>
                      </a:endParaRPr>
                    </a:p>
                  </a:txBody>
                  <a:tcPr marL="91440" marR="91440" marT="45720" marB="45720" anchor="ctr">
                    <a:lnL w="9525" cap="flat" cmpd="sng" algn="ctr">
                      <a:solidFill>
                        <a:srgbClr val="B9AFA8"/>
                      </a:solidFill>
                      <a:prstDash val="solid"/>
                      <a:round/>
                      <a:headEnd type="none" w="med" len="med"/>
                      <a:tailEnd type="none" w="med" len="med"/>
                    </a:lnL>
                    <a:lnR w="9525" cap="flat" cmpd="sng" algn="ctr">
                      <a:solidFill>
                        <a:srgbClr val="B9AFA8"/>
                      </a:solidFill>
                      <a:prstDash val="solid"/>
                      <a:round/>
                      <a:headEnd type="none" w="med" len="med"/>
                      <a:tailEnd type="none" w="med" len="med"/>
                    </a:lnR>
                    <a:lnT w="9525" cap="flat" cmpd="sng" algn="ctr">
                      <a:solidFill>
                        <a:srgbClr val="B9AFA8"/>
                      </a:solidFill>
                      <a:prstDash val="solid"/>
                      <a:round/>
                      <a:headEnd type="none" w="med" len="med"/>
                      <a:tailEnd type="none" w="med" len="med"/>
                    </a:lnT>
                    <a:lnB w="9525" cap="flat" cmpd="sng" algn="ctr">
                      <a:solidFill>
                        <a:srgbClr val="B9AFA8"/>
                      </a:solidFill>
                      <a:prstDash val="solid"/>
                      <a:round/>
                      <a:headEnd type="none" w="med" len="med"/>
                      <a:tailEnd type="none" w="med" len="med"/>
                    </a:lnB>
                    <a:solidFill>
                      <a:srgbClr val="F2955F"/>
                    </a:solidFill>
                  </a:tcPr>
                </a:tc>
                <a:tc>
                  <a:txBody>
                    <a:bodyPr/>
                    <a:lstStyle/>
                    <a:p>
                      <a:pPr algn="ctr" indent="0" marL="0">
                        <a:buNone/>
                      </a:pPr>
                      <a:r>
                        <a:rPr lang="en-US" sz="1300" b="1" dirty="0">
                          <a:solidFill>
                            <a:srgbClr val="222222"/>
                          </a:solidFill>
                          <a:latin typeface="Arial" pitchFamily="34" charset="0"/>
                          <a:ea typeface="Arial" pitchFamily="34" charset="-122"/>
                          <a:cs typeface="Arial" pitchFamily="34" charset="-120"/>
                        </a:rPr>
                        <a:t>366</a:t>
                      </a:r>
                      <a:endParaRPr lang="en-US" sz="1300" dirty="0">
                        <a:latin typeface="Arial" charset="0"/>
                        <a:ea typeface="Arial" charset="0"/>
                        <a:cs typeface="Arial" charset="0"/>
                      </a:endParaRPr>
                    </a:p>
                  </a:txBody>
                  <a:tcPr marL="91440" marR="91440" marT="45720" marB="45720" anchor="ctr">
                    <a:lnL w="9525" cap="flat" cmpd="sng" algn="ctr">
                      <a:solidFill>
                        <a:srgbClr val="B9AFA8"/>
                      </a:solidFill>
                      <a:prstDash val="solid"/>
                      <a:round/>
                      <a:headEnd type="none" w="med" len="med"/>
                      <a:tailEnd type="none" w="med" len="med"/>
                    </a:lnL>
                    <a:lnR w="9525" cap="flat" cmpd="sng" algn="ctr">
                      <a:solidFill>
                        <a:srgbClr val="B9AFA8"/>
                      </a:solidFill>
                      <a:prstDash val="solid"/>
                      <a:round/>
                      <a:headEnd type="none" w="med" len="med"/>
                      <a:tailEnd type="none" w="med" len="med"/>
                    </a:lnR>
                    <a:lnT w="9525" cap="flat" cmpd="sng" algn="ctr">
                      <a:solidFill>
                        <a:srgbClr val="B9AFA8"/>
                      </a:solidFill>
                      <a:prstDash val="solid"/>
                      <a:round/>
                      <a:headEnd type="none" w="med" len="med"/>
                      <a:tailEnd type="none" w="med" len="med"/>
                    </a:lnT>
                    <a:lnB w="9525" cap="flat" cmpd="sng" algn="ctr">
                      <a:solidFill>
                        <a:srgbClr val="B9AFA8"/>
                      </a:solidFill>
                      <a:prstDash val="solid"/>
                      <a:round/>
                      <a:headEnd type="none" w="med" len="med"/>
                      <a:tailEnd type="none" w="med" len="med"/>
                    </a:lnB>
                    <a:solidFill>
                      <a:srgbClr val="F2955F"/>
                    </a:solidFill>
                  </a:tcPr>
                </a:tc>
                <a:tc>
                  <a:txBody>
                    <a:bodyPr/>
                    <a:lstStyle/>
                    <a:p>
                      <a:pPr algn="ctr" indent="0" marL="0">
                        <a:buNone/>
                      </a:pPr>
                      <a:r>
                        <a:rPr lang="en-US" sz="1300" b="1" dirty="0">
                          <a:solidFill>
                            <a:srgbClr val="222222"/>
                          </a:solidFill>
                          <a:latin typeface="Arial" pitchFamily="34" charset="0"/>
                          <a:ea typeface="Arial" pitchFamily="34" charset="-122"/>
                          <a:cs typeface="Arial" pitchFamily="34" charset="-120"/>
                        </a:rPr>
                        <a:t>$5,856</a:t>
                      </a:r>
                      <a:endParaRPr lang="en-US" sz="1300" dirty="0">
                        <a:latin typeface="Arial" charset="0"/>
                        <a:ea typeface="Arial" charset="0"/>
                        <a:cs typeface="Arial" charset="0"/>
                      </a:endParaRPr>
                    </a:p>
                  </a:txBody>
                  <a:tcPr marL="91440" marR="91440" marT="45720" marB="45720" anchor="ctr">
                    <a:lnL w="9525" cap="flat" cmpd="sng" algn="ctr">
                      <a:solidFill>
                        <a:srgbClr val="B9AFA8"/>
                      </a:solidFill>
                      <a:prstDash val="solid"/>
                      <a:round/>
                      <a:headEnd type="none" w="med" len="med"/>
                      <a:tailEnd type="none" w="med" len="med"/>
                    </a:lnL>
                    <a:lnR w="9525" cap="flat" cmpd="sng" algn="ctr">
                      <a:solidFill>
                        <a:srgbClr val="B9AFA8"/>
                      </a:solidFill>
                      <a:prstDash val="solid"/>
                      <a:round/>
                      <a:headEnd type="none" w="med" len="med"/>
                      <a:tailEnd type="none" w="med" len="med"/>
                    </a:lnR>
                    <a:lnT w="9525" cap="flat" cmpd="sng" algn="ctr">
                      <a:solidFill>
                        <a:srgbClr val="B9AFA8"/>
                      </a:solidFill>
                      <a:prstDash val="solid"/>
                      <a:round/>
                      <a:headEnd type="none" w="med" len="med"/>
                      <a:tailEnd type="none" w="med" len="med"/>
                    </a:lnT>
                    <a:lnB w="9525" cap="flat" cmpd="sng" algn="ctr">
                      <a:solidFill>
                        <a:srgbClr val="B9AFA8"/>
                      </a:solidFill>
                      <a:prstDash val="solid"/>
                      <a:round/>
                      <a:headEnd type="none" w="med" len="med"/>
                      <a:tailEnd type="none" w="med" len="med"/>
                    </a:lnB>
                    <a:solidFill>
                      <a:srgbClr val="F2955F"/>
                    </a:solidFill>
                  </a:tcPr>
                </a:tc>
              </a:tr>
              <a:tr h="411480">
                <a:tc>
                  <a:txBody>
                    <a:bodyPr/>
                    <a:lstStyle/>
                    <a:p>
                      <a:pPr algn="ctr" indent="0" marL="0">
                        <a:buNone/>
                      </a:pPr>
                      <a:r>
                        <a:rPr lang="en-US" sz="1300" dirty="0">
                          <a:solidFill>
                            <a:srgbClr val="222222"/>
                          </a:solidFill>
                          <a:latin typeface="Arial" pitchFamily="34" charset="0"/>
                          <a:ea typeface="Arial" pitchFamily="34" charset="-122"/>
                          <a:cs typeface="Arial" pitchFamily="34" charset="-120"/>
                        </a:rPr>
                        <a:t>$45</a:t>
                      </a:r>
                      <a:endParaRPr lang="en-US" sz="1300" dirty="0">
                        <a:latin typeface="Arial" charset="0"/>
                        <a:ea typeface="Arial" charset="0"/>
                        <a:cs typeface="Arial" charset="0"/>
                      </a:endParaRPr>
                    </a:p>
                  </a:txBody>
                  <a:tcPr marL="91440" marR="91440" marT="45720" marB="45720" anchor="ctr">
                    <a:lnL w="9525" cap="flat" cmpd="sng" algn="ctr">
                      <a:solidFill>
                        <a:srgbClr val="B9AFA8"/>
                      </a:solidFill>
                      <a:prstDash val="solid"/>
                      <a:round/>
                      <a:headEnd type="none" w="med" len="med"/>
                      <a:tailEnd type="none" w="med" len="med"/>
                    </a:lnL>
                    <a:lnR w="9525" cap="flat" cmpd="sng" algn="ctr">
                      <a:solidFill>
                        <a:srgbClr val="B9AFA8"/>
                      </a:solidFill>
                      <a:prstDash val="solid"/>
                      <a:round/>
                      <a:headEnd type="none" w="med" len="med"/>
                      <a:tailEnd type="none" w="med" len="med"/>
                    </a:lnR>
                    <a:lnT w="9525" cap="flat" cmpd="sng" algn="ctr">
                      <a:solidFill>
                        <a:srgbClr val="B9AFA8"/>
                      </a:solidFill>
                      <a:prstDash val="solid"/>
                      <a:round/>
                      <a:headEnd type="none" w="med" len="med"/>
                      <a:tailEnd type="none" w="med" len="med"/>
                    </a:lnT>
                    <a:lnB w="9525" cap="flat" cmpd="sng" algn="ctr">
                      <a:solidFill>
                        <a:srgbClr val="B9AFA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latin typeface="Arial" pitchFamily="34" charset="0"/>
                          <a:ea typeface="Arial" pitchFamily="34" charset="-122"/>
                          <a:cs typeface="Arial" pitchFamily="34" charset="-120"/>
                        </a:rPr>
                        <a:t>25%</a:t>
                      </a:r>
                      <a:endParaRPr lang="en-US" sz="1300" dirty="0">
                        <a:latin typeface="Arial" charset="0"/>
                        <a:ea typeface="Arial" charset="0"/>
                        <a:cs typeface="Arial" charset="0"/>
                      </a:endParaRPr>
                    </a:p>
                  </a:txBody>
                  <a:tcPr marL="91440" marR="91440" marT="45720" marB="45720" anchor="ctr">
                    <a:lnL w="9525" cap="flat" cmpd="sng" algn="ctr">
                      <a:solidFill>
                        <a:srgbClr val="B9AFA8"/>
                      </a:solidFill>
                      <a:prstDash val="solid"/>
                      <a:round/>
                      <a:headEnd type="none" w="med" len="med"/>
                      <a:tailEnd type="none" w="med" len="med"/>
                    </a:lnL>
                    <a:lnR w="9525" cap="flat" cmpd="sng" algn="ctr">
                      <a:solidFill>
                        <a:srgbClr val="B9AFA8"/>
                      </a:solidFill>
                      <a:prstDash val="solid"/>
                      <a:round/>
                      <a:headEnd type="none" w="med" len="med"/>
                      <a:tailEnd type="none" w="med" len="med"/>
                    </a:lnR>
                    <a:lnT w="9525" cap="flat" cmpd="sng" algn="ctr">
                      <a:solidFill>
                        <a:srgbClr val="B9AFA8"/>
                      </a:solidFill>
                      <a:prstDash val="solid"/>
                      <a:round/>
                      <a:headEnd type="none" w="med" len="med"/>
                      <a:tailEnd type="none" w="med" len="med"/>
                    </a:lnT>
                    <a:lnB w="9525" cap="flat" cmpd="sng" algn="ctr">
                      <a:solidFill>
                        <a:srgbClr val="B9AFA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latin typeface="Arial" pitchFamily="34" charset="0"/>
                          <a:ea typeface="Arial" pitchFamily="34" charset="-122"/>
                          <a:cs typeface="Arial" pitchFamily="34" charset="-120"/>
                        </a:rPr>
                        <a:t>100%</a:t>
                      </a:r>
                      <a:endParaRPr lang="en-US" sz="1300" dirty="0">
                        <a:latin typeface="Arial" charset="0"/>
                        <a:ea typeface="Arial" charset="0"/>
                        <a:cs typeface="Arial" charset="0"/>
                      </a:endParaRPr>
                    </a:p>
                  </a:txBody>
                  <a:tcPr marL="91440" marR="91440" marT="45720" marB="45720" anchor="ctr">
                    <a:lnL w="9525" cap="flat" cmpd="sng" algn="ctr">
                      <a:solidFill>
                        <a:srgbClr val="B9AFA8"/>
                      </a:solidFill>
                      <a:prstDash val="solid"/>
                      <a:round/>
                      <a:headEnd type="none" w="med" len="med"/>
                      <a:tailEnd type="none" w="med" len="med"/>
                    </a:lnL>
                    <a:lnR w="9525" cap="flat" cmpd="sng" algn="ctr">
                      <a:solidFill>
                        <a:srgbClr val="B9AFA8"/>
                      </a:solidFill>
                      <a:prstDash val="solid"/>
                      <a:round/>
                      <a:headEnd type="none" w="med" len="med"/>
                      <a:tailEnd type="none" w="med" len="med"/>
                    </a:lnR>
                    <a:lnT w="9525" cap="flat" cmpd="sng" algn="ctr">
                      <a:solidFill>
                        <a:srgbClr val="B9AFA8"/>
                      </a:solidFill>
                      <a:prstDash val="solid"/>
                      <a:round/>
                      <a:headEnd type="none" w="med" len="med"/>
                      <a:tailEnd type="none" w="med" len="med"/>
                    </a:lnT>
                    <a:lnB w="9525" cap="flat" cmpd="sng" algn="ctr">
                      <a:solidFill>
                        <a:srgbClr val="B9AFA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latin typeface="Arial" pitchFamily="34" charset="0"/>
                          <a:ea typeface="Arial" pitchFamily="34" charset="-122"/>
                          <a:cs typeface="Arial" pitchFamily="34" charset="-120"/>
                        </a:rPr>
                        <a:t>150</a:t>
                      </a:r>
                      <a:endParaRPr lang="en-US" sz="1300" dirty="0">
                        <a:latin typeface="Arial" charset="0"/>
                        <a:ea typeface="Arial" charset="0"/>
                        <a:cs typeface="Arial" charset="0"/>
                      </a:endParaRPr>
                    </a:p>
                  </a:txBody>
                  <a:tcPr marL="91440" marR="91440" marT="45720" marB="45720" anchor="ctr">
                    <a:lnL w="9525" cap="flat" cmpd="sng" algn="ctr">
                      <a:solidFill>
                        <a:srgbClr val="B9AFA8"/>
                      </a:solidFill>
                      <a:prstDash val="solid"/>
                      <a:round/>
                      <a:headEnd type="none" w="med" len="med"/>
                      <a:tailEnd type="none" w="med" len="med"/>
                    </a:lnL>
                    <a:lnR w="9525" cap="flat" cmpd="sng" algn="ctr">
                      <a:solidFill>
                        <a:srgbClr val="B9AFA8"/>
                      </a:solidFill>
                      <a:prstDash val="solid"/>
                      <a:round/>
                      <a:headEnd type="none" w="med" len="med"/>
                      <a:tailEnd type="none" w="med" len="med"/>
                    </a:lnR>
                    <a:lnT w="9525" cap="flat" cmpd="sng" algn="ctr">
                      <a:solidFill>
                        <a:srgbClr val="B9AFA8"/>
                      </a:solidFill>
                      <a:prstDash val="solid"/>
                      <a:round/>
                      <a:headEnd type="none" w="med" len="med"/>
                      <a:tailEnd type="none" w="med" len="med"/>
                    </a:lnT>
                    <a:lnB w="9525" cap="flat" cmpd="sng" algn="ctr">
                      <a:solidFill>
                        <a:srgbClr val="B9AFA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latin typeface="Arial" pitchFamily="34" charset="0"/>
                          <a:ea typeface="Arial" pitchFamily="34" charset="-122"/>
                          <a:cs typeface="Arial" pitchFamily="34" charset="-120"/>
                        </a:rPr>
                        <a:t>$4,650</a:t>
                      </a:r>
                      <a:endParaRPr lang="en-US" sz="1300" dirty="0">
                        <a:latin typeface="Arial" charset="0"/>
                        <a:ea typeface="Arial" charset="0"/>
                        <a:cs typeface="Arial" charset="0"/>
                      </a:endParaRPr>
                    </a:p>
                  </a:txBody>
                  <a:tcPr marL="91440" marR="91440" marT="45720" marB="45720" anchor="ctr">
                    <a:lnL w="9525" cap="flat" cmpd="sng" algn="ctr">
                      <a:solidFill>
                        <a:srgbClr val="B9AFA8"/>
                      </a:solidFill>
                      <a:prstDash val="solid"/>
                      <a:round/>
                      <a:headEnd type="none" w="med" len="med"/>
                      <a:tailEnd type="none" w="med" len="med"/>
                    </a:lnL>
                    <a:lnR w="9525" cap="flat" cmpd="sng" algn="ctr">
                      <a:solidFill>
                        <a:srgbClr val="B9AFA8"/>
                      </a:solidFill>
                      <a:prstDash val="solid"/>
                      <a:round/>
                      <a:headEnd type="none" w="med" len="med"/>
                      <a:tailEnd type="none" w="med" len="med"/>
                    </a:lnR>
                    <a:lnT w="9525" cap="flat" cmpd="sng" algn="ctr">
                      <a:solidFill>
                        <a:srgbClr val="B9AFA8"/>
                      </a:solidFill>
                      <a:prstDash val="solid"/>
                      <a:round/>
                      <a:headEnd type="none" w="med" len="med"/>
                      <a:tailEnd type="none" w="med" len="med"/>
                    </a:lnT>
                    <a:lnB w="9525" cap="flat" cmpd="sng" algn="ctr">
                      <a:solidFill>
                        <a:srgbClr val="B9AFA8"/>
                      </a:solidFill>
                      <a:prstDash val="solid"/>
                      <a:round/>
                      <a:headEnd type="none" w="med" len="med"/>
                      <a:tailEnd type="none" w="med" len="med"/>
                    </a:lnB>
                    <a:solidFill>
                      <a:srgbClr val="FFFFFF"/>
                    </a:solidFill>
                  </a:tcPr>
                </a:tc>
              </a:tr>
            </a:tbl>
          </a:graphicData>
        </a:graphic>
      </p:graphicFrame>
      <p:sp>
        <p:nvSpPr>
          <p:cNvPr id="9" name="Text 6"/>
          <p:cNvSpPr txBox="1"/>
          <p:nvPr/>
        </p:nvSpPr>
        <p:spPr>
          <a:xfrm>
            <a:off x="4572000" y="3246120"/>
            <a:ext cx="4114800" cy="411480"/>
          </a:xfrm>
          <a:prstGeom prst="rect">
            <a:avLst/>
          </a:prstGeom>
          <a:noFill/>
          <a:ln/>
        </p:spPr>
        <p:txBody>
          <a:bodyPr wrap="square" lIns="0" tIns="0" rIns="0" bIns="0" rtlCol="0" anchor="ctr"/>
          <a:lstStyle/>
          <a:p>
            <a:pPr indent="0" marL="0">
              <a:buNone/>
            </a:pPr>
            <a:r>
              <a:rPr lang="en-US" sz="1600" b="1" dirty="0">
                <a:solidFill>
                  <a:srgbClr val="4C3629"/>
                </a:solidFill>
                <a:latin typeface="Arial" pitchFamily="34" charset="0"/>
                <a:ea typeface="Arial" pitchFamily="34" charset="-122"/>
                <a:cs typeface="Arial" pitchFamily="34" charset="-120"/>
              </a:rPr>
              <a:t>Best price: $30  →  $5,856 profit</a:t>
            </a:r>
            <a:endParaRPr lang="en-US" sz="1600" dirty="0"/>
          </a:p>
        </p:txBody>
      </p:sp>
      <p:sp>
        <p:nvSpPr>
          <p:cNvPr id="10" name="Text 7"/>
          <p:cNvSpPr txBox="1"/>
          <p:nvPr/>
        </p:nvSpPr>
        <p:spPr>
          <a:xfrm>
            <a:off x="4572000" y="3749040"/>
            <a:ext cx="4114800" cy="731520"/>
          </a:xfrm>
          <a:prstGeom prst="rect">
            <a:avLst/>
          </a:prstGeom>
          <a:noFill/>
          <a:ln/>
        </p:spPr>
        <p:txBody>
          <a:bodyPr wrap="square" lIns="0" tIns="0" rIns="0" bIns="0" rtlCol="0" anchor="ctr"/>
          <a:lstStyle/>
          <a:p>
            <a:pPr indent="0" marL="0">
              <a:buNone/>
            </a:pPr>
            <a:r>
              <a:rPr lang="en-US" sz="1300" dirty="0">
                <a:solidFill>
                  <a:srgbClr val="6B6B6B"/>
                </a:solidFill>
                <a:latin typeface="Arial" pitchFamily="34" charset="0"/>
                <a:ea typeface="Arial" pitchFamily="34" charset="-122"/>
                <a:cs typeface="Arial" pitchFamily="34" charset="-120"/>
              </a:rPr>
              <a:t>She skips repaint and the display box. Weekend Wearers would never pay for them.</a:t>
            </a:r>
            <a:endParaRPr lang="en-US" sz="13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6B6B"/>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4C3629"/>
                </a:solidFill>
                <a:latin typeface="Arial" pitchFamily="34" charset="0"/>
                <a:ea typeface="Arial" pitchFamily="34" charset="-122"/>
                <a:cs typeface="Arial" pitchFamily="34" charset="-120"/>
              </a:rPr>
              <a:t>Version 2: The Grail Treatment</a:t>
            </a:r>
            <a:endParaRPr lang="en-US" sz="2800" dirty="0"/>
          </a:p>
        </p:txBody>
      </p:sp>
      <p:sp>
        <p:nvSpPr>
          <p:cNvPr id="3" name="Text 1"/>
          <p:cNvSpPr txBox="1"/>
          <p:nvPr/>
        </p:nvSpPr>
        <p:spPr>
          <a:xfrm>
            <a:off x="457200" y="914400"/>
            <a:ext cx="4572000" cy="320040"/>
          </a:xfrm>
          <a:prstGeom prst="rect">
            <a:avLst/>
          </a:prstGeom>
          <a:noFill/>
          <a:ln/>
        </p:spPr>
        <p:txBody>
          <a:bodyPr wrap="square" lIns="0" tIns="0" rIns="0" bIns="0" rtlCol="0" anchor="ctr"/>
          <a:lstStyle/>
          <a:p>
            <a:pPr indent="0" marL="0">
              <a:buNone/>
            </a:pPr>
            <a:r>
              <a:rPr lang="en-US" sz="1400" b="1" dirty="0">
                <a:solidFill>
                  <a:srgbClr val="E26F39"/>
                </a:solidFill>
                <a:latin typeface="Arial" pitchFamily="34" charset="0"/>
                <a:ea typeface="Arial" pitchFamily="34" charset="-122"/>
                <a:cs typeface="Arial" pitchFamily="34" charset="-120"/>
              </a:rPr>
              <a:t>For the Collectors</a:t>
            </a:r>
            <a:endParaRPr lang="en-US" sz="1400" dirty="0"/>
          </a:p>
        </p:txBody>
      </p:sp>
      <p:sp>
        <p:nvSpPr>
          <p:cNvPr id="4" name="Shape 2"/>
          <p:cNvSpPr/>
          <p:nvPr/>
        </p:nvSpPr>
        <p:spPr>
          <a:xfrm>
            <a:off x="457200" y="1325880"/>
            <a:ext cx="3840480" cy="3246120"/>
          </a:xfrm>
          <a:prstGeom prst="roundRect">
            <a:avLst>
              <a:gd name="adj" fmla="val 2254"/>
            </a:avLst>
          </a:prstGeom>
          <a:solidFill>
            <a:srgbClr val="FBF3EC"/>
          </a:solidFill>
          <a:ln w="12700">
            <a:solidFill>
              <a:srgbClr val="EFE4DA"/>
            </a:solidFill>
            <a:prstDash val="solid"/>
          </a:ln>
        </p:spPr>
      </p:sp>
      <p:sp>
        <p:nvSpPr>
          <p:cNvPr id="5" name="Text 3"/>
          <p:cNvSpPr txBox="1"/>
          <p:nvPr/>
        </p:nvSpPr>
        <p:spPr>
          <a:xfrm>
            <a:off x="640080" y="1417320"/>
            <a:ext cx="3474720" cy="320040"/>
          </a:xfrm>
          <a:prstGeom prst="rect">
            <a:avLst/>
          </a:prstGeom>
          <a:noFill/>
          <a:ln/>
        </p:spPr>
        <p:txBody>
          <a:bodyPr wrap="square" lIns="0" tIns="0" rIns="0" bIns="0" rtlCol="0" anchor="ctr"/>
          <a:lstStyle/>
          <a:p>
            <a:pPr indent="0" marL="0">
              <a:buNone/>
            </a:pPr>
            <a:r>
              <a:rPr lang="en-US" sz="1300" b="1" dirty="0">
                <a:solidFill>
                  <a:srgbClr val="4C3629"/>
                </a:solidFill>
                <a:latin typeface="Arial" pitchFamily="34" charset="0"/>
                <a:ea typeface="Arial" pitchFamily="34" charset="-122"/>
                <a:cs typeface="Arial" pitchFamily="34" charset="-120"/>
              </a:rPr>
              <a:t>Features</a:t>
            </a:r>
            <a:endParaRPr lang="en-US" sz="1300" dirty="0"/>
          </a:p>
        </p:txBody>
      </p:sp>
      <p:sp>
        <p:nvSpPr>
          <p:cNvPr id="6" name="Text 4"/>
          <p:cNvSpPr txBox="1"/>
          <p:nvPr/>
        </p:nvSpPr>
        <p:spPr>
          <a:xfrm>
            <a:off x="640080" y="1828800"/>
            <a:ext cx="3474720" cy="18288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222222"/>
                </a:solidFill>
                <a:latin typeface="Arial" pitchFamily="34" charset="0"/>
                <a:ea typeface="Arial" pitchFamily="34" charset="-122"/>
                <a:cs typeface="Arial" pitchFamily="34" charset="-120"/>
              </a:rPr>
              <a:t>Deep clean  $3  (must)</a:t>
            </a:r>
            <a:endParaRPr lang="en-US" sz="1500" dirty="0"/>
          </a:p>
          <a:p>
            <a:pPr marL="342900" indent="-342900">
              <a:spcAft>
                <a:spcPts val="1000"/>
              </a:spcAft>
              <a:buSzPct val="100000"/>
              <a:buChar char="•"/>
            </a:pPr>
            <a:r>
              <a:rPr lang="en-US" sz="1500" dirty="0">
                <a:solidFill>
                  <a:srgbClr val="222222"/>
                </a:solidFill>
                <a:latin typeface="Arial" pitchFamily="34" charset="0"/>
                <a:ea typeface="Arial" pitchFamily="34" charset="-122"/>
                <a:cs typeface="Arial" pitchFamily="34" charset="-120"/>
              </a:rPr>
              <a:t>Crease removal  $6  (must)</a:t>
            </a:r>
            <a:endParaRPr lang="en-US" sz="1500" dirty="0"/>
          </a:p>
          <a:p>
            <a:pPr marL="342900" indent="-342900">
              <a:spcAft>
                <a:spcPts val="1000"/>
              </a:spcAft>
              <a:buSzPct val="100000"/>
              <a:buChar char="•"/>
            </a:pPr>
            <a:r>
              <a:rPr lang="en-US" sz="1500" dirty="0">
                <a:solidFill>
                  <a:srgbClr val="222222"/>
                </a:solidFill>
                <a:latin typeface="Arial" pitchFamily="34" charset="0"/>
                <a:ea typeface="Arial" pitchFamily="34" charset="-122"/>
                <a:cs typeface="Arial" pitchFamily="34" charset="-120"/>
              </a:rPr>
              <a:t>Color repaint  $12  (must)</a:t>
            </a:r>
            <a:endParaRPr lang="en-US" sz="1500" dirty="0"/>
          </a:p>
          <a:p>
            <a:pPr marL="342900" indent="-342900">
              <a:spcAft>
                <a:spcPts val="1000"/>
              </a:spcAft>
              <a:buSzPct val="100000"/>
              <a:buChar char="•"/>
            </a:pPr>
            <a:r>
              <a:rPr lang="en-US" sz="1500" dirty="0">
                <a:solidFill>
                  <a:srgbClr val="222222"/>
                </a:solidFill>
                <a:latin typeface="Arial" pitchFamily="34" charset="0"/>
                <a:ea typeface="Arial" pitchFamily="34" charset="-122"/>
                <a:cs typeface="Arial" pitchFamily="34" charset="-120"/>
              </a:rPr>
              <a:t>Fresh laces  $2  (nice)</a:t>
            </a:r>
            <a:endParaRPr lang="en-US" sz="1500" dirty="0"/>
          </a:p>
        </p:txBody>
      </p:sp>
      <p:sp>
        <p:nvSpPr>
          <p:cNvPr id="7" name="Text 5"/>
          <p:cNvSpPr txBox="1"/>
          <p:nvPr/>
        </p:nvSpPr>
        <p:spPr>
          <a:xfrm>
            <a:off x="640080" y="3840480"/>
            <a:ext cx="3566160" cy="548640"/>
          </a:xfrm>
          <a:prstGeom prst="rect">
            <a:avLst/>
          </a:prstGeom>
          <a:noFill/>
          <a:ln/>
        </p:spPr>
        <p:txBody>
          <a:bodyPr wrap="square" lIns="0" tIns="0" rIns="0" bIns="0" rtlCol="0" anchor="ctr"/>
          <a:lstStyle/>
          <a:p>
            <a:pPr indent="0" marL="0">
              <a:buNone/>
            </a:pPr>
            <a:r>
              <a:rPr lang="en-US" sz="1300" b="1" dirty="0">
                <a:solidFill>
                  <a:srgbClr val="4C3629"/>
                </a:solidFill>
                <a:latin typeface="Arial" pitchFamily="34" charset="0"/>
                <a:ea typeface="Arial" pitchFamily="34" charset="-122"/>
                <a:cs typeface="Arial" pitchFamily="34" charset="-120"/>
              </a:rPr>
              <a:t>Unit cost: $5 base + features = $28</a:t>
            </a:r>
            <a:endParaRPr lang="en-US" sz="13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0" y="1325880"/>
          <a:ext cx="4114800" cy="914400"/>
        </p:xfrm>
        <a:graphic>
          <a:graphicData uri="http://schemas.openxmlformats.org/drawingml/2006/table">
            <a:tbl>
              <a:tblPr/>
              <a:tblGrid>
                <a:gridCol w="777240"/>
                <a:gridCol w="731520"/>
                <a:gridCol w="685800"/>
                <a:gridCol w="822960"/>
                <a:gridCol w="1097280"/>
              </a:tblGrid>
              <a:tr h="411480">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Price</a:t>
                      </a:r>
                      <a:endParaRPr lang="en-US" sz="1300" dirty="0">
                        <a:latin typeface="Arial" charset="0"/>
                        <a:ea typeface="Arial" charset="0"/>
                        <a:cs typeface="Arial" charset="0"/>
                      </a:endParaRPr>
                    </a:p>
                  </a:txBody>
                  <a:tcPr marL="91440" marR="91440" marT="45720" marB="45720" anchor="ctr">
                    <a:lnL w="9525" cap="flat" cmpd="sng" algn="ctr">
                      <a:solidFill>
                        <a:srgbClr val="B9AFA8"/>
                      </a:solidFill>
                      <a:prstDash val="solid"/>
                      <a:round/>
                      <a:headEnd type="none" w="med" len="med"/>
                      <a:tailEnd type="none" w="med" len="med"/>
                    </a:lnL>
                    <a:lnR w="9525" cap="flat" cmpd="sng" algn="ctr">
                      <a:solidFill>
                        <a:srgbClr val="B9AFA8"/>
                      </a:solidFill>
                      <a:prstDash val="solid"/>
                      <a:round/>
                      <a:headEnd type="none" w="med" len="med"/>
                      <a:tailEnd type="none" w="med" len="med"/>
                    </a:lnR>
                    <a:lnT w="9525" cap="flat" cmpd="sng" algn="ctr">
                      <a:solidFill>
                        <a:srgbClr val="B9AFA8"/>
                      </a:solidFill>
                      <a:prstDash val="solid"/>
                      <a:round/>
                      <a:headEnd type="none" w="med" len="med"/>
                      <a:tailEnd type="none" w="med" len="med"/>
                    </a:lnT>
                    <a:lnB w="9525" cap="flat" cmpd="sng" algn="ctr">
                      <a:solidFill>
                        <a:srgbClr val="B9AFA8"/>
                      </a:solidFill>
                      <a:prstDash val="solid"/>
                      <a:round/>
                      <a:headEnd type="none" w="med" len="med"/>
                      <a:tailEnd type="none" w="med" len="med"/>
                    </a:lnB>
                    <a:solidFill>
                      <a:srgbClr val="4C3629"/>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 buy</a:t>
                      </a:r>
                      <a:endParaRPr lang="en-US" sz="1300" dirty="0">
                        <a:latin typeface="Arial" charset="0"/>
                        <a:ea typeface="Arial" charset="0"/>
                        <a:cs typeface="Arial" charset="0"/>
                      </a:endParaRPr>
                    </a:p>
                  </a:txBody>
                  <a:tcPr marL="91440" marR="91440" marT="45720" marB="45720" anchor="ctr">
                    <a:lnL w="9525" cap="flat" cmpd="sng" algn="ctr">
                      <a:solidFill>
                        <a:srgbClr val="B9AFA8"/>
                      </a:solidFill>
                      <a:prstDash val="solid"/>
                      <a:round/>
                      <a:headEnd type="none" w="med" len="med"/>
                      <a:tailEnd type="none" w="med" len="med"/>
                    </a:lnL>
                    <a:lnR w="9525" cap="flat" cmpd="sng" algn="ctr">
                      <a:solidFill>
                        <a:srgbClr val="B9AFA8"/>
                      </a:solidFill>
                      <a:prstDash val="solid"/>
                      <a:round/>
                      <a:headEnd type="none" w="med" len="med"/>
                      <a:tailEnd type="none" w="med" len="med"/>
                    </a:lnR>
                    <a:lnT w="9525" cap="flat" cmpd="sng" algn="ctr">
                      <a:solidFill>
                        <a:srgbClr val="B9AFA8"/>
                      </a:solidFill>
                      <a:prstDash val="solid"/>
                      <a:round/>
                      <a:headEnd type="none" w="med" len="med"/>
                      <a:tailEnd type="none" w="med" len="med"/>
                    </a:lnT>
                    <a:lnB w="9525" cap="flat" cmpd="sng" algn="ctr">
                      <a:solidFill>
                        <a:srgbClr val="B9AFA8"/>
                      </a:solidFill>
                      <a:prstDash val="solid"/>
                      <a:round/>
                      <a:headEnd type="none" w="med" len="med"/>
                      <a:tailEnd type="none" w="med" len="med"/>
                    </a:lnB>
                    <a:solidFill>
                      <a:srgbClr val="4C3629"/>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Fit</a:t>
                      </a:r>
                      <a:endParaRPr lang="en-US" sz="1300" dirty="0">
                        <a:latin typeface="Arial" charset="0"/>
                        <a:ea typeface="Arial" charset="0"/>
                        <a:cs typeface="Arial" charset="0"/>
                      </a:endParaRPr>
                    </a:p>
                  </a:txBody>
                  <a:tcPr marL="91440" marR="91440" marT="45720" marB="45720" anchor="ctr">
                    <a:lnL w="9525" cap="flat" cmpd="sng" algn="ctr">
                      <a:solidFill>
                        <a:srgbClr val="B9AFA8"/>
                      </a:solidFill>
                      <a:prstDash val="solid"/>
                      <a:round/>
                      <a:headEnd type="none" w="med" len="med"/>
                      <a:tailEnd type="none" w="med" len="med"/>
                    </a:lnL>
                    <a:lnR w="9525" cap="flat" cmpd="sng" algn="ctr">
                      <a:solidFill>
                        <a:srgbClr val="B9AFA8"/>
                      </a:solidFill>
                      <a:prstDash val="solid"/>
                      <a:round/>
                      <a:headEnd type="none" w="med" len="med"/>
                      <a:tailEnd type="none" w="med" len="med"/>
                    </a:lnR>
                    <a:lnT w="9525" cap="flat" cmpd="sng" algn="ctr">
                      <a:solidFill>
                        <a:srgbClr val="B9AFA8"/>
                      </a:solidFill>
                      <a:prstDash val="solid"/>
                      <a:round/>
                      <a:headEnd type="none" w="med" len="med"/>
                      <a:tailEnd type="none" w="med" len="med"/>
                    </a:lnT>
                    <a:lnB w="9525" cap="flat" cmpd="sng" algn="ctr">
                      <a:solidFill>
                        <a:srgbClr val="B9AFA8"/>
                      </a:solidFill>
                      <a:prstDash val="solid"/>
                      <a:round/>
                      <a:headEnd type="none" w="med" len="med"/>
                      <a:tailEnd type="none" w="med" len="med"/>
                    </a:lnB>
                    <a:solidFill>
                      <a:srgbClr val="4C3629"/>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Buyers</a:t>
                      </a:r>
                      <a:endParaRPr lang="en-US" sz="1300" dirty="0">
                        <a:latin typeface="Arial" charset="0"/>
                        <a:ea typeface="Arial" charset="0"/>
                        <a:cs typeface="Arial" charset="0"/>
                      </a:endParaRPr>
                    </a:p>
                  </a:txBody>
                  <a:tcPr marL="91440" marR="91440" marT="45720" marB="45720" anchor="ctr">
                    <a:lnL w="9525" cap="flat" cmpd="sng" algn="ctr">
                      <a:solidFill>
                        <a:srgbClr val="B9AFA8"/>
                      </a:solidFill>
                      <a:prstDash val="solid"/>
                      <a:round/>
                      <a:headEnd type="none" w="med" len="med"/>
                      <a:tailEnd type="none" w="med" len="med"/>
                    </a:lnL>
                    <a:lnR w="9525" cap="flat" cmpd="sng" algn="ctr">
                      <a:solidFill>
                        <a:srgbClr val="B9AFA8"/>
                      </a:solidFill>
                      <a:prstDash val="solid"/>
                      <a:round/>
                      <a:headEnd type="none" w="med" len="med"/>
                      <a:tailEnd type="none" w="med" len="med"/>
                    </a:lnR>
                    <a:lnT w="9525" cap="flat" cmpd="sng" algn="ctr">
                      <a:solidFill>
                        <a:srgbClr val="B9AFA8"/>
                      </a:solidFill>
                      <a:prstDash val="solid"/>
                      <a:round/>
                      <a:headEnd type="none" w="med" len="med"/>
                      <a:tailEnd type="none" w="med" len="med"/>
                    </a:lnT>
                    <a:lnB w="9525" cap="flat" cmpd="sng" algn="ctr">
                      <a:solidFill>
                        <a:srgbClr val="B9AFA8"/>
                      </a:solidFill>
                      <a:prstDash val="solid"/>
                      <a:round/>
                      <a:headEnd type="none" w="med" len="med"/>
                      <a:tailEnd type="none" w="med" len="med"/>
                    </a:lnB>
                    <a:solidFill>
                      <a:srgbClr val="4C3629"/>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Profit</a:t>
                      </a:r>
                      <a:endParaRPr lang="en-US" sz="1300" dirty="0">
                        <a:latin typeface="Arial" charset="0"/>
                        <a:ea typeface="Arial" charset="0"/>
                        <a:cs typeface="Arial" charset="0"/>
                      </a:endParaRPr>
                    </a:p>
                  </a:txBody>
                  <a:tcPr marL="91440" marR="91440" marT="45720" marB="45720" anchor="ctr">
                    <a:lnL w="9525" cap="flat" cmpd="sng" algn="ctr">
                      <a:solidFill>
                        <a:srgbClr val="B9AFA8"/>
                      </a:solidFill>
                      <a:prstDash val="solid"/>
                      <a:round/>
                      <a:headEnd type="none" w="med" len="med"/>
                      <a:tailEnd type="none" w="med" len="med"/>
                    </a:lnL>
                    <a:lnR w="9525" cap="flat" cmpd="sng" algn="ctr">
                      <a:solidFill>
                        <a:srgbClr val="B9AFA8"/>
                      </a:solidFill>
                      <a:prstDash val="solid"/>
                      <a:round/>
                      <a:headEnd type="none" w="med" len="med"/>
                      <a:tailEnd type="none" w="med" len="med"/>
                    </a:lnR>
                    <a:lnT w="9525" cap="flat" cmpd="sng" algn="ctr">
                      <a:solidFill>
                        <a:srgbClr val="B9AFA8"/>
                      </a:solidFill>
                      <a:prstDash val="solid"/>
                      <a:round/>
                      <a:headEnd type="none" w="med" len="med"/>
                      <a:tailEnd type="none" w="med" len="med"/>
                    </a:lnT>
                    <a:lnB w="9525" cap="flat" cmpd="sng" algn="ctr">
                      <a:solidFill>
                        <a:srgbClr val="B9AFA8"/>
                      </a:solidFill>
                      <a:prstDash val="solid"/>
                      <a:round/>
                      <a:headEnd type="none" w="med" len="med"/>
                      <a:tailEnd type="none" w="med" len="med"/>
                    </a:lnB>
                    <a:solidFill>
                      <a:srgbClr val="4C3629"/>
                    </a:solidFill>
                  </a:tcPr>
                </a:tc>
              </a:tr>
              <a:tr h="411480">
                <a:tc>
                  <a:txBody>
                    <a:bodyPr/>
                    <a:lstStyle/>
                    <a:p>
                      <a:pPr algn="ctr" indent="0" marL="0">
                        <a:buNone/>
                      </a:pPr>
                      <a:r>
                        <a:rPr lang="en-US" sz="1300" dirty="0">
                          <a:solidFill>
                            <a:srgbClr val="222222"/>
                          </a:solidFill>
                          <a:latin typeface="Arial" pitchFamily="34" charset="0"/>
                          <a:ea typeface="Arial" pitchFamily="34" charset="-122"/>
                          <a:cs typeface="Arial" pitchFamily="34" charset="-120"/>
                        </a:rPr>
                        <a:t>$60</a:t>
                      </a:r>
                      <a:endParaRPr lang="en-US" sz="1300" dirty="0">
                        <a:latin typeface="Arial" charset="0"/>
                        <a:ea typeface="Arial" charset="0"/>
                        <a:cs typeface="Arial" charset="0"/>
                      </a:endParaRPr>
                    </a:p>
                  </a:txBody>
                  <a:tcPr marL="91440" marR="91440" marT="45720" marB="45720" anchor="ctr">
                    <a:lnL w="9525" cap="flat" cmpd="sng" algn="ctr">
                      <a:solidFill>
                        <a:srgbClr val="B9AFA8"/>
                      </a:solidFill>
                      <a:prstDash val="solid"/>
                      <a:round/>
                      <a:headEnd type="none" w="med" len="med"/>
                      <a:tailEnd type="none" w="med" len="med"/>
                    </a:lnL>
                    <a:lnR w="9525" cap="flat" cmpd="sng" algn="ctr">
                      <a:solidFill>
                        <a:srgbClr val="B9AFA8"/>
                      </a:solidFill>
                      <a:prstDash val="solid"/>
                      <a:round/>
                      <a:headEnd type="none" w="med" len="med"/>
                      <a:tailEnd type="none" w="med" len="med"/>
                    </a:lnR>
                    <a:lnT w="9525" cap="flat" cmpd="sng" algn="ctr">
                      <a:solidFill>
                        <a:srgbClr val="B9AFA8"/>
                      </a:solidFill>
                      <a:prstDash val="solid"/>
                      <a:round/>
                      <a:headEnd type="none" w="med" len="med"/>
                      <a:tailEnd type="none" w="med" len="med"/>
                    </a:lnT>
                    <a:lnB w="9525" cap="flat" cmpd="sng" algn="ctr">
                      <a:solidFill>
                        <a:srgbClr val="B9AFA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latin typeface="Arial" pitchFamily="34" charset="0"/>
                          <a:ea typeface="Arial" pitchFamily="34" charset="-122"/>
                          <a:cs typeface="Arial" pitchFamily="34" charset="-120"/>
                        </a:rPr>
                        <a:t>79%</a:t>
                      </a:r>
                      <a:endParaRPr lang="en-US" sz="1300" dirty="0">
                        <a:latin typeface="Arial" charset="0"/>
                        <a:ea typeface="Arial" charset="0"/>
                        <a:cs typeface="Arial" charset="0"/>
                      </a:endParaRPr>
                    </a:p>
                  </a:txBody>
                  <a:tcPr marL="91440" marR="91440" marT="45720" marB="45720" anchor="ctr">
                    <a:lnL w="9525" cap="flat" cmpd="sng" algn="ctr">
                      <a:solidFill>
                        <a:srgbClr val="B9AFA8"/>
                      </a:solidFill>
                      <a:prstDash val="solid"/>
                      <a:round/>
                      <a:headEnd type="none" w="med" len="med"/>
                      <a:tailEnd type="none" w="med" len="med"/>
                    </a:lnL>
                    <a:lnR w="9525" cap="flat" cmpd="sng" algn="ctr">
                      <a:solidFill>
                        <a:srgbClr val="B9AFA8"/>
                      </a:solidFill>
                      <a:prstDash val="solid"/>
                      <a:round/>
                      <a:headEnd type="none" w="med" len="med"/>
                      <a:tailEnd type="none" w="med" len="med"/>
                    </a:lnR>
                    <a:lnT w="9525" cap="flat" cmpd="sng" algn="ctr">
                      <a:solidFill>
                        <a:srgbClr val="B9AFA8"/>
                      </a:solidFill>
                      <a:prstDash val="solid"/>
                      <a:round/>
                      <a:headEnd type="none" w="med" len="med"/>
                      <a:tailEnd type="none" w="med" len="med"/>
                    </a:lnT>
                    <a:lnB w="9525" cap="flat" cmpd="sng" algn="ctr">
                      <a:solidFill>
                        <a:srgbClr val="B9AFA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latin typeface="Arial" pitchFamily="34" charset="0"/>
                          <a:ea typeface="Arial" pitchFamily="34" charset="-122"/>
                          <a:cs typeface="Arial" pitchFamily="34" charset="-120"/>
                        </a:rPr>
                        <a:t>105%</a:t>
                      </a:r>
                      <a:endParaRPr lang="en-US" sz="1300" dirty="0">
                        <a:latin typeface="Arial" charset="0"/>
                        <a:ea typeface="Arial" charset="0"/>
                        <a:cs typeface="Arial" charset="0"/>
                      </a:endParaRPr>
                    </a:p>
                  </a:txBody>
                  <a:tcPr marL="91440" marR="91440" marT="45720" marB="45720" anchor="ctr">
                    <a:lnL w="9525" cap="flat" cmpd="sng" algn="ctr">
                      <a:solidFill>
                        <a:srgbClr val="B9AFA8"/>
                      </a:solidFill>
                      <a:prstDash val="solid"/>
                      <a:round/>
                      <a:headEnd type="none" w="med" len="med"/>
                      <a:tailEnd type="none" w="med" len="med"/>
                    </a:lnL>
                    <a:lnR w="9525" cap="flat" cmpd="sng" algn="ctr">
                      <a:solidFill>
                        <a:srgbClr val="B9AFA8"/>
                      </a:solidFill>
                      <a:prstDash val="solid"/>
                      <a:round/>
                      <a:headEnd type="none" w="med" len="med"/>
                      <a:tailEnd type="none" w="med" len="med"/>
                    </a:lnR>
                    <a:lnT w="9525" cap="flat" cmpd="sng" algn="ctr">
                      <a:solidFill>
                        <a:srgbClr val="B9AFA8"/>
                      </a:solidFill>
                      <a:prstDash val="solid"/>
                      <a:round/>
                      <a:headEnd type="none" w="med" len="med"/>
                      <a:tailEnd type="none" w="med" len="med"/>
                    </a:lnT>
                    <a:lnB w="9525" cap="flat" cmpd="sng" algn="ctr">
                      <a:solidFill>
                        <a:srgbClr val="B9AFA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latin typeface="Arial" pitchFamily="34" charset="0"/>
                          <a:ea typeface="Arial" pitchFamily="34" charset="-122"/>
                          <a:cs typeface="Arial" pitchFamily="34" charset="-120"/>
                        </a:rPr>
                        <a:t>124</a:t>
                      </a:r>
                      <a:endParaRPr lang="en-US" sz="1300" dirty="0">
                        <a:latin typeface="Arial" charset="0"/>
                        <a:ea typeface="Arial" charset="0"/>
                        <a:cs typeface="Arial" charset="0"/>
                      </a:endParaRPr>
                    </a:p>
                  </a:txBody>
                  <a:tcPr marL="91440" marR="91440" marT="45720" marB="45720" anchor="ctr">
                    <a:lnL w="9525" cap="flat" cmpd="sng" algn="ctr">
                      <a:solidFill>
                        <a:srgbClr val="B9AFA8"/>
                      </a:solidFill>
                      <a:prstDash val="solid"/>
                      <a:round/>
                      <a:headEnd type="none" w="med" len="med"/>
                      <a:tailEnd type="none" w="med" len="med"/>
                    </a:lnL>
                    <a:lnR w="9525" cap="flat" cmpd="sng" algn="ctr">
                      <a:solidFill>
                        <a:srgbClr val="B9AFA8"/>
                      </a:solidFill>
                      <a:prstDash val="solid"/>
                      <a:round/>
                      <a:headEnd type="none" w="med" len="med"/>
                      <a:tailEnd type="none" w="med" len="med"/>
                    </a:lnR>
                    <a:lnT w="9525" cap="flat" cmpd="sng" algn="ctr">
                      <a:solidFill>
                        <a:srgbClr val="B9AFA8"/>
                      </a:solidFill>
                      <a:prstDash val="solid"/>
                      <a:round/>
                      <a:headEnd type="none" w="med" len="med"/>
                      <a:tailEnd type="none" w="med" len="med"/>
                    </a:lnT>
                    <a:lnB w="9525" cap="flat" cmpd="sng" algn="ctr">
                      <a:solidFill>
                        <a:srgbClr val="B9AFA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latin typeface="Arial" pitchFamily="34" charset="0"/>
                          <a:ea typeface="Arial" pitchFamily="34" charset="-122"/>
                          <a:cs typeface="Arial" pitchFamily="34" charset="-120"/>
                        </a:rPr>
                        <a:t>$3,968</a:t>
                      </a:r>
                      <a:endParaRPr lang="en-US" sz="1300" dirty="0">
                        <a:latin typeface="Arial" charset="0"/>
                        <a:ea typeface="Arial" charset="0"/>
                        <a:cs typeface="Arial" charset="0"/>
                      </a:endParaRPr>
                    </a:p>
                  </a:txBody>
                  <a:tcPr marL="91440" marR="91440" marT="45720" marB="45720" anchor="ctr">
                    <a:lnL w="9525" cap="flat" cmpd="sng" algn="ctr">
                      <a:solidFill>
                        <a:srgbClr val="B9AFA8"/>
                      </a:solidFill>
                      <a:prstDash val="solid"/>
                      <a:round/>
                      <a:headEnd type="none" w="med" len="med"/>
                      <a:tailEnd type="none" w="med" len="med"/>
                    </a:lnL>
                    <a:lnR w="9525" cap="flat" cmpd="sng" algn="ctr">
                      <a:solidFill>
                        <a:srgbClr val="B9AFA8"/>
                      </a:solidFill>
                      <a:prstDash val="solid"/>
                      <a:round/>
                      <a:headEnd type="none" w="med" len="med"/>
                      <a:tailEnd type="none" w="med" len="med"/>
                    </a:lnR>
                    <a:lnT w="9525" cap="flat" cmpd="sng" algn="ctr">
                      <a:solidFill>
                        <a:srgbClr val="B9AFA8"/>
                      </a:solidFill>
                      <a:prstDash val="solid"/>
                      <a:round/>
                      <a:headEnd type="none" w="med" len="med"/>
                      <a:tailEnd type="none" w="med" len="med"/>
                    </a:lnT>
                    <a:lnB w="9525" cap="flat" cmpd="sng" algn="ctr">
                      <a:solidFill>
                        <a:srgbClr val="B9AFA8"/>
                      </a:solidFill>
                      <a:prstDash val="solid"/>
                      <a:round/>
                      <a:headEnd type="none" w="med" len="med"/>
                      <a:tailEnd type="none" w="med" len="med"/>
                    </a:lnB>
                    <a:solidFill>
                      <a:srgbClr val="FFFFFF"/>
                    </a:solidFill>
                  </a:tcPr>
                </a:tc>
              </a:tr>
              <a:tr h="411480">
                <a:tc>
                  <a:txBody>
                    <a:bodyPr/>
                    <a:lstStyle/>
                    <a:p>
                      <a:pPr algn="ctr" indent="0" marL="0">
                        <a:buNone/>
                      </a:pPr>
                      <a:r>
                        <a:rPr lang="en-US" sz="1300" b="1" dirty="0">
                          <a:solidFill>
                            <a:srgbClr val="222222"/>
                          </a:solidFill>
                          <a:latin typeface="Arial" pitchFamily="34" charset="0"/>
                          <a:ea typeface="Arial" pitchFamily="34" charset="-122"/>
                          <a:cs typeface="Arial" pitchFamily="34" charset="-120"/>
                        </a:rPr>
                        <a:t>$80</a:t>
                      </a:r>
                      <a:endParaRPr lang="en-US" sz="1300" dirty="0">
                        <a:latin typeface="Arial" charset="0"/>
                        <a:ea typeface="Arial" charset="0"/>
                        <a:cs typeface="Arial" charset="0"/>
                      </a:endParaRPr>
                    </a:p>
                  </a:txBody>
                  <a:tcPr marL="91440" marR="91440" marT="45720" marB="45720" anchor="ctr">
                    <a:lnL w="9525" cap="flat" cmpd="sng" algn="ctr">
                      <a:solidFill>
                        <a:srgbClr val="B9AFA8"/>
                      </a:solidFill>
                      <a:prstDash val="solid"/>
                      <a:round/>
                      <a:headEnd type="none" w="med" len="med"/>
                      <a:tailEnd type="none" w="med" len="med"/>
                    </a:lnL>
                    <a:lnR w="9525" cap="flat" cmpd="sng" algn="ctr">
                      <a:solidFill>
                        <a:srgbClr val="B9AFA8"/>
                      </a:solidFill>
                      <a:prstDash val="solid"/>
                      <a:round/>
                      <a:headEnd type="none" w="med" len="med"/>
                      <a:tailEnd type="none" w="med" len="med"/>
                    </a:lnR>
                    <a:lnT w="9525" cap="flat" cmpd="sng" algn="ctr">
                      <a:solidFill>
                        <a:srgbClr val="B9AFA8"/>
                      </a:solidFill>
                      <a:prstDash val="solid"/>
                      <a:round/>
                      <a:headEnd type="none" w="med" len="med"/>
                      <a:tailEnd type="none" w="med" len="med"/>
                    </a:lnT>
                    <a:lnB w="9525" cap="flat" cmpd="sng" algn="ctr">
                      <a:solidFill>
                        <a:srgbClr val="B9AFA8"/>
                      </a:solidFill>
                      <a:prstDash val="solid"/>
                      <a:round/>
                      <a:headEnd type="none" w="med" len="med"/>
                      <a:tailEnd type="none" w="med" len="med"/>
                    </a:lnB>
                    <a:solidFill>
                      <a:srgbClr val="F2955F"/>
                    </a:solidFill>
                  </a:tcPr>
                </a:tc>
                <a:tc>
                  <a:txBody>
                    <a:bodyPr/>
                    <a:lstStyle/>
                    <a:p>
                      <a:pPr algn="ctr" indent="0" marL="0">
                        <a:buNone/>
                      </a:pPr>
                      <a:r>
                        <a:rPr lang="en-US" sz="1300" b="1" dirty="0">
                          <a:solidFill>
                            <a:srgbClr val="222222"/>
                          </a:solidFill>
                          <a:latin typeface="Arial" pitchFamily="34" charset="0"/>
                          <a:ea typeface="Arial" pitchFamily="34" charset="-122"/>
                          <a:cs typeface="Arial" pitchFamily="34" charset="-120"/>
                        </a:rPr>
                        <a:t>66%</a:t>
                      </a:r>
                      <a:endParaRPr lang="en-US" sz="1300" dirty="0">
                        <a:latin typeface="Arial" charset="0"/>
                        <a:ea typeface="Arial" charset="0"/>
                        <a:cs typeface="Arial" charset="0"/>
                      </a:endParaRPr>
                    </a:p>
                  </a:txBody>
                  <a:tcPr marL="91440" marR="91440" marT="45720" marB="45720" anchor="ctr">
                    <a:lnL w="9525" cap="flat" cmpd="sng" algn="ctr">
                      <a:solidFill>
                        <a:srgbClr val="B9AFA8"/>
                      </a:solidFill>
                      <a:prstDash val="solid"/>
                      <a:round/>
                      <a:headEnd type="none" w="med" len="med"/>
                      <a:tailEnd type="none" w="med" len="med"/>
                    </a:lnL>
                    <a:lnR w="9525" cap="flat" cmpd="sng" algn="ctr">
                      <a:solidFill>
                        <a:srgbClr val="B9AFA8"/>
                      </a:solidFill>
                      <a:prstDash val="solid"/>
                      <a:round/>
                      <a:headEnd type="none" w="med" len="med"/>
                      <a:tailEnd type="none" w="med" len="med"/>
                    </a:lnR>
                    <a:lnT w="9525" cap="flat" cmpd="sng" algn="ctr">
                      <a:solidFill>
                        <a:srgbClr val="B9AFA8"/>
                      </a:solidFill>
                      <a:prstDash val="solid"/>
                      <a:round/>
                      <a:headEnd type="none" w="med" len="med"/>
                      <a:tailEnd type="none" w="med" len="med"/>
                    </a:lnT>
                    <a:lnB w="9525" cap="flat" cmpd="sng" algn="ctr">
                      <a:solidFill>
                        <a:srgbClr val="B9AFA8"/>
                      </a:solidFill>
                      <a:prstDash val="solid"/>
                      <a:round/>
                      <a:headEnd type="none" w="med" len="med"/>
                      <a:tailEnd type="none" w="med" len="med"/>
                    </a:lnB>
                    <a:solidFill>
                      <a:srgbClr val="F2955F"/>
                    </a:solidFill>
                  </a:tcPr>
                </a:tc>
                <a:tc>
                  <a:txBody>
                    <a:bodyPr/>
                    <a:lstStyle/>
                    <a:p>
                      <a:pPr algn="ctr" indent="0" marL="0">
                        <a:buNone/>
                      </a:pPr>
                      <a:r>
                        <a:rPr lang="en-US" sz="1300" b="1" dirty="0">
                          <a:solidFill>
                            <a:srgbClr val="222222"/>
                          </a:solidFill>
                          <a:latin typeface="Arial" pitchFamily="34" charset="0"/>
                          <a:ea typeface="Arial" pitchFamily="34" charset="-122"/>
                          <a:cs typeface="Arial" pitchFamily="34" charset="-120"/>
                        </a:rPr>
                        <a:t>105%</a:t>
                      </a:r>
                      <a:endParaRPr lang="en-US" sz="1300" dirty="0">
                        <a:latin typeface="Arial" charset="0"/>
                        <a:ea typeface="Arial" charset="0"/>
                        <a:cs typeface="Arial" charset="0"/>
                      </a:endParaRPr>
                    </a:p>
                  </a:txBody>
                  <a:tcPr marL="91440" marR="91440" marT="45720" marB="45720" anchor="ctr">
                    <a:lnL w="9525" cap="flat" cmpd="sng" algn="ctr">
                      <a:solidFill>
                        <a:srgbClr val="B9AFA8"/>
                      </a:solidFill>
                      <a:prstDash val="solid"/>
                      <a:round/>
                      <a:headEnd type="none" w="med" len="med"/>
                      <a:tailEnd type="none" w="med" len="med"/>
                    </a:lnL>
                    <a:lnR w="9525" cap="flat" cmpd="sng" algn="ctr">
                      <a:solidFill>
                        <a:srgbClr val="B9AFA8"/>
                      </a:solidFill>
                      <a:prstDash val="solid"/>
                      <a:round/>
                      <a:headEnd type="none" w="med" len="med"/>
                      <a:tailEnd type="none" w="med" len="med"/>
                    </a:lnR>
                    <a:lnT w="9525" cap="flat" cmpd="sng" algn="ctr">
                      <a:solidFill>
                        <a:srgbClr val="B9AFA8"/>
                      </a:solidFill>
                      <a:prstDash val="solid"/>
                      <a:round/>
                      <a:headEnd type="none" w="med" len="med"/>
                      <a:tailEnd type="none" w="med" len="med"/>
                    </a:lnT>
                    <a:lnB w="9525" cap="flat" cmpd="sng" algn="ctr">
                      <a:solidFill>
                        <a:srgbClr val="B9AFA8"/>
                      </a:solidFill>
                      <a:prstDash val="solid"/>
                      <a:round/>
                      <a:headEnd type="none" w="med" len="med"/>
                      <a:tailEnd type="none" w="med" len="med"/>
                    </a:lnB>
                    <a:solidFill>
                      <a:srgbClr val="F2955F"/>
                    </a:solidFill>
                  </a:tcPr>
                </a:tc>
                <a:tc>
                  <a:txBody>
                    <a:bodyPr/>
                    <a:lstStyle/>
                    <a:p>
                      <a:pPr algn="ctr" indent="0" marL="0">
                        <a:buNone/>
                      </a:pPr>
                      <a:r>
                        <a:rPr lang="en-US" sz="1300" b="1" dirty="0">
                          <a:solidFill>
                            <a:srgbClr val="222222"/>
                          </a:solidFill>
                          <a:latin typeface="Arial" pitchFamily="34" charset="0"/>
                          <a:ea typeface="Arial" pitchFamily="34" charset="-122"/>
                          <a:cs typeface="Arial" pitchFamily="34" charset="-120"/>
                        </a:rPr>
                        <a:t>104</a:t>
                      </a:r>
                      <a:endParaRPr lang="en-US" sz="1300" dirty="0">
                        <a:latin typeface="Arial" charset="0"/>
                        <a:ea typeface="Arial" charset="0"/>
                        <a:cs typeface="Arial" charset="0"/>
                      </a:endParaRPr>
                    </a:p>
                  </a:txBody>
                  <a:tcPr marL="91440" marR="91440" marT="45720" marB="45720" anchor="ctr">
                    <a:lnL w="9525" cap="flat" cmpd="sng" algn="ctr">
                      <a:solidFill>
                        <a:srgbClr val="B9AFA8"/>
                      </a:solidFill>
                      <a:prstDash val="solid"/>
                      <a:round/>
                      <a:headEnd type="none" w="med" len="med"/>
                      <a:tailEnd type="none" w="med" len="med"/>
                    </a:lnL>
                    <a:lnR w="9525" cap="flat" cmpd="sng" algn="ctr">
                      <a:solidFill>
                        <a:srgbClr val="B9AFA8"/>
                      </a:solidFill>
                      <a:prstDash val="solid"/>
                      <a:round/>
                      <a:headEnd type="none" w="med" len="med"/>
                      <a:tailEnd type="none" w="med" len="med"/>
                    </a:lnR>
                    <a:lnT w="9525" cap="flat" cmpd="sng" algn="ctr">
                      <a:solidFill>
                        <a:srgbClr val="B9AFA8"/>
                      </a:solidFill>
                      <a:prstDash val="solid"/>
                      <a:round/>
                      <a:headEnd type="none" w="med" len="med"/>
                      <a:tailEnd type="none" w="med" len="med"/>
                    </a:lnT>
                    <a:lnB w="9525" cap="flat" cmpd="sng" algn="ctr">
                      <a:solidFill>
                        <a:srgbClr val="B9AFA8"/>
                      </a:solidFill>
                      <a:prstDash val="solid"/>
                      <a:round/>
                      <a:headEnd type="none" w="med" len="med"/>
                      <a:tailEnd type="none" w="med" len="med"/>
                    </a:lnB>
                    <a:solidFill>
                      <a:srgbClr val="F2955F"/>
                    </a:solidFill>
                  </a:tcPr>
                </a:tc>
                <a:tc>
                  <a:txBody>
                    <a:bodyPr/>
                    <a:lstStyle/>
                    <a:p>
                      <a:pPr algn="ctr" indent="0" marL="0">
                        <a:buNone/>
                      </a:pPr>
                      <a:r>
                        <a:rPr lang="en-US" sz="1300" b="1" dirty="0">
                          <a:solidFill>
                            <a:srgbClr val="222222"/>
                          </a:solidFill>
                          <a:latin typeface="Arial" pitchFamily="34" charset="0"/>
                          <a:ea typeface="Arial" pitchFamily="34" charset="-122"/>
                          <a:cs typeface="Arial" pitchFamily="34" charset="-120"/>
                        </a:rPr>
                        <a:t>$5,408</a:t>
                      </a:r>
                      <a:endParaRPr lang="en-US" sz="1300" dirty="0">
                        <a:latin typeface="Arial" charset="0"/>
                        <a:ea typeface="Arial" charset="0"/>
                        <a:cs typeface="Arial" charset="0"/>
                      </a:endParaRPr>
                    </a:p>
                  </a:txBody>
                  <a:tcPr marL="91440" marR="91440" marT="45720" marB="45720" anchor="ctr">
                    <a:lnL w="9525" cap="flat" cmpd="sng" algn="ctr">
                      <a:solidFill>
                        <a:srgbClr val="B9AFA8"/>
                      </a:solidFill>
                      <a:prstDash val="solid"/>
                      <a:round/>
                      <a:headEnd type="none" w="med" len="med"/>
                      <a:tailEnd type="none" w="med" len="med"/>
                    </a:lnL>
                    <a:lnR w="9525" cap="flat" cmpd="sng" algn="ctr">
                      <a:solidFill>
                        <a:srgbClr val="B9AFA8"/>
                      </a:solidFill>
                      <a:prstDash val="solid"/>
                      <a:round/>
                      <a:headEnd type="none" w="med" len="med"/>
                      <a:tailEnd type="none" w="med" len="med"/>
                    </a:lnR>
                    <a:lnT w="9525" cap="flat" cmpd="sng" algn="ctr">
                      <a:solidFill>
                        <a:srgbClr val="B9AFA8"/>
                      </a:solidFill>
                      <a:prstDash val="solid"/>
                      <a:round/>
                      <a:headEnd type="none" w="med" len="med"/>
                      <a:tailEnd type="none" w="med" len="med"/>
                    </a:lnT>
                    <a:lnB w="9525" cap="flat" cmpd="sng" algn="ctr">
                      <a:solidFill>
                        <a:srgbClr val="B9AFA8"/>
                      </a:solidFill>
                      <a:prstDash val="solid"/>
                      <a:round/>
                      <a:headEnd type="none" w="med" len="med"/>
                      <a:tailEnd type="none" w="med" len="med"/>
                    </a:lnB>
                    <a:solidFill>
                      <a:srgbClr val="F2955F"/>
                    </a:solidFill>
                  </a:tcPr>
                </a:tc>
              </a:tr>
              <a:tr h="411480">
                <a:tc>
                  <a:txBody>
                    <a:bodyPr/>
                    <a:lstStyle/>
                    <a:p>
                      <a:pPr algn="ctr" indent="0" marL="0">
                        <a:buNone/>
                      </a:pPr>
                      <a:r>
                        <a:rPr lang="en-US" sz="1300" dirty="0">
                          <a:solidFill>
                            <a:srgbClr val="222222"/>
                          </a:solidFill>
                          <a:latin typeface="Arial" pitchFamily="34" charset="0"/>
                          <a:ea typeface="Arial" pitchFamily="34" charset="-122"/>
                          <a:cs typeface="Arial" pitchFamily="34" charset="-120"/>
                        </a:rPr>
                        <a:t>$100</a:t>
                      </a:r>
                      <a:endParaRPr lang="en-US" sz="1300" dirty="0">
                        <a:latin typeface="Arial" charset="0"/>
                        <a:ea typeface="Arial" charset="0"/>
                        <a:cs typeface="Arial" charset="0"/>
                      </a:endParaRPr>
                    </a:p>
                  </a:txBody>
                  <a:tcPr marL="91440" marR="91440" marT="45720" marB="45720" anchor="ctr">
                    <a:lnL w="9525" cap="flat" cmpd="sng" algn="ctr">
                      <a:solidFill>
                        <a:srgbClr val="B9AFA8"/>
                      </a:solidFill>
                      <a:prstDash val="solid"/>
                      <a:round/>
                      <a:headEnd type="none" w="med" len="med"/>
                      <a:tailEnd type="none" w="med" len="med"/>
                    </a:lnL>
                    <a:lnR w="9525" cap="flat" cmpd="sng" algn="ctr">
                      <a:solidFill>
                        <a:srgbClr val="B9AFA8"/>
                      </a:solidFill>
                      <a:prstDash val="solid"/>
                      <a:round/>
                      <a:headEnd type="none" w="med" len="med"/>
                      <a:tailEnd type="none" w="med" len="med"/>
                    </a:lnR>
                    <a:lnT w="9525" cap="flat" cmpd="sng" algn="ctr">
                      <a:solidFill>
                        <a:srgbClr val="B9AFA8"/>
                      </a:solidFill>
                      <a:prstDash val="solid"/>
                      <a:round/>
                      <a:headEnd type="none" w="med" len="med"/>
                      <a:tailEnd type="none" w="med" len="med"/>
                    </a:lnT>
                    <a:lnB w="9525" cap="flat" cmpd="sng" algn="ctr">
                      <a:solidFill>
                        <a:srgbClr val="B9AFA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latin typeface="Arial" pitchFamily="34" charset="0"/>
                          <a:ea typeface="Arial" pitchFamily="34" charset="-122"/>
                          <a:cs typeface="Arial" pitchFamily="34" charset="-120"/>
                        </a:rPr>
                        <a:t>46%</a:t>
                      </a:r>
                      <a:endParaRPr lang="en-US" sz="1300" dirty="0">
                        <a:latin typeface="Arial" charset="0"/>
                        <a:ea typeface="Arial" charset="0"/>
                        <a:cs typeface="Arial" charset="0"/>
                      </a:endParaRPr>
                    </a:p>
                  </a:txBody>
                  <a:tcPr marL="91440" marR="91440" marT="45720" marB="45720" anchor="ctr">
                    <a:lnL w="9525" cap="flat" cmpd="sng" algn="ctr">
                      <a:solidFill>
                        <a:srgbClr val="B9AFA8"/>
                      </a:solidFill>
                      <a:prstDash val="solid"/>
                      <a:round/>
                      <a:headEnd type="none" w="med" len="med"/>
                      <a:tailEnd type="none" w="med" len="med"/>
                    </a:lnL>
                    <a:lnR w="9525" cap="flat" cmpd="sng" algn="ctr">
                      <a:solidFill>
                        <a:srgbClr val="B9AFA8"/>
                      </a:solidFill>
                      <a:prstDash val="solid"/>
                      <a:round/>
                      <a:headEnd type="none" w="med" len="med"/>
                      <a:tailEnd type="none" w="med" len="med"/>
                    </a:lnR>
                    <a:lnT w="9525" cap="flat" cmpd="sng" algn="ctr">
                      <a:solidFill>
                        <a:srgbClr val="B9AFA8"/>
                      </a:solidFill>
                      <a:prstDash val="solid"/>
                      <a:round/>
                      <a:headEnd type="none" w="med" len="med"/>
                      <a:tailEnd type="none" w="med" len="med"/>
                    </a:lnT>
                    <a:lnB w="9525" cap="flat" cmpd="sng" algn="ctr">
                      <a:solidFill>
                        <a:srgbClr val="B9AFA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latin typeface="Arial" pitchFamily="34" charset="0"/>
                          <a:ea typeface="Arial" pitchFamily="34" charset="-122"/>
                          <a:cs typeface="Arial" pitchFamily="34" charset="-120"/>
                        </a:rPr>
                        <a:t>105%</a:t>
                      </a:r>
                      <a:endParaRPr lang="en-US" sz="1300" dirty="0">
                        <a:latin typeface="Arial" charset="0"/>
                        <a:ea typeface="Arial" charset="0"/>
                        <a:cs typeface="Arial" charset="0"/>
                      </a:endParaRPr>
                    </a:p>
                  </a:txBody>
                  <a:tcPr marL="91440" marR="91440" marT="45720" marB="45720" anchor="ctr">
                    <a:lnL w="9525" cap="flat" cmpd="sng" algn="ctr">
                      <a:solidFill>
                        <a:srgbClr val="B9AFA8"/>
                      </a:solidFill>
                      <a:prstDash val="solid"/>
                      <a:round/>
                      <a:headEnd type="none" w="med" len="med"/>
                      <a:tailEnd type="none" w="med" len="med"/>
                    </a:lnL>
                    <a:lnR w="9525" cap="flat" cmpd="sng" algn="ctr">
                      <a:solidFill>
                        <a:srgbClr val="B9AFA8"/>
                      </a:solidFill>
                      <a:prstDash val="solid"/>
                      <a:round/>
                      <a:headEnd type="none" w="med" len="med"/>
                      <a:tailEnd type="none" w="med" len="med"/>
                    </a:lnR>
                    <a:lnT w="9525" cap="flat" cmpd="sng" algn="ctr">
                      <a:solidFill>
                        <a:srgbClr val="B9AFA8"/>
                      </a:solidFill>
                      <a:prstDash val="solid"/>
                      <a:round/>
                      <a:headEnd type="none" w="med" len="med"/>
                      <a:tailEnd type="none" w="med" len="med"/>
                    </a:lnT>
                    <a:lnB w="9525" cap="flat" cmpd="sng" algn="ctr">
                      <a:solidFill>
                        <a:srgbClr val="B9AFA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latin typeface="Arial" pitchFamily="34" charset="0"/>
                          <a:ea typeface="Arial" pitchFamily="34" charset="-122"/>
                          <a:cs typeface="Arial" pitchFamily="34" charset="-120"/>
                        </a:rPr>
                        <a:t>72</a:t>
                      </a:r>
                      <a:endParaRPr lang="en-US" sz="1300" dirty="0">
                        <a:latin typeface="Arial" charset="0"/>
                        <a:ea typeface="Arial" charset="0"/>
                        <a:cs typeface="Arial" charset="0"/>
                      </a:endParaRPr>
                    </a:p>
                  </a:txBody>
                  <a:tcPr marL="91440" marR="91440" marT="45720" marB="45720" anchor="ctr">
                    <a:lnL w="9525" cap="flat" cmpd="sng" algn="ctr">
                      <a:solidFill>
                        <a:srgbClr val="B9AFA8"/>
                      </a:solidFill>
                      <a:prstDash val="solid"/>
                      <a:round/>
                      <a:headEnd type="none" w="med" len="med"/>
                      <a:tailEnd type="none" w="med" len="med"/>
                    </a:lnL>
                    <a:lnR w="9525" cap="flat" cmpd="sng" algn="ctr">
                      <a:solidFill>
                        <a:srgbClr val="B9AFA8"/>
                      </a:solidFill>
                      <a:prstDash val="solid"/>
                      <a:round/>
                      <a:headEnd type="none" w="med" len="med"/>
                      <a:tailEnd type="none" w="med" len="med"/>
                    </a:lnR>
                    <a:lnT w="9525" cap="flat" cmpd="sng" algn="ctr">
                      <a:solidFill>
                        <a:srgbClr val="B9AFA8"/>
                      </a:solidFill>
                      <a:prstDash val="solid"/>
                      <a:round/>
                      <a:headEnd type="none" w="med" len="med"/>
                      <a:tailEnd type="none" w="med" len="med"/>
                    </a:lnT>
                    <a:lnB w="9525" cap="flat" cmpd="sng" algn="ctr">
                      <a:solidFill>
                        <a:srgbClr val="B9AFA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latin typeface="Arial" pitchFamily="34" charset="0"/>
                          <a:ea typeface="Arial" pitchFamily="34" charset="-122"/>
                          <a:cs typeface="Arial" pitchFamily="34" charset="-120"/>
                        </a:rPr>
                        <a:t>$5,184</a:t>
                      </a:r>
                      <a:endParaRPr lang="en-US" sz="1300" dirty="0">
                        <a:latin typeface="Arial" charset="0"/>
                        <a:ea typeface="Arial" charset="0"/>
                        <a:cs typeface="Arial" charset="0"/>
                      </a:endParaRPr>
                    </a:p>
                  </a:txBody>
                  <a:tcPr marL="91440" marR="91440" marT="45720" marB="45720" anchor="ctr">
                    <a:lnL w="9525" cap="flat" cmpd="sng" algn="ctr">
                      <a:solidFill>
                        <a:srgbClr val="B9AFA8"/>
                      </a:solidFill>
                      <a:prstDash val="solid"/>
                      <a:round/>
                      <a:headEnd type="none" w="med" len="med"/>
                      <a:tailEnd type="none" w="med" len="med"/>
                    </a:lnL>
                    <a:lnR w="9525" cap="flat" cmpd="sng" algn="ctr">
                      <a:solidFill>
                        <a:srgbClr val="B9AFA8"/>
                      </a:solidFill>
                      <a:prstDash val="solid"/>
                      <a:round/>
                      <a:headEnd type="none" w="med" len="med"/>
                      <a:tailEnd type="none" w="med" len="med"/>
                    </a:lnR>
                    <a:lnT w="9525" cap="flat" cmpd="sng" algn="ctr">
                      <a:solidFill>
                        <a:srgbClr val="B9AFA8"/>
                      </a:solidFill>
                      <a:prstDash val="solid"/>
                      <a:round/>
                      <a:headEnd type="none" w="med" len="med"/>
                      <a:tailEnd type="none" w="med" len="med"/>
                    </a:lnT>
                    <a:lnB w="9525" cap="flat" cmpd="sng" algn="ctr">
                      <a:solidFill>
                        <a:srgbClr val="B9AFA8"/>
                      </a:solidFill>
                      <a:prstDash val="solid"/>
                      <a:round/>
                      <a:headEnd type="none" w="med" len="med"/>
                      <a:tailEnd type="none" w="med" len="med"/>
                    </a:lnB>
                    <a:solidFill>
                      <a:srgbClr val="FFFFFF"/>
                    </a:solidFill>
                  </a:tcPr>
                </a:tc>
              </a:tr>
            </a:tbl>
          </a:graphicData>
        </a:graphic>
      </p:graphicFrame>
      <p:sp>
        <p:nvSpPr>
          <p:cNvPr id="9" name="Text 6"/>
          <p:cNvSpPr txBox="1"/>
          <p:nvPr/>
        </p:nvSpPr>
        <p:spPr>
          <a:xfrm>
            <a:off x="4572000" y="3246120"/>
            <a:ext cx="4114800" cy="411480"/>
          </a:xfrm>
          <a:prstGeom prst="rect">
            <a:avLst/>
          </a:prstGeom>
          <a:noFill/>
          <a:ln/>
        </p:spPr>
        <p:txBody>
          <a:bodyPr wrap="square" lIns="0" tIns="0" rIns="0" bIns="0" rtlCol="0" anchor="ctr"/>
          <a:lstStyle/>
          <a:p>
            <a:pPr indent="0" marL="0">
              <a:buNone/>
            </a:pPr>
            <a:r>
              <a:rPr lang="en-US" sz="1600" b="1" dirty="0">
                <a:solidFill>
                  <a:srgbClr val="4C3629"/>
                </a:solidFill>
                <a:latin typeface="Arial" pitchFamily="34" charset="0"/>
                <a:ea typeface="Arial" pitchFamily="34" charset="-122"/>
                <a:cs typeface="Arial" pitchFamily="34" charset="-120"/>
              </a:rPr>
              <a:t>Best price: $80  →  $5,408 profit</a:t>
            </a:r>
            <a:endParaRPr lang="en-US" sz="1600" dirty="0"/>
          </a:p>
        </p:txBody>
      </p:sp>
      <p:sp>
        <p:nvSpPr>
          <p:cNvPr id="10" name="Text 7"/>
          <p:cNvSpPr txBox="1"/>
          <p:nvPr/>
        </p:nvSpPr>
        <p:spPr>
          <a:xfrm>
            <a:off x="4572000" y="3749040"/>
            <a:ext cx="4114800" cy="731520"/>
          </a:xfrm>
          <a:prstGeom prst="rect">
            <a:avLst/>
          </a:prstGeom>
          <a:noFill/>
          <a:ln/>
        </p:spPr>
        <p:txBody>
          <a:bodyPr wrap="square" lIns="0" tIns="0" rIns="0" bIns="0" rtlCol="0" anchor="ctr"/>
          <a:lstStyle/>
          <a:p>
            <a:pPr indent="0" marL="0">
              <a:buNone/>
            </a:pPr>
            <a:r>
              <a:rPr lang="en-US" sz="1300" dirty="0">
                <a:solidFill>
                  <a:srgbClr val="6B6B6B"/>
                </a:solidFill>
                <a:latin typeface="Arial" pitchFamily="34" charset="0"/>
                <a:ea typeface="Arial" pitchFamily="34" charset="-122"/>
                <a:cs typeface="Arial" pitchFamily="34" charset="-120"/>
              </a:rPr>
              <a:t>Fresh laces is only a nice-to-have here, but it's cheap, so Fit goes to 105%.</a:t>
            </a:r>
            <a:endParaRPr lang="en-US" sz="13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6B6B"/>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4C3629"/>
                </a:solidFill>
                <a:latin typeface="Arial" pitchFamily="34" charset="0"/>
                <a:ea typeface="Arial" pitchFamily="34" charset="-122"/>
                <a:cs typeface="Arial" pitchFamily="34" charset="-120"/>
              </a:rPr>
              <a:t>Version 3: Game Day Rush</a:t>
            </a:r>
            <a:endParaRPr lang="en-US" sz="2800" dirty="0"/>
          </a:p>
        </p:txBody>
      </p:sp>
      <p:sp>
        <p:nvSpPr>
          <p:cNvPr id="3" name="Text 1"/>
          <p:cNvSpPr txBox="1"/>
          <p:nvPr/>
        </p:nvSpPr>
        <p:spPr>
          <a:xfrm>
            <a:off x="457200" y="914400"/>
            <a:ext cx="4572000" cy="320040"/>
          </a:xfrm>
          <a:prstGeom prst="rect">
            <a:avLst/>
          </a:prstGeom>
          <a:noFill/>
          <a:ln/>
        </p:spPr>
        <p:txBody>
          <a:bodyPr wrap="square" lIns="0" tIns="0" rIns="0" bIns="0" rtlCol="0" anchor="ctr"/>
          <a:lstStyle/>
          <a:p>
            <a:pPr indent="0" marL="0">
              <a:buNone/>
            </a:pPr>
            <a:r>
              <a:rPr lang="en-US" sz="1400" b="1" dirty="0">
                <a:solidFill>
                  <a:srgbClr val="E26F39"/>
                </a:solidFill>
                <a:latin typeface="Arial" pitchFamily="34" charset="0"/>
                <a:ea typeface="Arial" pitchFamily="34" charset="-122"/>
                <a:cs typeface="Arial" pitchFamily="34" charset="-120"/>
              </a:rPr>
              <a:t>For the Team Athletes</a:t>
            </a:r>
            <a:endParaRPr lang="en-US" sz="1400" dirty="0"/>
          </a:p>
        </p:txBody>
      </p:sp>
      <p:sp>
        <p:nvSpPr>
          <p:cNvPr id="4" name="Shape 2"/>
          <p:cNvSpPr/>
          <p:nvPr/>
        </p:nvSpPr>
        <p:spPr>
          <a:xfrm>
            <a:off x="457200" y="1325880"/>
            <a:ext cx="3840480" cy="3246120"/>
          </a:xfrm>
          <a:prstGeom prst="roundRect">
            <a:avLst>
              <a:gd name="adj" fmla="val 2254"/>
            </a:avLst>
          </a:prstGeom>
          <a:solidFill>
            <a:srgbClr val="FBF3EC"/>
          </a:solidFill>
          <a:ln w="12700">
            <a:solidFill>
              <a:srgbClr val="EFE4DA"/>
            </a:solidFill>
            <a:prstDash val="solid"/>
          </a:ln>
        </p:spPr>
      </p:sp>
      <p:sp>
        <p:nvSpPr>
          <p:cNvPr id="5" name="Text 3"/>
          <p:cNvSpPr txBox="1"/>
          <p:nvPr/>
        </p:nvSpPr>
        <p:spPr>
          <a:xfrm>
            <a:off x="640080" y="1417320"/>
            <a:ext cx="3474720" cy="320040"/>
          </a:xfrm>
          <a:prstGeom prst="rect">
            <a:avLst/>
          </a:prstGeom>
          <a:noFill/>
          <a:ln/>
        </p:spPr>
        <p:txBody>
          <a:bodyPr wrap="square" lIns="0" tIns="0" rIns="0" bIns="0" rtlCol="0" anchor="ctr"/>
          <a:lstStyle/>
          <a:p>
            <a:pPr indent="0" marL="0">
              <a:buNone/>
            </a:pPr>
            <a:r>
              <a:rPr lang="en-US" sz="1300" b="1" dirty="0">
                <a:solidFill>
                  <a:srgbClr val="4C3629"/>
                </a:solidFill>
                <a:latin typeface="Arial" pitchFamily="34" charset="0"/>
                <a:ea typeface="Arial" pitchFamily="34" charset="-122"/>
                <a:cs typeface="Arial" pitchFamily="34" charset="-120"/>
              </a:rPr>
              <a:t>Features</a:t>
            </a:r>
            <a:endParaRPr lang="en-US" sz="1300" dirty="0"/>
          </a:p>
        </p:txBody>
      </p:sp>
      <p:sp>
        <p:nvSpPr>
          <p:cNvPr id="6" name="Text 4"/>
          <p:cNvSpPr txBox="1"/>
          <p:nvPr/>
        </p:nvSpPr>
        <p:spPr>
          <a:xfrm>
            <a:off x="640080" y="1828800"/>
            <a:ext cx="3474720" cy="18288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222222"/>
                </a:solidFill>
                <a:latin typeface="Arial" pitchFamily="34" charset="0"/>
                <a:ea typeface="Arial" pitchFamily="34" charset="-122"/>
                <a:cs typeface="Arial" pitchFamily="34" charset="-120"/>
              </a:rPr>
              <a:t>Deep clean  $3  (must)</a:t>
            </a:r>
            <a:endParaRPr lang="en-US" sz="1500" dirty="0"/>
          </a:p>
          <a:p>
            <a:pPr marL="342900" indent="-342900">
              <a:spcAft>
                <a:spcPts val="1000"/>
              </a:spcAft>
              <a:buSzPct val="100000"/>
              <a:buChar char="•"/>
            </a:pPr>
            <a:r>
              <a:rPr lang="en-US" sz="1500" dirty="0">
                <a:solidFill>
                  <a:srgbClr val="222222"/>
                </a:solidFill>
                <a:latin typeface="Arial" pitchFamily="34" charset="0"/>
                <a:ea typeface="Arial" pitchFamily="34" charset="-122"/>
                <a:cs typeface="Arial" pitchFamily="34" charset="-120"/>
              </a:rPr>
              <a:t>Waterproof coating  $3  (must)</a:t>
            </a:r>
            <a:endParaRPr lang="en-US" sz="1500" dirty="0"/>
          </a:p>
          <a:p>
            <a:pPr marL="342900" indent="-342900">
              <a:spcAft>
                <a:spcPts val="1000"/>
              </a:spcAft>
              <a:buSzPct val="100000"/>
              <a:buChar char="•"/>
            </a:pPr>
            <a:r>
              <a:rPr lang="en-US" sz="1500" dirty="0">
                <a:solidFill>
                  <a:srgbClr val="222222"/>
                </a:solidFill>
                <a:latin typeface="Arial" pitchFamily="34" charset="0"/>
                <a:ea typeface="Arial" pitchFamily="34" charset="-122"/>
                <a:cs typeface="Arial" pitchFamily="34" charset="-120"/>
              </a:rPr>
              <a:t>48-hour rush  $5  (must)</a:t>
            </a:r>
            <a:endParaRPr lang="en-US" sz="1500" dirty="0"/>
          </a:p>
        </p:txBody>
      </p:sp>
      <p:sp>
        <p:nvSpPr>
          <p:cNvPr id="7" name="Text 5"/>
          <p:cNvSpPr txBox="1"/>
          <p:nvPr/>
        </p:nvSpPr>
        <p:spPr>
          <a:xfrm>
            <a:off x="640080" y="3840480"/>
            <a:ext cx="3566160" cy="548640"/>
          </a:xfrm>
          <a:prstGeom prst="rect">
            <a:avLst/>
          </a:prstGeom>
          <a:noFill/>
          <a:ln/>
        </p:spPr>
        <p:txBody>
          <a:bodyPr wrap="square" lIns="0" tIns="0" rIns="0" bIns="0" rtlCol="0" anchor="ctr"/>
          <a:lstStyle/>
          <a:p>
            <a:pPr indent="0" marL="0">
              <a:buNone/>
            </a:pPr>
            <a:r>
              <a:rPr lang="en-US" sz="1300" b="1" dirty="0">
                <a:solidFill>
                  <a:srgbClr val="4C3629"/>
                </a:solidFill>
                <a:latin typeface="Arial" pitchFamily="34" charset="0"/>
                <a:ea typeface="Arial" pitchFamily="34" charset="-122"/>
                <a:cs typeface="Arial" pitchFamily="34" charset="-120"/>
              </a:rPr>
              <a:t>Unit cost: $5 base + features = $16</a:t>
            </a:r>
            <a:endParaRPr lang="en-US" sz="13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0" y="1325880"/>
          <a:ext cx="4114800" cy="914400"/>
        </p:xfrm>
        <a:graphic>
          <a:graphicData uri="http://schemas.openxmlformats.org/drawingml/2006/table">
            <a:tbl>
              <a:tblPr/>
              <a:tblGrid>
                <a:gridCol w="777240"/>
                <a:gridCol w="731520"/>
                <a:gridCol w="685800"/>
                <a:gridCol w="822960"/>
                <a:gridCol w="1097280"/>
              </a:tblGrid>
              <a:tr h="411480">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Price</a:t>
                      </a:r>
                      <a:endParaRPr lang="en-US" sz="1300" dirty="0">
                        <a:latin typeface="Arial" charset="0"/>
                        <a:ea typeface="Arial" charset="0"/>
                        <a:cs typeface="Arial" charset="0"/>
                      </a:endParaRPr>
                    </a:p>
                  </a:txBody>
                  <a:tcPr marL="91440" marR="91440" marT="45720" marB="45720" anchor="ctr">
                    <a:lnL w="9525" cap="flat" cmpd="sng" algn="ctr">
                      <a:solidFill>
                        <a:srgbClr val="B9AFA8"/>
                      </a:solidFill>
                      <a:prstDash val="solid"/>
                      <a:round/>
                      <a:headEnd type="none" w="med" len="med"/>
                      <a:tailEnd type="none" w="med" len="med"/>
                    </a:lnL>
                    <a:lnR w="9525" cap="flat" cmpd="sng" algn="ctr">
                      <a:solidFill>
                        <a:srgbClr val="B9AFA8"/>
                      </a:solidFill>
                      <a:prstDash val="solid"/>
                      <a:round/>
                      <a:headEnd type="none" w="med" len="med"/>
                      <a:tailEnd type="none" w="med" len="med"/>
                    </a:lnR>
                    <a:lnT w="9525" cap="flat" cmpd="sng" algn="ctr">
                      <a:solidFill>
                        <a:srgbClr val="B9AFA8"/>
                      </a:solidFill>
                      <a:prstDash val="solid"/>
                      <a:round/>
                      <a:headEnd type="none" w="med" len="med"/>
                      <a:tailEnd type="none" w="med" len="med"/>
                    </a:lnT>
                    <a:lnB w="9525" cap="flat" cmpd="sng" algn="ctr">
                      <a:solidFill>
                        <a:srgbClr val="B9AFA8"/>
                      </a:solidFill>
                      <a:prstDash val="solid"/>
                      <a:round/>
                      <a:headEnd type="none" w="med" len="med"/>
                      <a:tailEnd type="none" w="med" len="med"/>
                    </a:lnB>
                    <a:solidFill>
                      <a:srgbClr val="4C3629"/>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 buy</a:t>
                      </a:r>
                      <a:endParaRPr lang="en-US" sz="1300" dirty="0">
                        <a:latin typeface="Arial" charset="0"/>
                        <a:ea typeface="Arial" charset="0"/>
                        <a:cs typeface="Arial" charset="0"/>
                      </a:endParaRPr>
                    </a:p>
                  </a:txBody>
                  <a:tcPr marL="91440" marR="91440" marT="45720" marB="45720" anchor="ctr">
                    <a:lnL w="9525" cap="flat" cmpd="sng" algn="ctr">
                      <a:solidFill>
                        <a:srgbClr val="B9AFA8"/>
                      </a:solidFill>
                      <a:prstDash val="solid"/>
                      <a:round/>
                      <a:headEnd type="none" w="med" len="med"/>
                      <a:tailEnd type="none" w="med" len="med"/>
                    </a:lnL>
                    <a:lnR w="9525" cap="flat" cmpd="sng" algn="ctr">
                      <a:solidFill>
                        <a:srgbClr val="B9AFA8"/>
                      </a:solidFill>
                      <a:prstDash val="solid"/>
                      <a:round/>
                      <a:headEnd type="none" w="med" len="med"/>
                      <a:tailEnd type="none" w="med" len="med"/>
                    </a:lnR>
                    <a:lnT w="9525" cap="flat" cmpd="sng" algn="ctr">
                      <a:solidFill>
                        <a:srgbClr val="B9AFA8"/>
                      </a:solidFill>
                      <a:prstDash val="solid"/>
                      <a:round/>
                      <a:headEnd type="none" w="med" len="med"/>
                      <a:tailEnd type="none" w="med" len="med"/>
                    </a:lnT>
                    <a:lnB w="9525" cap="flat" cmpd="sng" algn="ctr">
                      <a:solidFill>
                        <a:srgbClr val="B9AFA8"/>
                      </a:solidFill>
                      <a:prstDash val="solid"/>
                      <a:round/>
                      <a:headEnd type="none" w="med" len="med"/>
                      <a:tailEnd type="none" w="med" len="med"/>
                    </a:lnB>
                    <a:solidFill>
                      <a:srgbClr val="4C3629"/>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Fit</a:t>
                      </a:r>
                      <a:endParaRPr lang="en-US" sz="1300" dirty="0">
                        <a:latin typeface="Arial" charset="0"/>
                        <a:ea typeface="Arial" charset="0"/>
                        <a:cs typeface="Arial" charset="0"/>
                      </a:endParaRPr>
                    </a:p>
                  </a:txBody>
                  <a:tcPr marL="91440" marR="91440" marT="45720" marB="45720" anchor="ctr">
                    <a:lnL w="9525" cap="flat" cmpd="sng" algn="ctr">
                      <a:solidFill>
                        <a:srgbClr val="B9AFA8"/>
                      </a:solidFill>
                      <a:prstDash val="solid"/>
                      <a:round/>
                      <a:headEnd type="none" w="med" len="med"/>
                      <a:tailEnd type="none" w="med" len="med"/>
                    </a:lnL>
                    <a:lnR w="9525" cap="flat" cmpd="sng" algn="ctr">
                      <a:solidFill>
                        <a:srgbClr val="B9AFA8"/>
                      </a:solidFill>
                      <a:prstDash val="solid"/>
                      <a:round/>
                      <a:headEnd type="none" w="med" len="med"/>
                      <a:tailEnd type="none" w="med" len="med"/>
                    </a:lnR>
                    <a:lnT w="9525" cap="flat" cmpd="sng" algn="ctr">
                      <a:solidFill>
                        <a:srgbClr val="B9AFA8"/>
                      </a:solidFill>
                      <a:prstDash val="solid"/>
                      <a:round/>
                      <a:headEnd type="none" w="med" len="med"/>
                      <a:tailEnd type="none" w="med" len="med"/>
                    </a:lnT>
                    <a:lnB w="9525" cap="flat" cmpd="sng" algn="ctr">
                      <a:solidFill>
                        <a:srgbClr val="B9AFA8"/>
                      </a:solidFill>
                      <a:prstDash val="solid"/>
                      <a:round/>
                      <a:headEnd type="none" w="med" len="med"/>
                      <a:tailEnd type="none" w="med" len="med"/>
                    </a:lnB>
                    <a:solidFill>
                      <a:srgbClr val="4C3629"/>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Buyers</a:t>
                      </a:r>
                      <a:endParaRPr lang="en-US" sz="1300" dirty="0">
                        <a:latin typeface="Arial" charset="0"/>
                        <a:ea typeface="Arial" charset="0"/>
                        <a:cs typeface="Arial" charset="0"/>
                      </a:endParaRPr>
                    </a:p>
                  </a:txBody>
                  <a:tcPr marL="91440" marR="91440" marT="45720" marB="45720" anchor="ctr">
                    <a:lnL w="9525" cap="flat" cmpd="sng" algn="ctr">
                      <a:solidFill>
                        <a:srgbClr val="B9AFA8"/>
                      </a:solidFill>
                      <a:prstDash val="solid"/>
                      <a:round/>
                      <a:headEnd type="none" w="med" len="med"/>
                      <a:tailEnd type="none" w="med" len="med"/>
                    </a:lnL>
                    <a:lnR w="9525" cap="flat" cmpd="sng" algn="ctr">
                      <a:solidFill>
                        <a:srgbClr val="B9AFA8"/>
                      </a:solidFill>
                      <a:prstDash val="solid"/>
                      <a:round/>
                      <a:headEnd type="none" w="med" len="med"/>
                      <a:tailEnd type="none" w="med" len="med"/>
                    </a:lnR>
                    <a:lnT w="9525" cap="flat" cmpd="sng" algn="ctr">
                      <a:solidFill>
                        <a:srgbClr val="B9AFA8"/>
                      </a:solidFill>
                      <a:prstDash val="solid"/>
                      <a:round/>
                      <a:headEnd type="none" w="med" len="med"/>
                      <a:tailEnd type="none" w="med" len="med"/>
                    </a:lnT>
                    <a:lnB w="9525" cap="flat" cmpd="sng" algn="ctr">
                      <a:solidFill>
                        <a:srgbClr val="B9AFA8"/>
                      </a:solidFill>
                      <a:prstDash val="solid"/>
                      <a:round/>
                      <a:headEnd type="none" w="med" len="med"/>
                      <a:tailEnd type="none" w="med" len="med"/>
                    </a:lnB>
                    <a:solidFill>
                      <a:srgbClr val="4C3629"/>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Profit</a:t>
                      </a:r>
                      <a:endParaRPr lang="en-US" sz="1300" dirty="0">
                        <a:latin typeface="Arial" charset="0"/>
                        <a:ea typeface="Arial" charset="0"/>
                        <a:cs typeface="Arial" charset="0"/>
                      </a:endParaRPr>
                    </a:p>
                  </a:txBody>
                  <a:tcPr marL="91440" marR="91440" marT="45720" marB="45720" anchor="ctr">
                    <a:lnL w="9525" cap="flat" cmpd="sng" algn="ctr">
                      <a:solidFill>
                        <a:srgbClr val="B9AFA8"/>
                      </a:solidFill>
                      <a:prstDash val="solid"/>
                      <a:round/>
                      <a:headEnd type="none" w="med" len="med"/>
                      <a:tailEnd type="none" w="med" len="med"/>
                    </a:lnL>
                    <a:lnR w="9525" cap="flat" cmpd="sng" algn="ctr">
                      <a:solidFill>
                        <a:srgbClr val="B9AFA8"/>
                      </a:solidFill>
                      <a:prstDash val="solid"/>
                      <a:round/>
                      <a:headEnd type="none" w="med" len="med"/>
                      <a:tailEnd type="none" w="med" len="med"/>
                    </a:lnR>
                    <a:lnT w="9525" cap="flat" cmpd="sng" algn="ctr">
                      <a:solidFill>
                        <a:srgbClr val="B9AFA8"/>
                      </a:solidFill>
                      <a:prstDash val="solid"/>
                      <a:round/>
                      <a:headEnd type="none" w="med" len="med"/>
                      <a:tailEnd type="none" w="med" len="med"/>
                    </a:lnT>
                    <a:lnB w="9525" cap="flat" cmpd="sng" algn="ctr">
                      <a:solidFill>
                        <a:srgbClr val="B9AFA8"/>
                      </a:solidFill>
                      <a:prstDash val="solid"/>
                      <a:round/>
                      <a:headEnd type="none" w="med" len="med"/>
                      <a:tailEnd type="none" w="med" len="med"/>
                    </a:lnB>
                    <a:solidFill>
                      <a:srgbClr val="4C3629"/>
                    </a:solidFill>
                  </a:tcPr>
                </a:tc>
              </a:tr>
              <a:tr h="411480">
                <a:tc>
                  <a:txBody>
                    <a:bodyPr/>
                    <a:lstStyle/>
                    <a:p>
                      <a:pPr algn="ctr" indent="0" marL="0">
                        <a:buNone/>
                      </a:pPr>
                      <a:r>
                        <a:rPr lang="en-US" sz="1300" dirty="0">
                          <a:solidFill>
                            <a:srgbClr val="222222"/>
                          </a:solidFill>
                          <a:latin typeface="Arial" pitchFamily="34" charset="0"/>
                          <a:ea typeface="Arial" pitchFamily="34" charset="-122"/>
                          <a:cs typeface="Arial" pitchFamily="34" charset="-120"/>
                        </a:rPr>
                        <a:t>$30</a:t>
                      </a:r>
                      <a:endParaRPr lang="en-US" sz="1300" dirty="0">
                        <a:latin typeface="Arial" charset="0"/>
                        <a:ea typeface="Arial" charset="0"/>
                        <a:cs typeface="Arial" charset="0"/>
                      </a:endParaRPr>
                    </a:p>
                  </a:txBody>
                  <a:tcPr marL="91440" marR="91440" marT="45720" marB="45720" anchor="ctr">
                    <a:lnL w="9525" cap="flat" cmpd="sng" algn="ctr">
                      <a:solidFill>
                        <a:srgbClr val="B9AFA8"/>
                      </a:solidFill>
                      <a:prstDash val="solid"/>
                      <a:round/>
                      <a:headEnd type="none" w="med" len="med"/>
                      <a:tailEnd type="none" w="med" len="med"/>
                    </a:lnL>
                    <a:lnR w="9525" cap="flat" cmpd="sng" algn="ctr">
                      <a:solidFill>
                        <a:srgbClr val="B9AFA8"/>
                      </a:solidFill>
                      <a:prstDash val="solid"/>
                      <a:round/>
                      <a:headEnd type="none" w="med" len="med"/>
                      <a:tailEnd type="none" w="med" len="med"/>
                    </a:lnR>
                    <a:lnT w="9525" cap="flat" cmpd="sng" algn="ctr">
                      <a:solidFill>
                        <a:srgbClr val="B9AFA8"/>
                      </a:solidFill>
                      <a:prstDash val="solid"/>
                      <a:round/>
                      <a:headEnd type="none" w="med" len="med"/>
                      <a:tailEnd type="none" w="med" len="med"/>
                    </a:lnT>
                    <a:lnB w="9525" cap="flat" cmpd="sng" algn="ctr">
                      <a:solidFill>
                        <a:srgbClr val="B9AFA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latin typeface="Arial" pitchFamily="34" charset="0"/>
                          <a:ea typeface="Arial" pitchFamily="34" charset="-122"/>
                          <a:cs typeface="Arial" pitchFamily="34" charset="-120"/>
                        </a:rPr>
                        <a:t>75%</a:t>
                      </a:r>
                      <a:endParaRPr lang="en-US" sz="1300" dirty="0">
                        <a:latin typeface="Arial" charset="0"/>
                        <a:ea typeface="Arial" charset="0"/>
                        <a:cs typeface="Arial" charset="0"/>
                      </a:endParaRPr>
                    </a:p>
                  </a:txBody>
                  <a:tcPr marL="91440" marR="91440" marT="45720" marB="45720" anchor="ctr">
                    <a:lnL w="9525" cap="flat" cmpd="sng" algn="ctr">
                      <a:solidFill>
                        <a:srgbClr val="B9AFA8"/>
                      </a:solidFill>
                      <a:prstDash val="solid"/>
                      <a:round/>
                      <a:headEnd type="none" w="med" len="med"/>
                      <a:tailEnd type="none" w="med" len="med"/>
                    </a:lnL>
                    <a:lnR w="9525" cap="flat" cmpd="sng" algn="ctr">
                      <a:solidFill>
                        <a:srgbClr val="B9AFA8"/>
                      </a:solidFill>
                      <a:prstDash val="solid"/>
                      <a:round/>
                      <a:headEnd type="none" w="med" len="med"/>
                      <a:tailEnd type="none" w="med" len="med"/>
                    </a:lnR>
                    <a:lnT w="9525" cap="flat" cmpd="sng" algn="ctr">
                      <a:solidFill>
                        <a:srgbClr val="B9AFA8"/>
                      </a:solidFill>
                      <a:prstDash val="solid"/>
                      <a:round/>
                      <a:headEnd type="none" w="med" len="med"/>
                      <a:tailEnd type="none" w="med" len="med"/>
                    </a:lnT>
                    <a:lnB w="9525" cap="flat" cmpd="sng" algn="ctr">
                      <a:solidFill>
                        <a:srgbClr val="B9AFA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latin typeface="Arial" pitchFamily="34" charset="0"/>
                          <a:ea typeface="Arial" pitchFamily="34" charset="-122"/>
                          <a:cs typeface="Arial" pitchFamily="34" charset="-120"/>
                        </a:rPr>
                        <a:t>100%</a:t>
                      </a:r>
                      <a:endParaRPr lang="en-US" sz="1300" dirty="0">
                        <a:latin typeface="Arial" charset="0"/>
                        <a:ea typeface="Arial" charset="0"/>
                        <a:cs typeface="Arial" charset="0"/>
                      </a:endParaRPr>
                    </a:p>
                  </a:txBody>
                  <a:tcPr marL="91440" marR="91440" marT="45720" marB="45720" anchor="ctr">
                    <a:lnL w="9525" cap="flat" cmpd="sng" algn="ctr">
                      <a:solidFill>
                        <a:srgbClr val="B9AFA8"/>
                      </a:solidFill>
                      <a:prstDash val="solid"/>
                      <a:round/>
                      <a:headEnd type="none" w="med" len="med"/>
                      <a:tailEnd type="none" w="med" len="med"/>
                    </a:lnL>
                    <a:lnR w="9525" cap="flat" cmpd="sng" algn="ctr">
                      <a:solidFill>
                        <a:srgbClr val="B9AFA8"/>
                      </a:solidFill>
                      <a:prstDash val="solid"/>
                      <a:round/>
                      <a:headEnd type="none" w="med" len="med"/>
                      <a:tailEnd type="none" w="med" len="med"/>
                    </a:lnR>
                    <a:lnT w="9525" cap="flat" cmpd="sng" algn="ctr">
                      <a:solidFill>
                        <a:srgbClr val="B9AFA8"/>
                      </a:solidFill>
                      <a:prstDash val="solid"/>
                      <a:round/>
                      <a:headEnd type="none" w="med" len="med"/>
                      <a:tailEnd type="none" w="med" len="med"/>
                    </a:lnT>
                    <a:lnB w="9525" cap="flat" cmpd="sng" algn="ctr">
                      <a:solidFill>
                        <a:srgbClr val="B9AFA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latin typeface="Arial" pitchFamily="34" charset="0"/>
                          <a:ea typeface="Arial" pitchFamily="34" charset="-122"/>
                          <a:cs typeface="Arial" pitchFamily="34" charset="-120"/>
                        </a:rPr>
                        <a:t>225</a:t>
                      </a:r>
                      <a:endParaRPr lang="en-US" sz="1300" dirty="0">
                        <a:latin typeface="Arial" charset="0"/>
                        <a:ea typeface="Arial" charset="0"/>
                        <a:cs typeface="Arial" charset="0"/>
                      </a:endParaRPr>
                    </a:p>
                  </a:txBody>
                  <a:tcPr marL="91440" marR="91440" marT="45720" marB="45720" anchor="ctr">
                    <a:lnL w="9525" cap="flat" cmpd="sng" algn="ctr">
                      <a:solidFill>
                        <a:srgbClr val="B9AFA8"/>
                      </a:solidFill>
                      <a:prstDash val="solid"/>
                      <a:round/>
                      <a:headEnd type="none" w="med" len="med"/>
                      <a:tailEnd type="none" w="med" len="med"/>
                    </a:lnL>
                    <a:lnR w="9525" cap="flat" cmpd="sng" algn="ctr">
                      <a:solidFill>
                        <a:srgbClr val="B9AFA8"/>
                      </a:solidFill>
                      <a:prstDash val="solid"/>
                      <a:round/>
                      <a:headEnd type="none" w="med" len="med"/>
                      <a:tailEnd type="none" w="med" len="med"/>
                    </a:lnR>
                    <a:lnT w="9525" cap="flat" cmpd="sng" algn="ctr">
                      <a:solidFill>
                        <a:srgbClr val="B9AFA8"/>
                      </a:solidFill>
                      <a:prstDash val="solid"/>
                      <a:round/>
                      <a:headEnd type="none" w="med" len="med"/>
                      <a:tailEnd type="none" w="med" len="med"/>
                    </a:lnT>
                    <a:lnB w="9525" cap="flat" cmpd="sng" algn="ctr">
                      <a:solidFill>
                        <a:srgbClr val="B9AFA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latin typeface="Arial" pitchFamily="34" charset="0"/>
                          <a:ea typeface="Arial" pitchFamily="34" charset="-122"/>
                          <a:cs typeface="Arial" pitchFamily="34" charset="-120"/>
                        </a:rPr>
                        <a:t>$3,150</a:t>
                      </a:r>
                      <a:endParaRPr lang="en-US" sz="1300" dirty="0">
                        <a:latin typeface="Arial" charset="0"/>
                        <a:ea typeface="Arial" charset="0"/>
                        <a:cs typeface="Arial" charset="0"/>
                      </a:endParaRPr>
                    </a:p>
                  </a:txBody>
                  <a:tcPr marL="91440" marR="91440" marT="45720" marB="45720" anchor="ctr">
                    <a:lnL w="9525" cap="flat" cmpd="sng" algn="ctr">
                      <a:solidFill>
                        <a:srgbClr val="B9AFA8"/>
                      </a:solidFill>
                      <a:prstDash val="solid"/>
                      <a:round/>
                      <a:headEnd type="none" w="med" len="med"/>
                      <a:tailEnd type="none" w="med" len="med"/>
                    </a:lnL>
                    <a:lnR w="9525" cap="flat" cmpd="sng" algn="ctr">
                      <a:solidFill>
                        <a:srgbClr val="B9AFA8"/>
                      </a:solidFill>
                      <a:prstDash val="solid"/>
                      <a:round/>
                      <a:headEnd type="none" w="med" len="med"/>
                      <a:tailEnd type="none" w="med" len="med"/>
                    </a:lnR>
                    <a:lnT w="9525" cap="flat" cmpd="sng" algn="ctr">
                      <a:solidFill>
                        <a:srgbClr val="B9AFA8"/>
                      </a:solidFill>
                      <a:prstDash val="solid"/>
                      <a:round/>
                      <a:headEnd type="none" w="med" len="med"/>
                      <a:tailEnd type="none" w="med" len="med"/>
                    </a:lnT>
                    <a:lnB w="9525" cap="flat" cmpd="sng" algn="ctr">
                      <a:solidFill>
                        <a:srgbClr val="B9AFA8"/>
                      </a:solidFill>
                      <a:prstDash val="solid"/>
                      <a:round/>
                      <a:headEnd type="none" w="med" len="med"/>
                      <a:tailEnd type="none" w="med" len="med"/>
                    </a:lnB>
                    <a:solidFill>
                      <a:srgbClr val="FFFFFF"/>
                    </a:solidFill>
                  </a:tcPr>
                </a:tc>
              </a:tr>
              <a:tr h="411480">
                <a:tc>
                  <a:txBody>
                    <a:bodyPr/>
                    <a:lstStyle/>
                    <a:p>
                      <a:pPr algn="ctr" indent="0" marL="0">
                        <a:buNone/>
                      </a:pPr>
                      <a:r>
                        <a:rPr lang="en-US" sz="1300" b="1" dirty="0">
                          <a:solidFill>
                            <a:srgbClr val="222222"/>
                          </a:solidFill>
                          <a:latin typeface="Arial" pitchFamily="34" charset="0"/>
                          <a:ea typeface="Arial" pitchFamily="34" charset="-122"/>
                          <a:cs typeface="Arial" pitchFamily="34" charset="-120"/>
                        </a:rPr>
                        <a:t>$45</a:t>
                      </a:r>
                      <a:endParaRPr lang="en-US" sz="1300" dirty="0">
                        <a:latin typeface="Arial" charset="0"/>
                        <a:ea typeface="Arial" charset="0"/>
                        <a:cs typeface="Arial" charset="0"/>
                      </a:endParaRPr>
                    </a:p>
                  </a:txBody>
                  <a:tcPr marL="91440" marR="91440" marT="45720" marB="45720" anchor="ctr">
                    <a:lnL w="9525" cap="flat" cmpd="sng" algn="ctr">
                      <a:solidFill>
                        <a:srgbClr val="B9AFA8"/>
                      </a:solidFill>
                      <a:prstDash val="solid"/>
                      <a:round/>
                      <a:headEnd type="none" w="med" len="med"/>
                      <a:tailEnd type="none" w="med" len="med"/>
                    </a:lnL>
                    <a:lnR w="9525" cap="flat" cmpd="sng" algn="ctr">
                      <a:solidFill>
                        <a:srgbClr val="B9AFA8"/>
                      </a:solidFill>
                      <a:prstDash val="solid"/>
                      <a:round/>
                      <a:headEnd type="none" w="med" len="med"/>
                      <a:tailEnd type="none" w="med" len="med"/>
                    </a:lnR>
                    <a:lnT w="9525" cap="flat" cmpd="sng" algn="ctr">
                      <a:solidFill>
                        <a:srgbClr val="B9AFA8"/>
                      </a:solidFill>
                      <a:prstDash val="solid"/>
                      <a:round/>
                      <a:headEnd type="none" w="med" len="med"/>
                      <a:tailEnd type="none" w="med" len="med"/>
                    </a:lnT>
                    <a:lnB w="9525" cap="flat" cmpd="sng" algn="ctr">
                      <a:solidFill>
                        <a:srgbClr val="B9AFA8"/>
                      </a:solidFill>
                      <a:prstDash val="solid"/>
                      <a:round/>
                      <a:headEnd type="none" w="med" len="med"/>
                      <a:tailEnd type="none" w="med" len="med"/>
                    </a:lnB>
                    <a:solidFill>
                      <a:srgbClr val="F2955F"/>
                    </a:solidFill>
                  </a:tcPr>
                </a:tc>
                <a:tc>
                  <a:txBody>
                    <a:bodyPr/>
                    <a:lstStyle/>
                    <a:p>
                      <a:pPr algn="ctr" indent="0" marL="0">
                        <a:buNone/>
                      </a:pPr>
                      <a:r>
                        <a:rPr lang="en-US" sz="1300" b="1" dirty="0">
                          <a:solidFill>
                            <a:srgbClr val="222222"/>
                          </a:solidFill>
                          <a:latin typeface="Arial" pitchFamily="34" charset="0"/>
                          <a:ea typeface="Arial" pitchFamily="34" charset="-122"/>
                          <a:cs typeface="Arial" pitchFamily="34" charset="-120"/>
                        </a:rPr>
                        <a:t>46%</a:t>
                      </a:r>
                      <a:endParaRPr lang="en-US" sz="1300" dirty="0">
                        <a:latin typeface="Arial" charset="0"/>
                        <a:ea typeface="Arial" charset="0"/>
                        <a:cs typeface="Arial" charset="0"/>
                      </a:endParaRPr>
                    </a:p>
                  </a:txBody>
                  <a:tcPr marL="91440" marR="91440" marT="45720" marB="45720" anchor="ctr">
                    <a:lnL w="9525" cap="flat" cmpd="sng" algn="ctr">
                      <a:solidFill>
                        <a:srgbClr val="B9AFA8"/>
                      </a:solidFill>
                      <a:prstDash val="solid"/>
                      <a:round/>
                      <a:headEnd type="none" w="med" len="med"/>
                      <a:tailEnd type="none" w="med" len="med"/>
                    </a:lnL>
                    <a:lnR w="9525" cap="flat" cmpd="sng" algn="ctr">
                      <a:solidFill>
                        <a:srgbClr val="B9AFA8"/>
                      </a:solidFill>
                      <a:prstDash val="solid"/>
                      <a:round/>
                      <a:headEnd type="none" w="med" len="med"/>
                      <a:tailEnd type="none" w="med" len="med"/>
                    </a:lnR>
                    <a:lnT w="9525" cap="flat" cmpd="sng" algn="ctr">
                      <a:solidFill>
                        <a:srgbClr val="B9AFA8"/>
                      </a:solidFill>
                      <a:prstDash val="solid"/>
                      <a:round/>
                      <a:headEnd type="none" w="med" len="med"/>
                      <a:tailEnd type="none" w="med" len="med"/>
                    </a:lnT>
                    <a:lnB w="9525" cap="flat" cmpd="sng" algn="ctr">
                      <a:solidFill>
                        <a:srgbClr val="B9AFA8"/>
                      </a:solidFill>
                      <a:prstDash val="solid"/>
                      <a:round/>
                      <a:headEnd type="none" w="med" len="med"/>
                      <a:tailEnd type="none" w="med" len="med"/>
                    </a:lnB>
                    <a:solidFill>
                      <a:srgbClr val="F2955F"/>
                    </a:solidFill>
                  </a:tcPr>
                </a:tc>
                <a:tc>
                  <a:txBody>
                    <a:bodyPr/>
                    <a:lstStyle/>
                    <a:p>
                      <a:pPr algn="ctr" indent="0" marL="0">
                        <a:buNone/>
                      </a:pPr>
                      <a:r>
                        <a:rPr lang="en-US" sz="1300" b="1" dirty="0">
                          <a:solidFill>
                            <a:srgbClr val="222222"/>
                          </a:solidFill>
                          <a:latin typeface="Arial" pitchFamily="34" charset="0"/>
                          <a:ea typeface="Arial" pitchFamily="34" charset="-122"/>
                          <a:cs typeface="Arial" pitchFamily="34" charset="-120"/>
                        </a:rPr>
                        <a:t>100%</a:t>
                      </a:r>
                      <a:endParaRPr lang="en-US" sz="1300" dirty="0">
                        <a:latin typeface="Arial" charset="0"/>
                        <a:ea typeface="Arial" charset="0"/>
                        <a:cs typeface="Arial" charset="0"/>
                      </a:endParaRPr>
                    </a:p>
                  </a:txBody>
                  <a:tcPr marL="91440" marR="91440" marT="45720" marB="45720" anchor="ctr">
                    <a:lnL w="9525" cap="flat" cmpd="sng" algn="ctr">
                      <a:solidFill>
                        <a:srgbClr val="B9AFA8"/>
                      </a:solidFill>
                      <a:prstDash val="solid"/>
                      <a:round/>
                      <a:headEnd type="none" w="med" len="med"/>
                      <a:tailEnd type="none" w="med" len="med"/>
                    </a:lnL>
                    <a:lnR w="9525" cap="flat" cmpd="sng" algn="ctr">
                      <a:solidFill>
                        <a:srgbClr val="B9AFA8"/>
                      </a:solidFill>
                      <a:prstDash val="solid"/>
                      <a:round/>
                      <a:headEnd type="none" w="med" len="med"/>
                      <a:tailEnd type="none" w="med" len="med"/>
                    </a:lnR>
                    <a:lnT w="9525" cap="flat" cmpd="sng" algn="ctr">
                      <a:solidFill>
                        <a:srgbClr val="B9AFA8"/>
                      </a:solidFill>
                      <a:prstDash val="solid"/>
                      <a:round/>
                      <a:headEnd type="none" w="med" len="med"/>
                      <a:tailEnd type="none" w="med" len="med"/>
                    </a:lnT>
                    <a:lnB w="9525" cap="flat" cmpd="sng" algn="ctr">
                      <a:solidFill>
                        <a:srgbClr val="B9AFA8"/>
                      </a:solidFill>
                      <a:prstDash val="solid"/>
                      <a:round/>
                      <a:headEnd type="none" w="med" len="med"/>
                      <a:tailEnd type="none" w="med" len="med"/>
                    </a:lnB>
                    <a:solidFill>
                      <a:srgbClr val="F2955F"/>
                    </a:solidFill>
                  </a:tcPr>
                </a:tc>
                <a:tc>
                  <a:txBody>
                    <a:bodyPr/>
                    <a:lstStyle/>
                    <a:p>
                      <a:pPr algn="ctr" indent="0" marL="0">
                        <a:buNone/>
                      </a:pPr>
                      <a:r>
                        <a:rPr lang="en-US" sz="1300" b="1" dirty="0">
                          <a:solidFill>
                            <a:srgbClr val="222222"/>
                          </a:solidFill>
                          <a:latin typeface="Arial" pitchFamily="34" charset="0"/>
                          <a:ea typeface="Arial" pitchFamily="34" charset="-122"/>
                          <a:cs typeface="Arial" pitchFamily="34" charset="-120"/>
                        </a:rPr>
                        <a:t>138</a:t>
                      </a:r>
                      <a:endParaRPr lang="en-US" sz="1300" dirty="0">
                        <a:latin typeface="Arial" charset="0"/>
                        <a:ea typeface="Arial" charset="0"/>
                        <a:cs typeface="Arial" charset="0"/>
                      </a:endParaRPr>
                    </a:p>
                  </a:txBody>
                  <a:tcPr marL="91440" marR="91440" marT="45720" marB="45720" anchor="ctr">
                    <a:lnL w="9525" cap="flat" cmpd="sng" algn="ctr">
                      <a:solidFill>
                        <a:srgbClr val="B9AFA8"/>
                      </a:solidFill>
                      <a:prstDash val="solid"/>
                      <a:round/>
                      <a:headEnd type="none" w="med" len="med"/>
                      <a:tailEnd type="none" w="med" len="med"/>
                    </a:lnL>
                    <a:lnR w="9525" cap="flat" cmpd="sng" algn="ctr">
                      <a:solidFill>
                        <a:srgbClr val="B9AFA8"/>
                      </a:solidFill>
                      <a:prstDash val="solid"/>
                      <a:round/>
                      <a:headEnd type="none" w="med" len="med"/>
                      <a:tailEnd type="none" w="med" len="med"/>
                    </a:lnR>
                    <a:lnT w="9525" cap="flat" cmpd="sng" algn="ctr">
                      <a:solidFill>
                        <a:srgbClr val="B9AFA8"/>
                      </a:solidFill>
                      <a:prstDash val="solid"/>
                      <a:round/>
                      <a:headEnd type="none" w="med" len="med"/>
                      <a:tailEnd type="none" w="med" len="med"/>
                    </a:lnT>
                    <a:lnB w="9525" cap="flat" cmpd="sng" algn="ctr">
                      <a:solidFill>
                        <a:srgbClr val="B9AFA8"/>
                      </a:solidFill>
                      <a:prstDash val="solid"/>
                      <a:round/>
                      <a:headEnd type="none" w="med" len="med"/>
                      <a:tailEnd type="none" w="med" len="med"/>
                    </a:lnB>
                    <a:solidFill>
                      <a:srgbClr val="F2955F"/>
                    </a:solidFill>
                  </a:tcPr>
                </a:tc>
                <a:tc>
                  <a:txBody>
                    <a:bodyPr/>
                    <a:lstStyle/>
                    <a:p>
                      <a:pPr algn="ctr" indent="0" marL="0">
                        <a:buNone/>
                      </a:pPr>
                      <a:r>
                        <a:rPr lang="en-US" sz="1300" b="1" dirty="0">
                          <a:solidFill>
                            <a:srgbClr val="222222"/>
                          </a:solidFill>
                          <a:latin typeface="Arial" pitchFamily="34" charset="0"/>
                          <a:ea typeface="Arial" pitchFamily="34" charset="-122"/>
                          <a:cs typeface="Arial" pitchFamily="34" charset="-120"/>
                        </a:rPr>
                        <a:t>$4,002</a:t>
                      </a:r>
                      <a:endParaRPr lang="en-US" sz="1300" dirty="0">
                        <a:latin typeface="Arial" charset="0"/>
                        <a:ea typeface="Arial" charset="0"/>
                        <a:cs typeface="Arial" charset="0"/>
                      </a:endParaRPr>
                    </a:p>
                  </a:txBody>
                  <a:tcPr marL="91440" marR="91440" marT="45720" marB="45720" anchor="ctr">
                    <a:lnL w="9525" cap="flat" cmpd="sng" algn="ctr">
                      <a:solidFill>
                        <a:srgbClr val="B9AFA8"/>
                      </a:solidFill>
                      <a:prstDash val="solid"/>
                      <a:round/>
                      <a:headEnd type="none" w="med" len="med"/>
                      <a:tailEnd type="none" w="med" len="med"/>
                    </a:lnL>
                    <a:lnR w="9525" cap="flat" cmpd="sng" algn="ctr">
                      <a:solidFill>
                        <a:srgbClr val="B9AFA8"/>
                      </a:solidFill>
                      <a:prstDash val="solid"/>
                      <a:round/>
                      <a:headEnd type="none" w="med" len="med"/>
                      <a:tailEnd type="none" w="med" len="med"/>
                    </a:lnR>
                    <a:lnT w="9525" cap="flat" cmpd="sng" algn="ctr">
                      <a:solidFill>
                        <a:srgbClr val="B9AFA8"/>
                      </a:solidFill>
                      <a:prstDash val="solid"/>
                      <a:round/>
                      <a:headEnd type="none" w="med" len="med"/>
                      <a:tailEnd type="none" w="med" len="med"/>
                    </a:lnT>
                    <a:lnB w="9525" cap="flat" cmpd="sng" algn="ctr">
                      <a:solidFill>
                        <a:srgbClr val="B9AFA8"/>
                      </a:solidFill>
                      <a:prstDash val="solid"/>
                      <a:round/>
                      <a:headEnd type="none" w="med" len="med"/>
                      <a:tailEnd type="none" w="med" len="med"/>
                    </a:lnB>
                    <a:solidFill>
                      <a:srgbClr val="F2955F"/>
                    </a:solidFill>
                  </a:tcPr>
                </a:tc>
              </a:tr>
              <a:tr h="411480">
                <a:tc>
                  <a:txBody>
                    <a:bodyPr/>
                    <a:lstStyle/>
                    <a:p>
                      <a:pPr algn="ctr" indent="0" marL="0">
                        <a:buNone/>
                      </a:pPr>
                      <a:r>
                        <a:rPr lang="en-US" sz="1300" dirty="0">
                          <a:solidFill>
                            <a:srgbClr val="222222"/>
                          </a:solidFill>
                          <a:latin typeface="Arial" pitchFamily="34" charset="0"/>
                          <a:ea typeface="Arial" pitchFamily="34" charset="-122"/>
                          <a:cs typeface="Arial" pitchFamily="34" charset="-120"/>
                        </a:rPr>
                        <a:t>$60</a:t>
                      </a:r>
                      <a:endParaRPr lang="en-US" sz="1300" dirty="0">
                        <a:latin typeface="Arial" charset="0"/>
                        <a:ea typeface="Arial" charset="0"/>
                        <a:cs typeface="Arial" charset="0"/>
                      </a:endParaRPr>
                    </a:p>
                  </a:txBody>
                  <a:tcPr marL="91440" marR="91440" marT="45720" marB="45720" anchor="ctr">
                    <a:lnL w="9525" cap="flat" cmpd="sng" algn="ctr">
                      <a:solidFill>
                        <a:srgbClr val="B9AFA8"/>
                      </a:solidFill>
                      <a:prstDash val="solid"/>
                      <a:round/>
                      <a:headEnd type="none" w="med" len="med"/>
                      <a:tailEnd type="none" w="med" len="med"/>
                    </a:lnL>
                    <a:lnR w="9525" cap="flat" cmpd="sng" algn="ctr">
                      <a:solidFill>
                        <a:srgbClr val="B9AFA8"/>
                      </a:solidFill>
                      <a:prstDash val="solid"/>
                      <a:round/>
                      <a:headEnd type="none" w="med" len="med"/>
                      <a:tailEnd type="none" w="med" len="med"/>
                    </a:lnR>
                    <a:lnT w="9525" cap="flat" cmpd="sng" algn="ctr">
                      <a:solidFill>
                        <a:srgbClr val="B9AFA8"/>
                      </a:solidFill>
                      <a:prstDash val="solid"/>
                      <a:round/>
                      <a:headEnd type="none" w="med" len="med"/>
                      <a:tailEnd type="none" w="med" len="med"/>
                    </a:lnT>
                    <a:lnB w="9525" cap="flat" cmpd="sng" algn="ctr">
                      <a:solidFill>
                        <a:srgbClr val="B9AFA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latin typeface="Arial" pitchFamily="34" charset="0"/>
                          <a:ea typeface="Arial" pitchFamily="34" charset="-122"/>
                          <a:cs typeface="Arial" pitchFamily="34" charset="-120"/>
                        </a:rPr>
                        <a:t>17%</a:t>
                      </a:r>
                      <a:endParaRPr lang="en-US" sz="1300" dirty="0">
                        <a:latin typeface="Arial" charset="0"/>
                        <a:ea typeface="Arial" charset="0"/>
                        <a:cs typeface="Arial" charset="0"/>
                      </a:endParaRPr>
                    </a:p>
                  </a:txBody>
                  <a:tcPr marL="91440" marR="91440" marT="45720" marB="45720" anchor="ctr">
                    <a:lnL w="9525" cap="flat" cmpd="sng" algn="ctr">
                      <a:solidFill>
                        <a:srgbClr val="B9AFA8"/>
                      </a:solidFill>
                      <a:prstDash val="solid"/>
                      <a:round/>
                      <a:headEnd type="none" w="med" len="med"/>
                      <a:tailEnd type="none" w="med" len="med"/>
                    </a:lnL>
                    <a:lnR w="9525" cap="flat" cmpd="sng" algn="ctr">
                      <a:solidFill>
                        <a:srgbClr val="B9AFA8"/>
                      </a:solidFill>
                      <a:prstDash val="solid"/>
                      <a:round/>
                      <a:headEnd type="none" w="med" len="med"/>
                      <a:tailEnd type="none" w="med" len="med"/>
                    </a:lnR>
                    <a:lnT w="9525" cap="flat" cmpd="sng" algn="ctr">
                      <a:solidFill>
                        <a:srgbClr val="B9AFA8"/>
                      </a:solidFill>
                      <a:prstDash val="solid"/>
                      <a:round/>
                      <a:headEnd type="none" w="med" len="med"/>
                      <a:tailEnd type="none" w="med" len="med"/>
                    </a:lnT>
                    <a:lnB w="9525" cap="flat" cmpd="sng" algn="ctr">
                      <a:solidFill>
                        <a:srgbClr val="B9AFA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latin typeface="Arial" pitchFamily="34" charset="0"/>
                          <a:ea typeface="Arial" pitchFamily="34" charset="-122"/>
                          <a:cs typeface="Arial" pitchFamily="34" charset="-120"/>
                        </a:rPr>
                        <a:t>100%</a:t>
                      </a:r>
                      <a:endParaRPr lang="en-US" sz="1300" dirty="0">
                        <a:latin typeface="Arial" charset="0"/>
                        <a:ea typeface="Arial" charset="0"/>
                        <a:cs typeface="Arial" charset="0"/>
                      </a:endParaRPr>
                    </a:p>
                  </a:txBody>
                  <a:tcPr marL="91440" marR="91440" marT="45720" marB="45720" anchor="ctr">
                    <a:lnL w="9525" cap="flat" cmpd="sng" algn="ctr">
                      <a:solidFill>
                        <a:srgbClr val="B9AFA8"/>
                      </a:solidFill>
                      <a:prstDash val="solid"/>
                      <a:round/>
                      <a:headEnd type="none" w="med" len="med"/>
                      <a:tailEnd type="none" w="med" len="med"/>
                    </a:lnL>
                    <a:lnR w="9525" cap="flat" cmpd="sng" algn="ctr">
                      <a:solidFill>
                        <a:srgbClr val="B9AFA8"/>
                      </a:solidFill>
                      <a:prstDash val="solid"/>
                      <a:round/>
                      <a:headEnd type="none" w="med" len="med"/>
                      <a:tailEnd type="none" w="med" len="med"/>
                    </a:lnR>
                    <a:lnT w="9525" cap="flat" cmpd="sng" algn="ctr">
                      <a:solidFill>
                        <a:srgbClr val="B9AFA8"/>
                      </a:solidFill>
                      <a:prstDash val="solid"/>
                      <a:round/>
                      <a:headEnd type="none" w="med" len="med"/>
                      <a:tailEnd type="none" w="med" len="med"/>
                    </a:lnT>
                    <a:lnB w="9525" cap="flat" cmpd="sng" algn="ctr">
                      <a:solidFill>
                        <a:srgbClr val="B9AFA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latin typeface="Arial" pitchFamily="34" charset="0"/>
                          <a:ea typeface="Arial" pitchFamily="34" charset="-122"/>
                          <a:cs typeface="Arial" pitchFamily="34" charset="-120"/>
                        </a:rPr>
                        <a:t>51</a:t>
                      </a:r>
                      <a:endParaRPr lang="en-US" sz="1300" dirty="0">
                        <a:latin typeface="Arial" charset="0"/>
                        <a:ea typeface="Arial" charset="0"/>
                        <a:cs typeface="Arial" charset="0"/>
                      </a:endParaRPr>
                    </a:p>
                  </a:txBody>
                  <a:tcPr marL="91440" marR="91440" marT="45720" marB="45720" anchor="ctr">
                    <a:lnL w="9525" cap="flat" cmpd="sng" algn="ctr">
                      <a:solidFill>
                        <a:srgbClr val="B9AFA8"/>
                      </a:solidFill>
                      <a:prstDash val="solid"/>
                      <a:round/>
                      <a:headEnd type="none" w="med" len="med"/>
                      <a:tailEnd type="none" w="med" len="med"/>
                    </a:lnL>
                    <a:lnR w="9525" cap="flat" cmpd="sng" algn="ctr">
                      <a:solidFill>
                        <a:srgbClr val="B9AFA8"/>
                      </a:solidFill>
                      <a:prstDash val="solid"/>
                      <a:round/>
                      <a:headEnd type="none" w="med" len="med"/>
                      <a:tailEnd type="none" w="med" len="med"/>
                    </a:lnR>
                    <a:lnT w="9525" cap="flat" cmpd="sng" algn="ctr">
                      <a:solidFill>
                        <a:srgbClr val="B9AFA8"/>
                      </a:solidFill>
                      <a:prstDash val="solid"/>
                      <a:round/>
                      <a:headEnd type="none" w="med" len="med"/>
                      <a:tailEnd type="none" w="med" len="med"/>
                    </a:lnT>
                    <a:lnB w="9525" cap="flat" cmpd="sng" algn="ctr">
                      <a:solidFill>
                        <a:srgbClr val="B9AFA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latin typeface="Arial" pitchFamily="34" charset="0"/>
                          <a:ea typeface="Arial" pitchFamily="34" charset="-122"/>
                          <a:cs typeface="Arial" pitchFamily="34" charset="-120"/>
                        </a:rPr>
                        <a:t>$2,244</a:t>
                      </a:r>
                      <a:endParaRPr lang="en-US" sz="1300" dirty="0">
                        <a:latin typeface="Arial" charset="0"/>
                        <a:ea typeface="Arial" charset="0"/>
                        <a:cs typeface="Arial" charset="0"/>
                      </a:endParaRPr>
                    </a:p>
                  </a:txBody>
                  <a:tcPr marL="91440" marR="91440" marT="45720" marB="45720" anchor="ctr">
                    <a:lnL w="9525" cap="flat" cmpd="sng" algn="ctr">
                      <a:solidFill>
                        <a:srgbClr val="B9AFA8"/>
                      </a:solidFill>
                      <a:prstDash val="solid"/>
                      <a:round/>
                      <a:headEnd type="none" w="med" len="med"/>
                      <a:tailEnd type="none" w="med" len="med"/>
                    </a:lnL>
                    <a:lnR w="9525" cap="flat" cmpd="sng" algn="ctr">
                      <a:solidFill>
                        <a:srgbClr val="B9AFA8"/>
                      </a:solidFill>
                      <a:prstDash val="solid"/>
                      <a:round/>
                      <a:headEnd type="none" w="med" len="med"/>
                      <a:tailEnd type="none" w="med" len="med"/>
                    </a:lnR>
                    <a:lnT w="9525" cap="flat" cmpd="sng" algn="ctr">
                      <a:solidFill>
                        <a:srgbClr val="B9AFA8"/>
                      </a:solidFill>
                      <a:prstDash val="solid"/>
                      <a:round/>
                      <a:headEnd type="none" w="med" len="med"/>
                      <a:tailEnd type="none" w="med" len="med"/>
                    </a:lnT>
                    <a:lnB w="9525" cap="flat" cmpd="sng" algn="ctr">
                      <a:solidFill>
                        <a:srgbClr val="B9AFA8"/>
                      </a:solidFill>
                      <a:prstDash val="solid"/>
                      <a:round/>
                      <a:headEnd type="none" w="med" len="med"/>
                      <a:tailEnd type="none" w="med" len="med"/>
                    </a:lnB>
                    <a:solidFill>
                      <a:srgbClr val="FFFFFF"/>
                    </a:solidFill>
                  </a:tcPr>
                </a:tc>
              </a:tr>
            </a:tbl>
          </a:graphicData>
        </a:graphic>
      </p:graphicFrame>
      <p:sp>
        <p:nvSpPr>
          <p:cNvPr id="9" name="Text 6"/>
          <p:cNvSpPr txBox="1"/>
          <p:nvPr/>
        </p:nvSpPr>
        <p:spPr>
          <a:xfrm>
            <a:off x="4572000" y="3246120"/>
            <a:ext cx="4114800" cy="411480"/>
          </a:xfrm>
          <a:prstGeom prst="rect">
            <a:avLst/>
          </a:prstGeom>
          <a:noFill/>
          <a:ln/>
        </p:spPr>
        <p:txBody>
          <a:bodyPr wrap="square" lIns="0" tIns="0" rIns="0" bIns="0" rtlCol="0" anchor="ctr"/>
          <a:lstStyle/>
          <a:p>
            <a:pPr indent="0" marL="0">
              <a:buNone/>
            </a:pPr>
            <a:r>
              <a:rPr lang="en-US" sz="1600" b="1" dirty="0">
                <a:solidFill>
                  <a:srgbClr val="4C3629"/>
                </a:solidFill>
                <a:latin typeface="Arial" pitchFamily="34" charset="0"/>
                <a:ea typeface="Arial" pitchFamily="34" charset="-122"/>
                <a:cs typeface="Arial" pitchFamily="34" charset="-120"/>
              </a:rPr>
              <a:t>Best price: $45  →  $4,002 profit</a:t>
            </a:r>
            <a:endParaRPr lang="en-US" sz="1600" dirty="0"/>
          </a:p>
        </p:txBody>
      </p:sp>
      <p:sp>
        <p:nvSpPr>
          <p:cNvPr id="10" name="Text 7"/>
          <p:cNvSpPr txBox="1"/>
          <p:nvPr/>
        </p:nvSpPr>
        <p:spPr>
          <a:xfrm>
            <a:off x="4572000" y="3749040"/>
            <a:ext cx="4114800" cy="731520"/>
          </a:xfrm>
          <a:prstGeom prst="rect">
            <a:avLst/>
          </a:prstGeom>
          <a:noFill/>
          <a:ln/>
        </p:spPr>
        <p:txBody>
          <a:bodyPr wrap="square" lIns="0" tIns="0" rIns="0" bIns="0" rtlCol="0" anchor="ctr"/>
          <a:lstStyle/>
          <a:p>
            <a:pPr indent="0" marL="0">
              <a:buNone/>
            </a:pPr>
            <a:r>
              <a:rPr lang="en-US" sz="1300" dirty="0">
                <a:solidFill>
                  <a:srgbClr val="6B6B6B"/>
                </a:solidFill>
                <a:latin typeface="Arial" pitchFamily="34" charset="0"/>
                <a:ea typeface="Arial" pitchFamily="34" charset="-122"/>
                <a:cs typeface="Arial" pitchFamily="34" charset="-120"/>
              </a:rPr>
              <a:t>Totally different features: athletes care about rain, mud, and speed.</a:t>
            </a:r>
            <a:endParaRPr lang="en-US" sz="13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6B6B"/>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4C3629"/>
                </a:solidFill>
                <a:latin typeface="Arial" pitchFamily="34" charset="0"/>
                <a:ea typeface="Arial" pitchFamily="34" charset="-122"/>
                <a:cs typeface="Arial" pitchFamily="34" charset="-120"/>
              </a:rPr>
              <a:t>Maya's Lineup</a:t>
            </a:r>
            <a:endParaRPr lang="en-US" sz="2800" dirty="0"/>
          </a:p>
        </p:txBody>
      </p:sp>
      <p:graphicFrame>
        <p:nvGraphicFramePr>
          <p:cNvPr id="3" name="Chart 0" descr=""/>
          <p:cNvGraphicFramePr/>
          <p:nvPr/>
        </p:nvGraphicFramePr>
        <p:xfrm>
          <a:off x="365760" y="1005840"/>
          <a:ext cx="5120640" cy="35661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760720" y="1554480"/>
            <a:ext cx="3017520" cy="2286000"/>
          </a:xfrm>
          <a:prstGeom prst="rect">
            <a:avLst/>
          </a:prstGeom>
          <a:noFill/>
          <a:ln/>
        </p:spPr>
        <p:txBody>
          <a:bodyPr wrap="square" lIns="0" tIns="0" rIns="0" bIns="0" rtlCol="0" anchor="ctr"/>
          <a:lstStyle/>
          <a:p>
            <a:pPr indent="0" marL="0">
              <a:buNone/>
            </a:pPr>
            <a:r>
              <a:rPr lang="en-US" sz="1400" b="1" dirty="0">
                <a:solidFill>
                  <a:srgbClr val="E26F39"/>
                </a:solidFill>
                <a:latin typeface="Arial" pitchFamily="34" charset="0"/>
                <a:ea typeface="Arial" pitchFamily="34" charset="-122"/>
                <a:cs typeface="Arial" pitchFamily="34" charset="-120"/>
              </a:rPr>
              <a:t>Total lineup profit</a:t>
            </a:r>
            <a:endParaRPr lang="en-US" sz="1400" dirty="0"/>
          </a:p>
          <a:p>
            <a:pPr indent="0" marL="0">
              <a:buNone/>
            </a:pPr>
            <a:r>
              <a:rPr lang="en-US" sz="4400" b="1" dirty="0">
                <a:solidFill>
                  <a:srgbClr val="4C3629"/>
                </a:solidFill>
                <a:latin typeface="Arial" pitchFamily="34" charset="0"/>
                <a:ea typeface="Arial" pitchFamily="34" charset="-122"/>
                <a:cs typeface="Arial" pitchFamily="34" charset="-120"/>
              </a:rPr>
              <a:t>$15,266</a:t>
            </a:r>
            <a:endParaRPr lang="en-US" sz="1400" dirty="0"/>
          </a:p>
          <a:p>
            <a:pPr indent="0" marL="0">
              <a:buNone/>
            </a:pPr>
            <a:r>
              <a:rPr lang="en-US" sz="1500" dirty="0">
                <a:solidFill>
                  <a:srgbClr val="222222"/>
                </a:solidFill>
                <a:latin typeface="Arial" pitchFamily="34" charset="0"/>
                <a:ea typeface="Arial" pitchFamily="34" charset="-122"/>
                <a:cs typeface="Arial" pitchFamily="34" charset="-120"/>
              </a:rPr>
              <a:t>Prices: $30, $80, $45</a:t>
            </a:r>
            <a:endParaRPr lang="en-US" sz="14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6B6B"/>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4C3629"/>
                </a:solidFill>
                <a:latin typeface="Arial" pitchFamily="34" charset="0"/>
                <a:ea typeface="Arial" pitchFamily="34" charset="-122"/>
                <a:cs typeface="Arial" pitchFamily="34" charset="-120"/>
              </a:rPr>
              <a:t>Was Three Versions Worth It?</a:t>
            </a:r>
            <a:endParaRPr lang="en-US" sz="2800" dirty="0"/>
          </a:p>
        </p:txBody>
      </p:sp>
      <p:graphicFrame>
        <p:nvGraphicFramePr>
          <p:cNvPr id="3" name="Chart 0" descr=""/>
          <p:cNvGraphicFramePr/>
          <p:nvPr/>
        </p:nvGraphicFramePr>
        <p:xfrm>
          <a:off x="365760" y="1005840"/>
          <a:ext cx="5120640" cy="35661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760720" y="1463040"/>
            <a:ext cx="3017520" cy="2743200"/>
          </a:xfrm>
          <a:prstGeom prst="rect">
            <a:avLst/>
          </a:prstGeom>
          <a:noFill/>
          <a:ln/>
        </p:spPr>
        <p:txBody>
          <a:bodyPr wrap="square" lIns="0" tIns="0" rIns="0" bIns="0" rtlCol="0" anchor="ctr"/>
          <a:lstStyle/>
          <a:p>
            <a:pPr indent="0" marL="0">
              <a:buNone/>
            </a:pPr>
            <a:r>
              <a:rPr lang="en-US" sz="3200" b="1" dirty="0">
                <a:solidFill>
                  <a:srgbClr val="4C3629"/>
                </a:solidFill>
                <a:latin typeface="Arial" pitchFamily="34" charset="0"/>
                <a:ea typeface="Arial" pitchFamily="34" charset="-122"/>
                <a:cs typeface="Arial" pitchFamily="34" charset="-120"/>
              </a:rPr>
              <a:t>95% more profit</a:t>
            </a:r>
            <a:endParaRPr lang="en-US" sz="3200" dirty="0"/>
          </a:p>
          <a:p>
            <a:pPr indent="0" marL="0">
              <a:buNone/>
            </a:pPr>
            <a:r>
              <a:rPr lang="en-US" sz="800" dirty="0">
                <a:solidFill>
                  <a:srgbClr val="222222"/>
                </a:solidFill>
                <a:latin typeface="Arial" pitchFamily="34" charset="0"/>
                <a:ea typeface="Arial" pitchFamily="34" charset="-122"/>
                <a:cs typeface="Arial" pitchFamily="34" charset="-120"/>
              </a:rPr>
              <a:t> </a:t>
            </a:r>
            <a:endParaRPr lang="en-US" sz="3200" dirty="0"/>
          </a:p>
          <a:p>
            <a:pPr indent="0" marL="0">
              <a:buNone/>
            </a:pPr>
            <a:r>
              <a:rPr lang="en-US" sz="1500" dirty="0">
                <a:solidFill>
                  <a:srgbClr val="222222"/>
                </a:solidFill>
                <a:latin typeface="Arial" pitchFamily="34" charset="0"/>
                <a:ea typeface="Arial" pitchFamily="34" charset="-122"/>
                <a:cs typeface="Arial" pitchFamily="34" charset="-120"/>
              </a:rPr>
              <a:t>Her best single package ($45) is too pricey for Weekend Wearers and leaves Collector money on the table.</a:t>
            </a:r>
            <a:endParaRPr lang="en-US" sz="32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6B6B"/>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4C3629"/>
                </a:solidFill>
                <a:latin typeface="Arial" pitchFamily="34" charset="0"/>
                <a:ea typeface="Arial" pitchFamily="34" charset="-122"/>
                <a:cs typeface="Arial" pitchFamily="34" charset="-120"/>
              </a:rPr>
              <a:t>Trap #1: Put Everything in Everything</a:t>
            </a:r>
            <a:endParaRPr lang="en-US" sz="2800" dirty="0"/>
          </a:p>
        </p:txBody>
      </p:sp>
      <p:sp>
        <p:nvSpPr>
          <p:cNvPr id="3" name="Shape 1"/>
          <p:cNvSpPr/>
          <p:nvPr/>
        </p:nvSpPr>
        <p:spPr>
          <a:xfrm>
            <a:off x="731520" y="1280160"/>
            <a:ext cx="3657600" cy="2560320"/>
          </a:xfrm>
          <a:prstGeom prst="rect">
            <a:avLst/>
          </a:prstGeom>
          <a:solidFill>
            <a:srgbClr val="B9AFA8"/>
          </a:solidFill>
          <a:ln w="12700">
            <a:solidFill>
              <a:srgbClr val="B9AFA8"/>
            </a:solidFill>
            <a:prstDash val="solid"/>
          </a:ln>
        </p:spPr>
      </p:sp>
      <p:sp>
        <p:nvSpPr>
          <p:cNvPr id="4" name="Text 2"/>
          <p:cNvSpPr txBox="1"/>
          <p:nvPr/>
        </p:nvSpPr>
        <p:spPr>
          <a:xfrm>
            <a:off x="731520" y="1417320"/>
            <a:ext cx="3657600" cy="457200"/>
          </a:xfrm>
          <a:prstGeom prst="rect">
            <a:avLst/>
          </a:prstGeom>
          <a:noFill/>
          <a:ln/>
        </p:spPr>
        <p:txBody>
          <a:bodyPr wrap="square" lIns="0" tIns="0" rIns="0" bIns="0" rtlCol="0" anchor="ctr"/>
          <a:lstStyle/>
          <a:p>
            <a:pPr algn="ctr" indent="0" marL="0">
              <a:buNone/>
            </a:pPr>
            <a:r>
              <a:rPr lang="en-US" sz="1800" b="1" dirty="0">
                <a:solidFill>
                  <a:srgbClr val="222222"/>
                </a:solidFill>
                <a:latin typeface="Arial" pitchFamily="34" charset="0"/>
                <a:ea typeface="Arial" pitchFamily="34" charset="-122"/>
                <a:cs typeface="Arial" pitchFamily="34" charset="-120"/>
              </a:rPr>
              <a:t>All 8 features</a:t>
            </a:r>
            <a:endParaRPr lang="en-US" sz="1800" dirty="0"/>
          </a:p>
        </p:txBody>
      </p:sp>
      <p:sp>
        <p:nvSpPr>
          <p:cNvPr id="5" name="Text 3"/>
          <p:cNvSpPr txBox="1"/>
          <p:nvPr/>
        </p:nvSpPr>
        <p:spPr>
          <a:xfrm>
            <a:off x="731520" y="1874520"/>
            <a:ext cx="3657600" cy="365760"/>
          </a:xfrm>
          <a:prstGeom prst="rect">
            <a:avLst/>
          </a:prstGeom>
          <a:noFill/>
          <a:ln/>
        </p:spPr>
        <p:txBody>
          <a:bodyPr wrap="square" lIns="0" tIns="0" rIns="0" bIns="0" rtlCol="0" anchor="ctr"/>
          <a:lstStyle/>
          <a:p>
            <a:pPr algn="ctr" indent="0" marL="0">
              <a:buNone/>
            </a:pPr>
            <a:r>
              <a:rPr lang="en-US" sz="1400" dirty="0">
                <a:solidFill>
                  <a:srgbClr val="222222"/>
                </a:solidFill>
                <a:latin typeface="Arial" pitchFamily="34" charset="0"/>
                <a:ea typeface="Arial" pitchFamily="34" charset="-122"/>
                <a:cs typeface="Arial" pitchFamily="34" charset="-120"/>
              </a:rPr>
              <a:t>$45 unit cost</a:t>
            </a:r>
            <a:endParaRPr lang="en-US" sz="1400" dirty="0"/>
          </a:p>
        </p:txBody>
      </p:sp>
      <p:sp>
        <p:nvSpPr>
          <p:cNvPr id="6" name="Text 4"/>
          <p:cNvSpPr txBox="1"/>
          <p:nvPr/>
        </p:nvSpPr>
        <p:spPr>
          <a:xfrm>
            <a:off x="731520" y="2377440"/>
            <a:ext cx="3657600" cy="822960"/>
          </a:xfrm>
          <a:prstGeom prst="rect">
            <a:avLst/>
          </a:prstGeom>
          <a:noFill/>
          <a:ln/>
        </p:spPr>
        <p:txBody>
          <a:bodyPr wrap="square" lIns="0" tIns="0" rIns="0" bIns="0" rtlCol="0" anchor="ctr"/>
          <a:lstStyle/>
          <a:p>
            <a:pPr algn="ctr" indent="0" marL="0">
              <a:buNone/>
            </a:pPr>
            <a:r>
              <a:rPr lang="en-US" sz="4400" b="1" dirty="0">
                <a:solidFill>
                  <a:srgbClr val="222222"/>
                </a:solidFill>
                <a:latin typeface="Arial" pitchFamily="34" charset="0"/>
                <a:ea typeface="Arial" pitchFamily="34" charset="-122"/>
                <a:cs typeface="Arial" pitchFamily="34" charset="-120"/>
              </a:rPr>
              <a:t>$600</a:t>
            </a:r>
            <a:endParaRPr lang="en-US" sz="4400" dirty="0"/>
          </a:p>
        </p:txBody>
      </p:sp>
      <p:sp>
        <p:nvSpPr>
          <p:cNvPr id="7" name="Text 5"/>
          <p:cNvSpPr txBox="1"/>
          <p:nvPr/>
        </p:nvSpPr>
        <p:spPr>
          <a:xfrm>
            <a:off x="731520" y="3200400"/>
            <a:ext cx="3657600" cy="365760"/>
          </a:xfrm>
          <a:prstGeom prst="rect">
            <a:avLst/>
          </a:prstGeom>
          <a:noFill/>
          <a:ln/>
        </p:spPr>
        <p:txBody>
          <a:bodyPr wrap="square" lIns="0" tIns="0" rIns="0" bIns="0" rtlCol="0" anchor="ctr"/>
          <a:lstStyle/>
          <a:p>
            <a:pPr algn="ctr" indent="0" marL="0">
              <a:buNone/>
            </a:pPr>
            <a:r>
              <a:rPr lang="en-US" sz="1300" dirty="0">
                <a:solidFill>
                  <a:srgbClr val="222222"/>
                </a:solidFill>
                <a:latin typeface="Arial" pitchFamily="34" charset="0"/>
                <a:ea typeface="Arial" pitchFamily="34" charset="-122"/>
                <a:cs typeface="Arial" pitchFamily="34" charset="-120"/>
              </a:rPr>
              <a:t>profit from Weekend Wearers</a:t>
            </a:r>
            <a:endParaRPr lang="en-US" sz="1300" dirty="0"/>
          </a:p>
        </p:txBody>
      </p:sp>
      <p:sp>
        <p:nvSpPr>
          <p:cNvPr id="8" name="Shape 6"/>
          <p:cNvSpPr/>
          <p:nvPr/>
        </p:nvSpPr>
        <p:spPr>
          <a:xfrm>
            <a:off x="4754880" y="1280160"/>
            <a:ext cx="3657600" cy="2560320"/>
          </a:xfrm>
          <a:prstGeom prst="rect">
            <a:avLst/>
          </a:prstGeom>
          <a:solidFill>
            <a:srgbClr val="E26F39"/>
          </a:solidFill>
          <a:ln w="12700">
            <a:solidFill>
              <a:srgbClr val="E26F39"/>
            </a:solidFill>
            <a:prstDash val="solid"/>
          </a:ln>
        </p:spPr>
      </p:sp>
      <p:sp>
        <p:nvSpPr>
          <p:cNvPr id="9" name="Text 7"/>
          <p:cNvSpPr txBox="1"/>
          <p:nvPr/>
        </p:nvSpPr>
        <p:spPr>
          <a:xfrm>
            <a:off x="4754880" y="1417320"/>
            <a:ext cx="36576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Just the must-haves</a:t>
            </a:r>
            <a:endParaRPr lang="en-US" sz="1800" dirty="0"/>
          </a:p>
        </p:txBody>
      </p:sp>
      <p:sp>
        <p:nvSpPr>
          <p:cNvPr id="10" name="Text 8"/>
          <p:cNvSpPr txBox="1"/>
          <p:nvPr/>
        </p:nvSpPr>
        <p:spPr>
          <a:xfrm>
            <a:off x="4754880" y="1874520"/>
            <a:ext cx="3657600" cy="365760"/>
          </a:xfrm>
          <a:prstGeom prst="rect">
            <a:avLst/>
          </a:prstGeom>
          <a:noFill/>
          <a:ln/>
        </p:spPr>
        <p:txBody>
          <a:bodyPr wrap="square" lIns="0" tIns="0" rIns="0" bIns="0" rtlCol="0" anchor="ctr"/>
          <a:lstStyle/>
          <a:p>
            <a:pPr algn="ctr" indent="0" marL="0">
              <a:buNone/>
            </a:pPr>
            <a:r>
              <a:rPr lang="en-US" sz="1400" dirty="0">
                <a:solidFill>
                  <a:srgbClr val="FFFFFF"/>
                </a:solidFill>
                <a:latin typeface="Arial" pitchFamily="34" charset="0"/>
                <a:ea typeface="Arial" pitchFamily="34" charset="-122"/>
                <a:cs typeface="Arial" pitchFamily="34" charset="-120"/>
              </a:rPr>
              <a:t>$14 unit cost</a:t>
            </a:r>
            <a:endParaRPr lang="en-US" sz="1400" dirty="0"/>
          </a:p>
        </p:txBody>
      </p:sp>
      <p:sp>
        <p:nvSpPr>
          <p:cNvPr id="11" name="Text 9"/>
          <p:cNvSpPr txBox="1"/>
          <p:nvPr/>
        </p:nvSpPr>
        <p:spPr>
          <a:xfrm>
            <a:off x="4754880" y="2377440"/>
            <a:ext cx="3657600" cy="822960"/>
          </a:xfrm>
          <a:prstGeom prst="rect">
            <a:avLst/>
          </a:prstGeom>
          <a:noFill/>
          <a:ln/>
        </p:spPr>
        <p:txBody>
          <a:bodyPr wrap="square" lIns="0" tIns="0" rIns="0" bIns="0"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$5,856</a:t>
            </a:r>
            <a:endParaRPr lang="en-US" sz="4400" dirty="0"/>
          </a:p>
        </p:txBody>
      </p:sp>
      <p:sp>
        <p:nvSpPr>
          <p:cNvPr id="12" name="Text 10"/>
          <p:cNvSpPr txBox="1"/>
          <p:nvPr/>
        </p:nvSpPr>
        <p:spPr>
          <a:xfrm>
            <a:off x="4754880" y="3200400"/>
            <a:ext cx="3657600" cy="365760"/>
          </a:xfrm>
          <a:prstGeom prst="rect">
            <a:avLst/>
          </a:prstGeom>
          <a:noFill/>
          <a:ln/>
        </p:spPr>
        <p:txBody>
          <a:bodyPr wrap="square" lIns="0" tIns="0" rIns="0" bIns="0" rtlCol="0" anchor="ctr"/>
          <a:lstStyle/>
          <a:p>
            <a:pPr algn="ctr" indent="0" marL="0">
              <a:buNone/>
            </a:pPr>
            <a:r>
              <a:rPr lang="en-US" sz="1300" dirty="0">
                <a:solidFill>
                  <a:srgbClr val="FFFFFF"/>
                </a:solidFill>
                <a:latin typeface="Arial" pitchFamily="34" charset="0"/>
                <a:ea typeface="Arial" pitchFamily="34" charset="-122"/>
                <a:cs typeface="Arial" pitchFamily="34" charset="-120"/>
              </a:rPr>
              <a:t>profit from Weekend Wearers</a:t>
            </a:r>
            <a:endParaRPr lang="en-US" sz="1300" dirty="0"/>
          </a:p>
        </p:txBody>
      </p:sp>
      <p:sp>
        <p:nvSpPr>
          <p:cNvPr id="13" name="Text 11"/>
          <p:cNvSpPr txBox="1"/>
          <p:nvPr/>
        </p:nvSpPr>
        <p:spPr>
          <a:xfrm>
            <a:off x="457200" y="4069080"/>
            <a:ext cx="8229600" cy="457200"/>
          </a:xfrm>
          <a:prstGeom prst="rect">
            <a:avLst/>
          </a:prstGeom>
          <a:noFill/>
          <a:ln/>
        </p:spPr>
        <p:txBody>
          <a:bodyPr wrap="square" lIns="0" tIns="0" rIns="0" bIns="0" rtlCol="0" anchor="ctr"/>
          <a:lstStyle/>
          <a:p>
            <a:pPr algn="ctr" indent="0" marL="0">
              <a:buNone/>
            </a:pPr>
            <a:r>
              <a:rPr lang="en-US" sz="1600" b="1" dirty="0">
                <a:solidFill>
                  <a:srgbClr val="4C3629"/>
                </a:solidFill>
                <a:latin typeface="Arial" pitchFamily="34" charset="0"/>
                <a:ea typeface="Arial" pitchFamily="34" charset="-122"/>
                <a:cs typeface="Arial" pitchFamily="34" charset="-120"/>
              </a:rPr>
              <a:t>More features is not a better product if the customer won't pay for them.</a:t>
            </a:r>
            <a:endParaRPr lang="en-US" sz="16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6B6B"/>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4C3629"/>
                </a:solidFill>
                <a:latin typeface="Arial" pitchFamily="34" charset="0"/>
                <a:ea typeface="Arial" pitchFamily="34" charset="-122"/>
                <a:cs typeface="Arial" pitchFamily="34" charset="-120"/>
              </a:rPr>
              <a:t>Trap #2: Cannibalization</a:t>
            </a:r>
            <a:endParaRPr lang="en-US" sz="2800" dirty="0"/>
          </a:p>
        </p:txBody>
      </p:sp>
      <p:pic>
        <p:nvPicPr>
          <p:cNvPr id="3" name="Image 0" descr="preencoded.png">    </p:cNvPr>
          <p:cNvPicPr>
            <a:picLocks noChangeAspect="1"/>
          </p:cNvPicPr>
          <p:nvPr/>
        </p:nvPicPr>
        <p:blipFill>
          <a:blip r:embed="rId1"/>
          <a:stretch>
            <a:fillRect/>
          </a:stretch>
        </p:blipFill>
        <p:spPr>
          <a:xfrm>
            <a:off x="731520" y="1463040"/>
            <a:ext cx="1463040" cy="1463040"/>
          </a:xfrm>
          <a:prstGeom prst="rect">
            <a:avLst/>
          </a:prstGeom>
        </p:spPr>
      </p:pic>
      <p:sp>
        <p:nvSpPr>
          <p:cNvPr id="4" name="Text 1"/>
          <p:cNvSpPr txBox="1"/>
          <p:nvPr/>
        </p:nvSpPr>
        <p:spPr>
          <a:xfrm>
            <a:off x="2651760" y="1234440"/>
            <a:ext cx="6035040" cy="2926080"/>
          </a:xfrm>
          <a:prstGeom prst="rect">
            <a:avLst/>
          </a:prstGeom>
          <a:noFill/>
          <a:ln/>
        </p:spPr>
        <p:txBody>
          <a:bodyPr wrap="square" lIns="0" tIns="0" rIns="0" bIns="0" rtlCol="0" anchor="ctr"/>
          <a:lstStyle/>
          <a:p>
            <a:pPr indent="0" marL="0">
              <a:buNone/>
            </a:pPr>
            <a:r>
              <a:rPr lang="en-US" sz="2200" b="1" dirty="0">
                <a:solidFill>
                  <a:srgbClr val="4C3629"/>
                </a:solidFill>
                <a:latin typeface="Arial" pitchFamily="34" charset="0"/>
                <a:ea typeface="Arial" pitchFamily="34" charset="-122"/>
                <a:cs typeface="Arial" pitchFamily="34" charset="-120"/>
              </a:rPr>
              <a:t>What stops a Collector from buying the $30 Fresh Start instead of the $80 Grail Treatment?</a:t>
            </a:r>
            <a:endParaRPr lang="en-US" sz="2200" dirty="0"/>
          </a:p>
          <a:p>
            <a:pPr indent="0" marL="0">
              <a:buNone/>
            </a:pPr>
            <a:r>
              <a:rPr lang="en-US" sz="1000" dirty="0">
                <a:solidFill>
                  <a:srgbClr val="222222"/>
                </a:solidFill>
                <a:latin typeface="Arial" pitchFamily="34" charset="0"/>
                <a:ea typeface="Arial" pitchFamily="34" charset="-122"/>
                <a:cs typeface="Arial" pitchFamily="34" charset="-120"/>
              </a:rPr>
              <a:t> </a:t>
            </a:r>
            <a:endParaRPr lang="en-US" sz="2200" dirty="0"/>
          </a:p>
          <a:p>
            <a:pPr indent="0" marL="0">
              <a:buNone/>
            </a:pPr>
            <a:r>
              <a:rPr lang="en-US" sz="1600" dirty="0">
                <a:solidFill>
                  <a:srgbClr val="222222"/>
                </a:solidFill>
                <a:latin typeface="Arial" pitchFamily="34" charset="0"/>
                <a:ea typeface="Arial" pitchFamily="34" charset="-122"/>
                <a:cs typeface="Arial" pitchFamily="34" charset="-120"/>
              </a:rPr>
              <a:t>Cannibalization is when your cheaper version steals customers from your expensive one. Smart lineups keep each segment's must-haves in that segment's version.</a:t>
            </a:r>
            <a:endParaRPr lang="en-US" sz="22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6B6B"/>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4C3629"/>
                </a:solidFill>
                <a:latin typeface="Arial" pitchFamily="34" charset="0"/>
                <a:ea typeface="Arial" pitchFamily="34" charset="-122"/>
                <a:cs typeface="Arial" pitchFamily="34" charset="-120"/>
              </a:rPr>
              <a:t>Quick Check</a:t>
            </a:r>
            <a:endParaRPr lang="en-US" sz="2800" dirty="0"/>
          </a:p>
        </p:txBody>
      </p:sp>
      <p:sp>
        <p:nvSpPr>
          <p:cNvPr id="3" name="Text 1"/>
          <p:cNvSpPr txBox="1"/>
          <p:nvPr/>
        </p:nvSpPr>
        <p:spPr>
          <a:xfrm>
            <a:off x="457200" y="1051560"/>
            <a:ext cx="8229600" cy="731520"/>
          </a:xfrm>
          <a:prstGeom prst="rect">
            <a:avLst/>
          </a:prstGeom>
          <a:noFill/>
          <a:ln/>
        </p:spPr>
        <p:txBody>
          <a:bodyPr wrap="square" lIns="0" tIns="0" rIns="0" bIns="0" rtlCol="0" anchor="ctr"/>
          <a:lstStyle/>
          <a:p>
            <a:pPr indent="0" marL="0">
              <a:buNone/>
            </a:pPr>
            <a:r>
              <a:rPr lang="en-US" sz="2000" b="1" dirty="0">
                <a:solidFill>
                  <a:srgbClr val="4C3629"/>
                </a:solidFill>
                <a:latin typeface="Arial" pitchFamily="34" charset="0"/>
                <a:ea typeface="Arial" pitchFamily="34" charset="-122"/>
                <a:cs typeface="Arial" pitchFamily="34" charset="-120"/>
              </a:rPr>
              <a:t>Using Maya's price chart, about what percent of Team Athletes would buy a package priced at $60?</a:t>
            </a:r>
            <a:endParaRPr lang="en-US" sz="2000" dirty="0"/>
          </a:p>
        </p:txBody>
      </p:sp>
      <p:sp>
        <p:nvSpPr>
          <p:cNvPr id="4" name="Shape 2"/>
          <p:cNvSpPr/>
          <p:nvPr/>
        </p:nvSpPr>
        <p:spPr>
          <a:xfrm>
            <a:off x="457200" y="2011680"/>
            <a:ext cx="3931920" cy="868680"/>
          </a:xfrm>
          <a:prstGeom prst="roundRect">
            <a:avLst>
              <a:gd name="adj" fmla="val 8421"/>
            </a:avLst>
          </a:prstGeom>
          <a:solidFill>
            <a:srgbClr val="FBF3EC"/>
          </a:solidFill>
          <a:ln w="12700">
            <a:solidFill>
              <a:srgbClr val="EFE4DA"/>
            </a:solidFill>
            <a:prstDash val="solid"/>
          </a:ln>
        </p:spPr>
      </p:sp>
      <p:sp>
        <p:nvSpPr>
          <p:cNvPr id="5" name="Text 3"/>
          <p:cNvSpPr txBox="1"/>
          <p:nvPr/>
        </p:nvSpPr>
        <p:spPr>
          <a:xfrm>
            <a:off x="731520" y="2011680"/>
            <a:ext cx="3474720" cy="868680"/>
          </a:xfrm>
          <a:prstGeom prst="rect">
            <a:avLst/>
          </a:prstGeom>
          <a:noFill/>
          <a:ln/>
        </p:spPr>
        <p:txBody>
          <a:bodyPr wrap="square" lIns="0" tIns="0" rIns="0" bIns="0" rtlCol="0" anchor="ctr"/>
          <a:lstStyle/>
          <a:p>
            <a:pPr indent="0" marL="0">
              <a:buNone/>
            </a:pPr>
            <a:r>
              <a:rPr lang="en-US" sz="2200" b="1" dirty="0">
                <a:solidFill>
                  <a:srgbClr val="222222"/>
                </a:solidFill>
                <a:latin typeface="Arial" pitchFamily="34" charset="0"/>
                <a:ea typeface="Arial" pitchFamily="34" charset="-122"/>
                <a:cs typeface="Arial" pitchFamily="34" charset="-120"/>
              </a:rPr>
              <a:t>A.   46%</a:t>
            </a:r>
            <a:endParaRPr lang="en-US" sz="2200" dirty="0"/>
          </a:p>
        </p:txBody>
      </p:sp>
      <p:sp>
        <p:nvSpPr>
          <p:cNvPr id="6" name="Shape 4"/>
          <p:cNvSpPr/>
          <p:nvPr/>
        </p:nvSpPr>
        <p:spPr>
          <a:xfrm>
            <a:off x="4663440" y="2011680"/>
            <a:ext cx="3931920" cy="868680"/>
          </a:xfrm>
          <a:prstGeom prst="roundRect">
            <a:avLst>
              <a:gd name="adj" fmla="val 8421"/>
            </a:avLst>
          </a:prstGeom>
          <a:solidFill>
            <a:srgbClr val="FBF3EC"/>
          </a:solidFill>
          <a:ln w="12700">
            <a:solidFill>
              <a:srgbClr val="EFE4DA"/>
            </a:solidFill>
            <a:prstDash val="solid"/>
          </a:ln>
        </p:spPr>
      </p:sp>
      <p:sp>
        <p:nvSpPr>
          <p:cNvPr id="7" name="Text 5"/>
          <p:cNvSpPr txBox="1"/>
          <p:nvPr/>
        </p:nvSpPr>
        <p:spPr>
          <a:xfrm>
            <a:off x="4937760" y="2011680"/>
            <a:ext cx="3474720" cy="868680"/>
          </a:xfrm>
          <a:prstGeom prst="rect">
            <a:avLst/>
          </a:prstGeom>
          <a:noFill/>
          <a:ln/>
        </p:spPr>
        <p:txBody>
          <a:bodyPr wrap="square" lIns="0" tIns="0" rIns="0" bIns="0" rtlCol="0" anchor="ctr"/>
          <a:lstStyle/>
          <a:p>
            <a:pPr indent="0" marL="0">
              <a:buNone/>
            </a:pPr>
            <a:r>
              <a:rPr lang="en-US" sz="2200" b="1" dirty="0">
                <a:solidFill>
                  <a:srgbClr val="222222"/>
                </a:solidFill>
                <a:latin typeface="Arial" pitchFamily="34" charset="0"/>
                <a:ea typeface="Arial" pitchFamily="34" charset="-122"/>
                <a:cs typeface="Arial" pitchFamily="34" charset="-120"/>
              </a:rPr>
              <a:t>B.   17%</a:t>
            </a:r>
            <a:endParaRPr lang="en-US" sz="2200" dirty="0"/>
          </a:p>
        </p:txBody>
      </p:sp>
      <p:sp>
        <p:nvSpPr>
          <p:cNvPr id="8" name="Shape 6"/>
          <p:cNvSpPr/>
          <p:nvPr/>
        </p:nvSpPr>
        <p:spPr>
          <a:xfrm>
            <a:off x="457200" y="3108960"/>
            <a:ext cx="3931920" cy="868680"/>
          </a:xfrm>
          <a:prstGeom prst="roundRect">
            <a:avLst>
              <a:gd name="adj" fmla="val 8421"/>
            </a:avLst>
          </a:prstGeom>
          <a:solidFill>
            <a:srgbClr val="FBF3EC"/>
          </a:solidFill>
          <a:ln w="12700">
            <a:solidFill>
              <a:srgbClr val="EFE4DA"/>
            </a:solidFill>
            <a:prstDash val="solid"/>
          </a:ln>
        </p:spPr>
      </p:sp>
      <p:sp>
        <p:nvSpPr>
          <p:cNvPr id="9" name="Text 7"/>
          <p:cNvSpPr txBox="1"/>
          <p:nvPr/>
        </p:nvSpPr>
        <p:spPr>
          <a:xfrm>
            <a:off x="731520" y="3108960"/>
            <a:ext cx="3474720" cy="868680"/>
          </a:xfrm>
          <a:prstGeom prst="rect">
            <a:avLst/>
          </a:prstGeom>
          <a:noFill/>
          <a:ln/>
        </p:spPr>
        <p:txBody>
          <a:bodyPr wrap="square" lIns="0" tIns="0" rIns="0" bIns="0" rtlCol="0" anchor="ctr"/>
          <a:lstStyle/>
          <a:p>
            <a:pPr indent="0" marL="0">
              <a:buNone/>
            </a:pPr>
            <a:r>
              <a:rPr lang="en-US" sz="2200" b="1" dirty="0">
                <a:solidFill>
                  <a:srgbClr val="222222"/>
                </a:solidFill>
                <a:latin typeface="Arial" pitchFamily="34" charset="0"/>
                <a:ea typeface="Arial" pitchFamily="34" charset="-122"/>
                <a:cs typeface="Arial" pitchFamily="34" charset="-120"/>
              </a:rPr>
              <a:t>C.   79%</a:t>
            </a:r>
            <a:endParaRPr lang="en-US" sz="2200" dirty="0"/>
          </a:p>
        </p:txBody>
      </p:sp>
      <p:sp>
        <p:nvSpPr>
          <p:cNvPr id="10" name="Shape 8"/>
          <p:cNvSpPr/>
          <p:nvPr/>
        </p:nvSpPr>
        <p:spPr>
          <a:xfrm>
            <a:off x="4663440" y="3108960"/>
            <a:ext cx="3931920" cy="868680"/>
          </a:xfrm>
          <a:prstGeom prst="roundRect">
            <a:avLst>
              <a:gd name="adj" fmla="val 8421"/>
            </a:avLst>
          </a:prstGeom>
          <a:solidFill>
            <a:srgbClr val="FBF3EC"/>
          </a:solidFill>
          <a:ln w="12700">
            <a:solidFill>
              <a:srgbClr val="EFE4DA"/>
            </a:solidFill>
            <a:prstDash val="solid"/>
          </a:ln>
        </p:spPr>
      </p:sp>
      <p:sp>
        <p:nvSpPr>
          <p:cNvPr id="11" name="Text 9"/>
          <p:cNvSpPr txBox="1"/>
          <p:nvPr/>
        </p:nvSpPr>
        <p:spPr>
          <a:xfrm>
            <a:off x="4937760" y="3108960"/>
            <a:ext cx="3474720" cy="868680"/>
          </a:xfrm>
          <a:prstGeom prst="rect">
            <a:avLst/>
          </a:prstGeom>
          <a:noFill/>
          <a:ln/>
        </p:spPr>
        <p:txBody>
          <a:bodyPr wrap="square" lIns="0" tIns="0" rIns="0" bIns="0" rtlCol="0" anchor="ctr"/>
          <a:lstStyle/>
          <a:p>
            <a:pPr indent="0" marL="0">
              <a:buNone/>
            </a:pPr>
            <a:r>
              <a:rPr lang="en-US" sz="2200" b="1" dirty="0">
                <a:solidFill>
                  <a:srgbClr val="222222"/>
                </a:solidFill>
                <a:latin typeface="Arial" pitchFamily="34" charset="0"/>
                <a:ea typeface="Arial" pitchFamily="34" charset="-122"/>
                <a:cs typeface="Arial" pitchFamily="34" charset="-120"/>
              </a:rPr>
              <a:t>D.   6%</a:t>
            </a:r>
            <a:endParaRPr lang="en-US" sz="22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6B6B"/>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4C3629"/>
                </a:solidFill>
                <a:latin typeface="Arial" pitchFamily="34" charset="0"/>
                <a:ea typeface="Arial" pitchFamily="34" charset="-122"/>
                <a:cs typeface="Arial" pitchFamily="34" charset="-120"/>
              </a:rPr>
              <a:t>Your Mission</a:t>
            </a:r>
            <a:endParaRPr lang="en-US" sz="2800" dirty="0"/>
          </a:p>
        </p:txBody>
      </p:sp>
      <p:sp>
        <p:nvSpPr>
          <p:cNvPr id="3" name="Shape 1"/>
          <p:cNvSpPr/>
          <p:nvPr/>
        </p:nvSpPr>
        <p:spPr>
          <a:xfrm>
            <a:off x="457200" y="1143000"/>
            <a:ext cx="548640" cy="548640"/>
          </a:xfrm>
          <a:prstGeom prst="ellipse">
            <a:avLst/>
          </a:prstGeom>
          <a:solidFill>
            <a:srgbClr val="4C3629"/>
          </a:solidFill>
          <a:ln w="12700">
            <a:solidFill>
              <a:srgbClr val="4C3629"/>
            </a:solidFill>
            <a:prstDash val="solid"/>
          </a:ln>
        </p:spPr>
      </p:sp>
      <p:sp>
        <p:nvSpPr>
          <p:cNvPr id="4" name="Text 2"/>
          <p:cNvSpPr txBox="1"/>
          <p:nvPr/>
        </p:nvSpPr>
        <p:spPr>
          <a:xfrm>
            <a:off x="457200" y="11430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5" name="Text 3"/>
          <p:cNvSpPr txBox="1"/>
          <p:nvPr/>
        </p:nvSpPr>
        <p:spPr>
          <a:xfrm>
            <a:off x="1188720" y="1143000"/>
            <a:ext cx="3291840" cy="548640"/>
          </a:xfrm>
          <a:prstGeom prst="rect">
            <a:avLst/>
          </a:prstGeom>
          <a:noFill/>
          <a:ln/>
        </p:spPr>
        <p:txBody>
          <a:bodyPr wrap="square" lIns="0" tIns="0" rIns="0" bIns="0" rtlCol="0" anchor="ctr"/>
          <a:lstStyle/>
          <a:p>
            <a:pPr indent="0" marL="0">
              <a:buNone/>
            </a:pPr>
            <a:r>
              <a:rPr lang="en-US" sz="1600" dirty="0">
                <a:solidFill>
                  <a:srgbClr val="222222"/>
                </a:solidFill>
                <a:latin typeface="Arial" pitchFamily="34" charset="0"/>
                <a:ea typeface="Arial" pitchFamily="34" charset="-122"/>
                <a:cs typeface="Arial" pitchFamily="34" charset="-120"/>
              </a:rPr>
              <a:t>Read your case file and do the warm-up</a:t>
            </a:r>
            <a:endParaRPr lang="en-US" sz="1600" dirty="0"/>
          </a:p>
        </p:txBody>
      </p:sp>
      <p:sp>
        <p:nvSpPr>
          <p:cNvPr id="6" name="Shape 4"/>
          <p:cNvSpPr/>
          <p:nvPr/>
        </p:nvSpPr>
        <p:spPr>
          <a:xfrm>
            <a:off x="457200" y="1984248"/>
            <a:ext cx="548640" cy="548640"/>
          </a:xfrm>
          <a:prstGeom prst="ellipse">
            <a:avLst/>
          </a:prstGeom>
          <a:solidFill>
            <a:srgbClr val="4C3629"/>
          </a:solidFill>
          <a:ln w="12700">
            <a:solidFill>
              <a:srgbClr val="4C3629"/>
            </a:solidFill>
            <a:prstDash val="solid"/>
          </a:ln>
        </p:spPr>
      </p:sp>
      <p:sp>
        <p:nvSpPr>
          <p:cNvPr id="7" name="Text 5"/>
          <p:cNvSpPr txBox="1"/>
          <p:nvPr/>
        </p:nvSpPr>
        <p:spPr>
          <a:xfrm>
            <a:off x="457200" y="198424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8" name="Text 6"/>
          <p:cNvSpPr txBox="1"/>
          <p:nvPr/>
        </p:nvSpPr>
        <p:spPr>
          <a:xfrm>
            <a:off x="1188720" y="1984248"/>
            <a:ext cx="3291840" cy="548640"/>
          </a:xfrm>
          <a:prstGeom prst="rect">
            <a:avLst/>
          </a:prstGeom>
          <a:noFill/>
          <a:ln/>
        </p:spPr>
        <p:txBody>
          <a:bodyPr wrap="square" lIns="0" tIns="0" rIns="0" bIns="0" rtlCol="0" anchor="ctr"/>
          <a:lstStyle/>
          <a:p>
            <a:pPr indent="0" marL="0">
              <a:buNone/>
            </a:pPr>
            <a:r>
              <a:rPr lang="en-US" sz="1600" dirty="0">
                <a:solidFill>
                  <a:srgbClr val="222222"/>
                </a:solidFill>
                <a:latin typeface="Arial" pitchFamily="34" charset="0"/>
                <a:ea typeface="Arial" pitchFamily="34" charset="-122"/>
                <a:cs typeface="Arial" pitchFamily="34" charset="-120"/>
              </a:rPr>
              <a:t>Name your 3 segments</a:t>
            </a:r>
            <a:endParaRPr lang="en-US" sz="1600" dirty="0"/>
          </a:p>
        </p:txBody>
      </p:sp>
      <p:sp>
        <p:nvSpPr>
          <p:cNvPr id="9" name="Shape 7"/>
          <p:cNvSpPr/>
          <p:nvPr/>
        </p:nvSpPr>
        <p:spPr>
          <a:xfrm>
            <a:off x="457200" y="2825496"/>
            <a:ext cx="548640" cy="548640"/>
          </a:xfrm>
          <a:prstGeom prst="ellipse">
            <a:avLst/>
          </a:prstGeom>
          <a:solidFill>
            <a:srgbClr val="4C3629"/>
          </a:solidFill>
          <a:ln w="12700">
            <a:solidFill>
              <a:srgbClr val="4C3629"/>
            </a:solidFill>
            <a:prstDash val="solid"/>
          </a:ln>
        </p:spPr>
      </p:sp>
      <p:sp>
        <p:nvSpPr>
          <p:cNvPr id="10" name="Text 8"/>
          <p:cNvSpPr txBox="1"/>
          <p:nvPr/>
        </p:nvSpPr>
        <p:spPr>
          <a:xfrm>
            <a:off x="457200" y="2825496"/>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1" name="Text 9"/>
          <p:cNvSpPr txBox="1"/>
          <p:nvPr/>
        </p:nvSpPr>
        <p:spPr>
          <a:xfrm>
            <a:off x="1188720" y="2825496"/>
            <a:ext cx="3291840" cy="548640"/>
          </a:xfrm>
          <a:prstGeom prst="rect">
            <a:avLst/>
          </a:prstGeom>
          <a:noFill/>
          <a:ln/>
        </p:spPr>
        <p:txBody>
          <a:bodyPr wrap="square" lIns="0" tIns="0" rIns="0" bIns="0" rtlCol="0" anchor="ctr"/>
          <a:lstStyle/>
          <a:p>
            <a:pPr indent="0" marL="0">
              <a:buNone/>
            </a:pPr>
            <a:r>
              <a:rPr lang="en-US" sz="1600" dirty="0">
                <a:solidFill>
                  <a:srgbClr val="222222"/>
                </a:solidFill>
                <a:latin typeface="Arial" pitchFamily="34" charset="0"/>
                <a:ea typeface="Arial" pitchFamily="34" charset="-122"/>
                <a:cs typeface="Arial" pitchFamily="34" charset="-120"/>
              </a:rPr>
              <a:t>Sort the features: must, nice, or blank</a:t>
            </a:r>
            <a:endParaRPr lang="en-US" sz="1600" dirty="0"/>
          </a:p>
        </p:txBody>
      </p:sp>
      <p:sp>
        <p:nvSpPr>
          <p:cNvPr id="12" name="Shape 10"/>
          <p:cNvSpPr/>
          <p:nvPr/>
        </p:nvSpPr>
        <p:spPr>
          <a:xfrm>
            <a:off x="457200" y="3666744"/>
            <a:ext cx="548640" cy="548640"/>
          </a:xfrm>
          <a:prstGeom prst="ellipse">
            <a:avLst/>
          </a:prstGeom>
          <a:solidFill>
            <a:srgbClr val="4C3629"/>
          </a:solidFill>
          <a:ln w="12700">
            <a:solidFill>
              <a:srgbClr val="4C3629"/>
            </a:solidFill>
            <a:prstDash val="solid"/>
          </a:ln>
        </p:spPr>
      </p:sp>
      <p:sp>
        <p:nvSpPr>
          <p:cNvPr id="13" name="Text 11"/>
          <p:cNvSpPr txBox="1"/>
          <p:nvPr/>
        </p:nvSpPr>
        <p:spPr>
          <a:xfrm>
            <a:off x="457200" y="3666744"/>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14" name="Text 12"/>
          <p:cNvSpPr txBox="1"/>
          <p:nvPr/>
        </p:nvSpPr>
        <p:spPr>
          <a:xfrm>
            <a:off x="1188720" y="3666744"/>
            <a:ext cx="3291840" cy="548640"/>
          </a:xfrm>
          <a:prstGeom prst="rect">
            <a:avLst/>
          </a:prstGeom>
          <a:noFill/>
          <a:ln/>
        </p:spPr>
        <p:txBody>
          <a:bodyPr wrap="square" lIns="0" tIns="0" rIns="0" bIns="0" rtlCol="0" anchor="ctr"/>
          <a:lstStyle/>
          <a:p>
            <a:pPr indent="0" marL="0">
              <a:buNone/>
            </a:pPr>
            <a:r>
              <a:rPr lang="en-US" sz="1600" dirty="0">
                <a:solidFill>
                  <a:srgbClr val="222222"/>
                </a:solidFill>
                <a:latin typeface="Arial" pitchFamily="34" charset="0"/>
                <a:ea typeface="Arial" pitchFamily="34" charset="-122"/>
                <a:cs typeface="Arial" pitchFamily="34" charset="-120"/>
              </a:rPr>
              <a:t>Build a version for each segment</a:t>
            </a:r>
            <a:endParaRPr lang="en-US" sz="1600" dirty="0"/>
          </a:p>
        </p:txBody>
      </p:sp>
      <p:sp>
        <p:nvSpPr>
          <p:cNvPr id="15" name="Shape 13"/>
          <p:cNvSpPr/>
          <p:nvPr/>
        </p:nvSpPr>
        <p:spPr>
          <a:xfrm>
            <a:off x="4663440" y="1143000"/>
            <a:ext cx="548640" cy="548640"/>
          </a:xfrm>
          <a:prstGeom prst="ellipse">
            <a:avLst/>
          </a:prstGeom>
          <a:solidFill>
            <a:srgbClr val="4C3629"/>
          </a:solidFill>
          <a:ln w="12700">
            <a:solidFill>
              <a:srgbClr val="4C3629"/>
            </a:solidFill>
            <a:prstDash val="solid"/>
          </a:ln>
        </p:spPr>
      </p:sp>
      <p:sp>
        <p:nvSpPr>
          <p:cNvPr id="16" name="Text 14"/>
          <p:cNvSpPr txBox="1"/>
          <p:nvPr/>
        </p:nvSpPr>
        <p:spPr>
          <a:xfrm>
            <a:off x="4663440" y="11430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5</a:t>
            </a:r>
            <a:endParaRPr lang="en-US" sz="1800" dirty="0"/>
          </a:p>
        </p:txBody>
      </p:sp>
      <p:sp>
        <p:nvSpPr>
          <p:cNvPr id="17" name="Text 15"/>
          <p:cNvSpPr txBox="1"/>
          <p:nvPr/>
        </p:nvSpPr>
        <p:spPr>
          <a:xfrm>
            <a:off x="5394960" y="1143000"/>
            <a:ext cx="3291840" cy="548640"/>
          </a:xfrm>
          <a:prstGeom prst="rect">
            <a:avLst/>
          </a:prstGeom>
          <a:noFill/>
          <a:ln/>
        </p:spPr>
        <p:txBody>
          <a:bodyPr wrap="square" lIns="0" tIns="0" rIns="0" bIns="0" rtlCol="0" anchor="ctr"/>
          <a:lstStyle/>
          <a:p>
            <a:pPr indent="0" marL="0">
              <a:buNone/>
            </a:pPr>
            <a:r>
              <a:rPr lang="en-US" sz="1600" dirty="0">
                <a:solidFill>
                  <a:srgbClr val="222222"/>
                </a:solidFill>
                <a:latin typeface="Arial" pitchFamily="34" charset="0"/>
                <a:ea typeface="Arial" pitchFamily="34" charset="-122"/>
                <a:cs typeface="Arial" pitchFamily="34" charset="-120"/>
              </a:rPr>
              <a:t>Test at least 2 prices per version</a:t>
            </a:r>
            <a:endParaRPr lang="en-US" sz="1600" dirty="0"/>
          </a:p>
        </p:txBody>
      </p:sp>
      <p:sp>
        <p:nvSpPr>
          <p:cNvPr id="18" name="Shape 16"/>
          <p:cNvSpPr/>
          <p:nvPr/>
        </p:nvSpPr>
        <p:spPr>
          <a:xfrm>
            <a:off x="4663440" y="1984248"/>
            <a:ext cx="548640" cy="548640"/>
          </a:xfrm>
          <a:prstGeom prst="ellipse">
            <a:avLst/>
          </a:prstGeom>
          <a:solidFill>
            <a:srgbClr val="4C3629"/>
          </a:solidFill>
          <a:ln w="12700">
            <a:solidFill>
              <a:srgbClr val="4C3629"/>
            </a:solidFill>
            <a:prstDash val="solid"/>
          </a:ln>
        </p:spPr>
      </p:sp>
      <p:sp>
        <p:nvSpPr>
          <p:cNvPr id="19" name="Text 17"/>
          <p:cNvSpPr txBox="1"/>
          <p:nvPr/>
        </p:nvSpPr>
        <p:spPr>
          <a:xfrm>
            <a:off x="4663440" y="198424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6</a:t>
            </a:r>
            <a:endParaRPr lang="en-US" sz="1800" dirty="0"/>
          </a:p>
        </p:txBody>
      </p:sp>
      <p:sp>
        <p:nvSpPr>
          <p:cNvPr id="20" name="Text 18"/>
          <p:cNvSpPr txBox="1"/>
          <p:nvPr/>
        </p:nvSpPr>
        <p:spPr>
          <a:xfrm>
            <a:off x="5394960" y="1984248"/>
            <a:ext cx="3291840" cy="548640"/>
          </a:xfrm>
          <a:prstGeom prst="rect">
            <a:avLst/>
          </a:prstGeom>
          <a:noFill/>
          <a:ln/>
        </p:spPr>
        <p:txBody>
          <a:bodyPr wrap="square" lIns="0" tIns="0" rIns="0" bIns="0" rtlCol="0" anchor="ctr"/>
          <a:lstStyle/>
          <a:p>
            <a:pPr indent="0" marL="0">
              <a:buNone/>
            </a:pPr>
            <a:r>
              <a:rPr lang="en-US" sz="1600" dirty="0">
                <a:solidFill>
                  <a:srgbClr val="222222"/>
                </a:solidFill>
                <a:latin typeface="Arial" pitchFamily="34" charset="0"/>
                <a:ea typeface="Arial" pitchFamily="34" charset="-122"/>
                <a:cs typeface="Arial" pitchFamily="34" charset="-120"/>
              </a:rPr>
              <a:t>Compare your lineup to one version</a:t>
            </a:r>
            <a:endParaRPr lang="en-US" sz="1600" dirty="0"/>
          </a:p>
        </p:txBody>
      </p:sp>
      <p:sp>
        <p:nvSpPr>
          <p:cNvPr id="21" name="Shape 19"/>
          <p:cNvSpPr/>
          <p:nvPr/>
        </p:nvSpPr>
        <p:spPr>
          <a:xfrm>
            <a:off x="4663440" y="2825496"/>
            <a:ext cx="548640" cy="548640"/>
          </a:xfrm>
          <a:prstGeom prst="ellipse">
            <a:avLst/>
          </a:prstGeom>
          <a:solidFill>
            <a:srgbClr val="E26F39"/>
          </a:solidFill>
          <a:ln w="12700">
            <a:solidFill>
              <a:srgbClr val="E26F39"/>
            </a:solidFill>
            <a:prstDash val="solid"/>
          </a:ln>
        </p:spPr>
      </p:sp>
      <p:sp>
        <p:nvSpPr>
          <p:cNvPr id="22" name="Text 20"/>
          <p:cNvSpPr txBox="1"/>
          <p:nvPr/>
        </p:nvSpPr>
        <p:spPr>
          <a:xfrm>
            <a:off x="4663440" y="2825496"/>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7</a:t>
            </a:r>
            <a:endParaRPr lang="en-US" sz="1800" dirty="0"/>
          </a:p>
        </p:txBody>
      </p:sp>
      <p:sp>
        <p:nvSpPr>
          <p:cNvPr id="23" name="Text 21"/>
          <p:cNvSpPr txBox="1"/>
          <p:nvPr/>
        </p:nvSpPr>
        <p:spPr>
          <a:xfrm>
            <a:off x="5394960" y="2825496"/>
            <a:ext cx="3291840" cy="548640"/>
          </a:xfrm>
          <a:prstGeom prst="rect">
            <a:avLst/>
          </a:prstGeom>
          <a:noFill/>
          <a:ln/>
        </p:spPr>
        <p:txBody>
          <a:bodyPr wrap="square" lIns="0" tIns="0" rIns="0" bIns="0" rtlCol="0" anchor="ctr"/>
          <a:lstStyle/>
          <a:p>
            <a:pPr indent="0" marL="0">
              <a:buNone/>
            </a:pPr>
            <a:r>
              <a:rPr lang="en-US" sz="1600" dirty="0">
                <a:solidFill>
                  <a:srgbClr val="222222"/>
                </a:solidFill>
                <a:latin typeface="Arial" pitchFamily="34" charset="0"/>
                <a:ea typeface="Arial" pitchFamily="34" charset="-122"/>
                <a:cs typeface="Arial" pitchFamily="34" charset="-120"/>
              </a:rPr>
              <a:t>Build your slides and pitch it</a:t>
            </a:r>
            <a:endParaRPr lang="en-US" sz="16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6B6B"/>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4C3629"/>
                </a:solidFill>
                <a:latin typeface="Arial" pitchFamily="34" charset="0"/>
                <a:ea typeface="Arial" pitchFamily="34" charset="-122"/>
                <a:cs typeface="Arial" pitchFamily="34" charset="-120"/>
              </a:rPr>
              <a:t>What You'll Present</a:t>
            </a:r>
            <a:endParaRPr lang="en-US" sz="2800" dirty="0"/>
          </a:p>
        </p:txBody>
      </p:sp>
      <p:sp>
        <p:nvSpPr>
          <p:cNvPr id="3" name="Text 1"/>
          <p:cNvSpPr txBox="1"/>
          <p:nvPr/>
        </p:nvSpPr>
        <p:spPr>
          <a:xfrm>
            <a:off x="457200" y="1097280"/>
            <a:ext cx="3931920" cy="32004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222222"/>
                </a:solidFill>
                <a:latin typeface="Arial" pitchFamily="34" charset="0"/>
                <a:ea typeface="Arial" pitchFamily="34" charset="-122"/>
                <a:cs typeface="Arial" pitchFamily="34" charset="-120"/>
              </a:rPr>
              <a:t>Title: company + team</a:t>
            </a:r>
            <a:endParaRPr lang="en-US" sz="1500" dirty="0"/>
          </a:p>
          <a:p>
            <a:pPr marL="342900" indent="-342900">
              <a:spcAft>
                <a:spcPts val="800"/>
              </a:spcAft>
              <a:buSzPct val="100000"/>
              <a:buChar char="•"/>
            </a:pPr>
            <a:r>
              <a:rPr lang="en-US" sz="1500" dirty="0">
                <a:solidFill>
                  <a:srgbClr val="222222"/>
                </a:solidFill>
                <a:latin typeface="Arial" pitchFamily="34" charset="0"/>
                <a:ea typeface="Arial" pitchFamily="34" charset="-122"/>
                <a:cs typeface="Arial" pitchFamily="34" charset="-120"/>
              </a:rPr>
              <a:t>Meet the Market: 3 segment names</a:t>
            </a:r>
            <a:endParaRPr lang="en-US" sz="1500" dirty="0"/>
          </a:p>
          <a:p>
            <a:pPr marL="342900" indent="-342900">
              <a:spcAft>
                <a:spcPts val="800"/>
              </a:spcAft>
              <a:buSzPct val="100000"/>
              <a:buChar char="•"/>
            </a:pPr>
            <a:r>
              <a:rPr lang="en-US" sz="1500" dirty="0">
                <a:solidFill>
                  <a:srgbClr val="222222"/>
                </a:solidFill>
                <a:latin typeface="Arial" pitchFamily="34" charset="0"/>
                <a:ea typeface="Arial" pitchFamily="34" charset="-122"/>
                <a:cs typeface="Arial" pitchFamily="34" charset="-120"/>
              </a:rPr>
              <a:t>One slide per version</a:t>
            </a:r>
            <a:endParaRPr lang="en-US" sz="1500" dirty="0"/>
          </a:p>
          <a:p>
            <a:pPr marL="342900" indent="-342900">
              <a:spcAft>
                <a:spcPts val="800"/>
              </a:spcAft>
              <a:buSzPct val="100000"/>
              <a:buChar char="•"/>
            </a:pPr>
            <a:r>
              <a:rPr lang="en-US" sz="1500" dirty="0">
                <a:solidFill>
                  <a:srgbClr val="222222"/>
                </a:solidFill>
                <a:latin typeface="Arial" pitchFamily="34" charset="0"/>
                <a:ea typeface="Arial" pitchFamily="34" charset="-122"/>
                <a:cs typeface="Arial" pitchFamily="34" charset="-120"/>
              </a:rPr>
              <a:t>The Lineup side by side</a:t>
            </a:r>
            <a:endParaRPr lang="en-US" sz="1500" dirty="0"/>
          </a:p>
          <a:p>
            <a:pPr marL="342900" indent="-342900">
              <a:spcAft>
                <a:spcPts val="800"/>
              </a:spcAft>
              <a:buSzPct val="100000"/>
              <a:buChar char="•"/>
            </a:pPr>
            <a:r>
              <a:rPr lang="en-US" sz="1500" dirty="0">
                <a:solidFill>
                  <a:srgbClr val="222222"/>
                </a:solidFill>
                <a:latin typeface="Arial" pitchFamily="34" charset="0"/>
                <a:ea typeface="Arial" pitchFamily="34" charset="-122"/>
                <a:cs typeface="Arial" pitchFamily="34" charset="-120"/>
              </a:rPr>
              <a:t>Lineup vs. One Version</a:t>
            </a:r>
            <a:endParaRPr lang="en-US" sz="1500" dirty="0"/>
          </a:p>
          <a:p>
            <a:pPr marL="342900" indent="-342900">
              <a:spcAft>
                <a:spcPts val="800"/>
              </a:spcAft>
              <a:buSzPct val="100000"/>
              <a:buChar char="•"/>
            </a:pPr>
            <a:r>
              <a:rPr lang="en-US" sz="1500" dirty="0">
                <a:solidFill>
                  <a:srgbClr val="222222"/>
                </a:solidFill>
                <a:latin typeface="Arial" pitchFamily="34" charset="0"/>
                <a:ea typeface="Arial" pitchFamily="34" charset="-122"/>
                <a:cs typeface="Arial" pitchFamily="34" charset="-120"/>
              </a:rPr>
              <a:t>Recommendation + one risk</a:t>
            </a:r>
            <a:endParaRPr lang="en-US" sz="15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846320" y="1143000"/>
          <a:ext cx="3840480" cy="914400"/>
        </p:xfrm>
        <a:graphic>
          <a:graphicData uri="http://schemas.openxmlformats.org/drawingml/2006/table">
            <a:tbl>
              <a:tblPr/>
              <a:tblGrid>
                <a:gridCol w="2743200"/>
                <a:gridCol w="1097280"/>
              </a:tblGrid>
              <a:tr h="438912">
                <a:tc>
                  <a:txBody>
                    <a:bodyPr/>
                    <a:lstStyle/>
                    <a:p>
                      <a:pPr algn="l" indent="0" marL="0">
                        <a:buNone/>
                      </a:pPr>
                      <a:r>
                        <a:rPr lang="en-US" sz="1400" b="1" dirty="0">
                          <a:solidFill>
                            <a:srgbClr val="222222"/>
                          </a:solidFill>
                          <a:latin typeface="Arial" pitchFamily="34" charset="0"/>
                          <a:ea typeface="Arial" pitchFamily="34" charset="-122"/>
                          <a:cs typeface="Arial" pitchFamily="34" charset="-120"/>
                        </a:rPr>
                        <a:t>Segments</a:t>
                      </a:r>
                      <a:endParaRPr lang="en-US" sz="1400" dirty="0">
                        <a:latin typeface="Arial" charset="0"/>
                        <a:ea typeface="Arial" charset="0"/>
                        <a:cs typeface="Arial" charset="0"/>
                      </a:endParaRPr>
                    </a:p>
                  </a:txBody>
                  <a:tcPr marL="91440" marR="91440" marT="45720" marB="45720">
                    <a:lnL w="9525" cap="flat" cmpd="sng" algn="ctr">
                      <a:solidFill>
                        <a:srgbClr val="B9AFA8"/>
                      </a:solidFill>
                      <a:prstDash val="solid"/>
                      <a:round/>
                      <a:headEnd type="none" w="med" len="med"/>
                      <a:tailEnd type="none" w="med" len="med"/>
                    </a:lnL>
                    <a:lnR w="9525" cap="flat" cmpd="sng" algn="ctr">
                      <a:solidFill>
                        <a:srgbClr val="B9AFA8"/>
                      </a:solidFill>
                      <a:prstDash val="solid"/>
                      <a:round/>
                      <a:headEnd type="none" w="med" len="med"/>
                      <a:tailEnd type="none" w="med" len="med"/>
                    </a:lnR>
                    <a:lnT w="9525" cap="flat" cmpd="sng" algn="ctr">
                      <a:solidFill>
                        <a:srgbClr val="B9AFA8"/>
                      </a:solidFill>
                      <a:prstDash val="solid"/>
                      <a:round/>
                      <a:headEnd type="none" w="med" len="med"/>
                      <a:tailEnd type="none" w="med" len="med"/>
                    </a:lnT>
                    <a:lnB w="9525" cap="flat" cmpd="sng" algn="ctr">
                      <a:solidFill>
                        <a:srgbClr val="B9AFA8"/>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22222"/>
                          </a:solidFill>
                          <a:latin typeface="Arial" pitchFamily="34" charset="0"/>
                          <a:ea typeface="Arial" pitchFamily="34" charset="-122"/>
                          <a:cs typeface="Arial" pitchFamily="34" charset="-120"/>
                        </a:rPr>
                        <a:t>4</a:t>
                      </a:r>
                      <a:endParaRPr lang="en-US" sz="1400" dirty="0">
                        <a:latin typeface="Arial" charset="0"/>
                        <a:ea typeface="Arial" charset="0"/>
                        <a:cs typeface="Arial" charset="0"/>
                      </a:endParaRPr>
                    </a:p>
                  </a:txBody>
                  <a:tcPr marL="91440" marR="91440" marT="45720" marB="45720">
                    <a:lnL w="9525" cap="flat" cmpd="sng" algn="ctr">
                      <a:solidFill>
                        <a:srgbClr val="B9AFA8"/>
                      </a:solidFill>
                      <a:prstDash val="solid"/>
                      <a:round/>
                      <a:headEnd type="none" w="med" len="med"/>
                      <a:tailEnd type="none" w="med" len="med"/>
                    </a:lnL>
                    <a:lnR w="9525" cap="flat" cmpd="sng" algn="ctr">
                      <a:solidFill>
                        <a:srgbClr val="B9AFA8"/>
                      </a:solidFill>
                      <a:prstDash val="solid"/>
                      <a:round/>
                      <a:headEnd type="none" w="med" len="med"/>
                      <a:tailEnd type="none" w="med" len="med"/>
                    </a:lnR>
                    <a:lnT w="9525" cap="flat" cmpd="sng" algn="ctr">
                      <a:solidFill>
                        <a:srgbClr val="B9AFA8"/>
                      </a:solidFill>
                      <a:prstDash val="solid"/>
                      <a:round/>
                      <a:headEnd type="none" w="med" len="med"/>
                      <a:tailEnd type="none" w="med" len="med"/>
                    </a:lnT>
                    <a:lnB w="9525" cap="flat" cmpd="sng" algn="ctr">
                      <a:solidFill>
                        <a:srgbClr val="B9AFA8"/>
                      </a:solidFill>
                      <a:prstDash val="solid"/>
                      <a:round/>
                      <a:headEnd type="none" w="med" len="med"/>
                      <a:tailEnd type="none" w="med" len="med"/>
                    </a:lnB>
                    <a:solidFill>
                      <a:srgbClr val="FFFFFF"/>
                    </a:solidFill>
                  </a:tcPr>
                </a:tc>
              </a:tr>
              <a:tr h="438912">
                <a:tc>
                  <a:txBody>
                    <a:bodyPr/>
                    <a:lstStyle/>
                    <a:p>
                      <a:pPr algn="l" indent="0" marL="0">
                        <a:buNone/>
                      </a:pPr>
                      <a:r>
                        <a:rPr lang="en-US" sz="1400" b="1" dirty="0">
                          <a:solidFill>
                            <a:srgbClr val="222222"/>
                          </a:solidFill>
                          <a:latin typeface="Arial" pitchFamily="34" charset="0"/>
                          <a:ea typeface="Arial" pitchFamily="34" charset="-122"/>
                          <a:cs typeface="Arial" pitchFamily="34" charset="-120"/>
                        </a:rPr>
                        <a:t>Feature choices</a:t>
                      </a:r>
                      <a:endParaRPr lang="en-US" sz="1400" dirty="0">
                        <a:latin typeface="Arial" charset="0"/>
                        <a:ea typeface="Arial" charset="0"/>
                        <a:cs typeface="Arial" charset="0"/>
                      </a:endParaRPr>
                    </a:p>
                  </a:txBody>
                  <a:tcPr marL="91440" marR="91440" marT="45720" marB="45720">
                    <a:lnL w="9525" cap="flat" cmpd="sng" algn="ctr">
                      <a:solidFill>
                        <a:srgbClr val="B9AFA8"/>
                      </a:solidFill>
                      <a:prstDash val="solid"/>
                      <a:round/>
                      <a:headEnd type="none" w="med" len="med"/>
                      <a:tailEnd type="none" w="med" len="med"/>
                    </a:lnL>
                    <a:lnR w="9525" cap="flat" cmpd="sng" algn="ctr">
                      <a:solidFill>
                        <a:srgbClr val="B9AFA8"/>
                      </a:solidFill>
                      <a:prstDash val="solid"/>
                      <a:round/>
                      <a:headEnd type="none" w="med" len="med"/>
                      <a:tailEnd type="none" w="med" len="med"/>
                    </a:lnR>
                    <a:lnT w="9525" cap="flat" cmpd="sng" algn="ctr">
                      <a:solidFill>
                        <a:srgbClr val="B9AFA8"/>
                      </a:solidFill>
                      <a:prstDash val="solid"/>
                      <a:round/>
                      <a:headEnd type="none" w="med" len="med"/>
                      <a:tailEnd type="none" w="med" len="med"/>
                    </a:lnT>
                    <a:lnB w="9525" cap="flat" cmpd="sng" algn="ctr">
                      <a:solidFill>
                        <a:srgbClr val="B9AFA8"/>
                      </a:solidFill>
                      <a:prstDash val="solid"/>
                      <a:round/>
                      <a:headEnd type="none" w="med" len="med"/>
                      <a:tailEnd type="none" w="med" len="med"/>
                    </a:lnB>
                    <a:solidFill>
                      <a:srgbClr val="FBF3EC"/>
                    </a:solidFill>
                  </a:tcPr>
                </a:tc>
                <a:tc>
                  <a:txBody>
                    <a:bodyPr/>
                    <a:lstStyle/>
                    <a:p>
                      <a:pPr algn="ctr" indent="0" marL="0">
                        <a:buNone/>
                      </a:pPr>
                      <a:r>
                        <a:rPr lang="en-US" sz="1400" dirty="0">
                          <a:solidFill>
                            <a:srgbClr val="222222"/>
                          </a:solidFill>
                          <a:latin typeface="Arial" pitchFamily="34" charset="0"/>
                          <a:ea typeface="Arial" pitchFamily="34" charset="-122"/>
                          <a:cs typeface="Arial" pitchFamily="34" charset="-120"/>
                        </a:rPr>
                        <a:t>6</a:t>
                      </a:r>
                      <a:endParaRPr lang="en-US" sz="1400" dirty="0">
                        <a:latin typeface="Arial" charset="0"/>
                        <a:ea typeface="Arial" charset="0"/>
                        <a:cs typeface="Arial" charset="0"/>
                      </a:endParaRPr>
                    </a:p>
                  </a:txBody>
                  <a:tcPr marL="91440" marR="91440" marT="45720" marB="45720">
                    <a:lnL w="9525" cap="flat" cmpd="sng" algn="ctr">
                      <a:solidFill>
                        <a:srgbClr val="B9AFA8"/>
                      </a:solidFill>
                      <a:prstDash val="solid"/>
                      <a:round/>
                      <a:headEnd type="none" w="med" len="med"/>
                      <a:tailEnd type="none" w="med" len="med"/>
                    </a:lnL>
                    <a:lnR w="9525" cap="flat" cmpd="sng" algn="ctr">
                      <a:solidFill>
                        <a:srgbClr val="B9AFA8"/>
                      </a:solidFill>
                      <a:prstDash val="solid"/>
                      <a:round/>
                      <a:headEnd type="none" w="med" len="med"/>
                      <a:tailEnd type="none" w="med" len="med"/>
                    </a:lnR>
                    <a:lnT w="9525" cap="flat" cmpd="sng" algn="ctr">
                      <a:solidFill>
                        <a:srgbClr val="B9AFA8"/>
                      </a:solidFill>
                      <a:prstDash val="solid"/>
                      <a:round/>
                      <a:headEnd type="none" w="med" len="med"/>
                      <a:tailEnd type="none" w="med" len="med"/>
                    </a:lnT>
                    <a:lnB w="9525" cap="flat" cmpd="sng" algn="ctr">
                      <a:solidFill>
                        <a:srgbClr val="B9AFA8"/>
                      </a:solidFill>
                      <a:prstDash val="solid"/>
                      <a:round/>
                      <a:headEnd type="none" w="med" len="med"/>
                      <a:tailEnd type="none" w="med" len="med"/>
                    </a:lnB>
                    <a:solidFill>
                      <a:srgbClr val="FBF3EC"/>
                    </a:solidFill>
                  </a:tcPr>
                </a:tc>
              </a:tr>
              <a:tr h="438912">
                <a:tc>
                  <a:txBody>
                    <a:bodyPr/>
                    <a:lstStyle/>
                    <a:p>
                      <a:pPr algn="l" indent="0" marL="0">
                        <a:buNone/>
                      </a:pPr>
                      <a:r>
                        <a:rPr lang="en-US" sz="1400" b="1" dirty="0">
                          <a:solidFill>
                            <a:srgbClr val="222222"/>
                          </a:solidFill>
                          <a:latin typeface="Arial" pitchFamily="34" charset="0"/>
                          <a:ea typeface="Arial" pitchFamily="34" charset="-122"/>
                          <a:cs typeface="Arial" pitchFamily="34" charset="-120"/>
                        </a:rPr>
                        <a:t>Pricing</a:t>
                      </a:r>
                      <a:endParaRPr lang="en-US" sz="1400" dirty="0">
                        <a:latin typeface="Arial" charset="0"/>
                        <a:ea typeface="Arial" charset="0"/>
                        <a:cs typeface="Arial" charset="0"/>
                      </a:endParaRPr>
                    </a:p>
                  </a:txBody>
                  <a:tcPr marL="91440" marR="91440" marT="45720" marB="45720">
                    <a:lnL w="9525" cap="flat" cmpd="sng" algn="ctr">
                      <a:solidFill>
                        <a:srgbClr val="B9AFA8"/>
                      </a:solidFill>
                      <a:prstDash val="solid"/>
                      <a:round/>
                      <a:headEnd type="none" w="med" len="med"/>
                      <a:tailEnd type="none" w="med" len="med"/>
                    </a:lnL>
                    <a:lnR w="9525" cap="flat" cmpd="sng" algn="ctr">
                      <a:solidFill>
                        <a:srgbClr val="B9AFA8"/>
                      </a:solidFill>
                      <a:prstDash val="solid"/>
                      <a:round/>
                      <a:headEnd type="none" w="med" len="med"/>
                      <a:tailEnd type="none" w="med" len="med"/>
                    </a:lnR>
                    <a:lnT w="9525" cap="flat" cmpd="sng" algn="ctr">
                      <a:solidFill>
                        <a:srgbClr val="B9AFA8"/>
                      </a:solidFill>
                      <a:prstDash val="solid"/>
                      <a:round/>
                      <a:headEnd type="none" w="med" len="med"/>
                      <a:tailEnd type="none" w="med" len="med"/>
                    </a:lnT>
                    <a:lnB w="9525" cap="flat" cmpd="sng" algn="ctr">
                      <a:solidFill>
                        <a:srgbClr val="B9AFA8"/>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22222"/>
                          </a:solidFill>
                          <a:latin typeface="Arial" pitchFamily="34" charset="0"/>
                          <a:ea typeface="Arial" pitchFamily="34" charset="-122"/>
                          <a:cs typeface="Arial" pitchFamily="34" charset="-120"/>
                        </a:rPr>
                        <a:t>5</a:t>
                      </a:r>
                      <a:endParaRPr lang="en-US" sz="1400" dirty="0">
                        <a:latin typeface="Arial" charset="0"/>
                        <a:ea typeface="Arial" charset="0"/>
                        <a:cs typeface="Arial" charset="0"/>
                      </a:endParaRPr>
                    </a:p>
                  </a:txBody>
                  <a:tcPr marL="91440" marR="91440" marT="45720" marB="45720">
                    <a:lnL w="9525" cap="flat" cmpd="sng" algn="ctr">
                      <a:solidFill>
                        <a:srgbClr val="B9AFA8"/>
                      </a:solidFill>
                      <a:prstDash val="solid"/>
                      <a:round/>
                      <a:headEnd type="none" w="med" len="med"/>
                      <a:tailEnd type="none" w="med" len="med"/>
                    </a:lnL>
                    <a:lnR w="9525" cap="flat" cmpd="sng" algn="ctr">
                      <a:solidFill>
                        <a:srgbClr val="B9AFA8"/>
                      </a:solidFill>
                      <a:prstDash val="solid"/>
                      <a:round/>
                      <a:headEnd type="none" w="med" len="med"/>
                      <a:tailEnd type="none" w="med" len="med"/>
                    </a:lnR>
                    <a:lnT w="9525" cap="flat" cmpd="sng" algn="ctr">
                      <a:solidFill>
                        <a:srgbClr val="B9AFA8"/>
                      </a:solidFill>
                      <a:prstDash val="solid"/>
                      <a:round/>
                      <a:headEnd type="none" w="med" len="med"/>
                      <a:tailEnd type="none" w="med" len="med"/>
                    </a:lnT>
                    <a:lnB w="9525" cap="flat" cmpd="sng" algn="ctr">
                      <a:solidFill>
                        <a:srgbClr val="B9AFA8"/>
                      </a:solidFill>
                      <a:prstDash val="solid"/>
                      <a:round/>
                      <a:headEnd type="none" w="med" len="med"/>
                      <a:tailEnd type="none" w="med" len="med"/>
                    </a:lnB>
                    <a:solidFill>
                      <a:srgbClr val="FFFFFF"/>
                    </a:solidFill>
                  </a:tcPr>
                </a:tc>
              </a:tr>
              <a:tr h="438912">
                <a:tc>
                  <a:txBody>
                    <a:bodyPr/>
                    <a:lstStyle/>
                    <a:p>
                      <a:pPr algn="l" indent="0" marL="0">
                        <a:buNone/>
                      </a:pPr>
                      <a:r>
                        <a:rPr lang="en-US" sz="1400" b="1" dirty="0">
                          <a:solidFill>
                            <a:srgbClr val="222222"/>
                          </a:solidFill>
                          <a:latin typeface="Arial" pitchFamily="34" charset="0"/>
                          <a:ea typeface="Arial" pitchFamily="34" charset="-122"/>
                          <a:cs typeface="Arial" pitchFamily="34" charset="-120"/>
                        </a:rPr>
                        <a:t>Math</a:t>
                      </a:r>
                      <a:endParaRPr lang="en-US" sz="1400" dirty="0">
                        <a:latin typeface="Arial" charset="0"/>
                        <a:ea typeface="Arial" charset="0"/>
                        <a:cs typeface="Arial" charset="0"/>
                      </a:endParaRPr>
                    </a:p>
                  </a:txBody>
                  <a:tcPr marL="91440" marR="91440" marT="45720" marB="45720">
                    <a:lnL w="9525" cap="flat" cmpd="sng" algn="ctr">
                      <a:solidFill>
                        <a:srgbClr val="B9AFA8"/>
                      </a:solidFill>
                      <a:prstDash val="solid"/>
                      <a:round/>
                      <a:headEnd type="none" w="med" len="med"/>
                      <a:tailEnd type="none" w="med" len="med"/>
                    </a:lnL>
                    <a:lnR w="9525" cap="flat" cmpd="sng" algn="ctr">
                      <a:solidFill>
                        <a:srgbClr val="B9AFA8"/>
                      </a:solidFill>
                      <a:prstDash val="solid"/>
                      <a:round/>
                      <a:headEnd type="none" w="med" len="med"/>
                      <a:tailEnd type="none" w="med" len="med"/>
                    </a:lnR>
                    <a:lnT w="9525" cap="flat" cmpd="sng" algn="ctr">
                      <a:solidFill>
                        <a:srgbClr val="B9AFA8"/>
                      </a:solidFill>
                      <a:prstDash val="solid"/>
                      <a:round/>
                      <a:headEnd type="none" w="med" len="med"/>
                      <a:tailEnd type="none" w="med" len="med"/>
                    </a:lnT>
                    <a:lnB w="9525" cap="flat" cmpd="sng" algn="ctr">
                      <a:solidFill>
                        <a:srgbClr val="B9AFA8"/>
                      </a:solidFill>
                      <a:prstDash val="solid"/>
                      <a:round/>
                      <a:headEnd type="none" w="med" len="med"/>
                      <a:tailEnd type="none" w="med" len="med"/>
                    </a:lnB>
                    <a:solidFill>
                      <a:srgbClr val="FBF3EC"/>
                    </a:solidFill>
                  </a:tcPr>
                </a:tc>
                <a:tc>
                  <a:txBody>
                    <a:bodyPr/>
                    <a:lstStyle/>
                    <a:p>
                      <a:pPr algn="ctr" indent="0" marL="0">
                        <a:buNone/>
                      </a:pPr>
                      <a:r>
                        <a:rPr lang="en-US" sz="1400" dirty="0">
                          <a:solidFill>
                            <a:srgbClr val="222222"/>
                          </a:solidFill>
                          <a:latin typeface="Arial" pitchFamily="34" charset="0"/>
                          <a:ea typeface="Arial" pitchFamily="34" charset="-122"/>
                          <a:cs typeface="Arial" pitchFamily="34" charset="-120"/>
                        </a:rPr>
                        <a:t>5</a:t>
                      </a:r>
                      <a:endParaRPr lang="en-US" sz="1400" dirty="0">
                        <a:latin typeface="Arial" charset="0"/>
                        <a:ea typeface="Arial" charset="0"/>
                        <a:cs typeface="Arial" charset="0"/>
                      </a:endParaRPr>
                    </a:p>
                  </a:txBody>
                  <a:tcPr marL="91440" marR="91440" marT="45720" marB="45720">
                    <a:lnL w="9525" cap="flat" cmpd="sng" algn="ctr">
                      <a:solidFill>
                        <a:srgbClr val="B9AFA8"/>
                      </a:solidFill>
                      <a:prstDash val="solid"/>
                      <a:round/>
                      <a:headEnd type="none" w="med" len="med"/>
                      <a:tailEnd type="none" w="med" len="med"/>
                    </a:lnL>
                    <a:lnR w="9525" cap="flat" cmpd="sng" algn="ctr">
                      <a:solidFill>
                        <a:srgbClr val="B9AFA8"/>
                      </a:solidFill>
                      <a:prstDash val="solid"/>
                      <a:round/>
                      <a:headEnd type="none" w="med" len="med"/>
                      <a:tailEnd type="none" w="med" len="med"/>
                    </a:lnR>
                    <a:lnT w="9525" cap="flat" cmpd="sng" algn="ctr">
                      <a:solidFill>
                        <a:srgbClr val="B9AFA8"/>
                      </a:solidFill>
                      <a:prstDash val="solid"/>
                      <a:round/>
                      <a:headEnd type="none" w="med" len="med"/>
                      <a:tailEnd type="none" w="med" len="med"/>
                    </a:lnT>
                    <a:lnB w="9525" cap="flat" cmpd="sng" algn="ctr">
                      <a:solidFill>
                        <a:srgbClr val="B9AFA8"/>
                      </a:solidFill>
                      <a:prstDash val="solid"/>
                      <a:round/>
                      <a:headEnd type="none" w="med" len="med"/>
                      <a:tailEnd type="none" w="med" len="med"/>
                    </a:lnB>
                    <a:solidFill>
                      <a:srgbClr val="FBF3EC"/>
                    </a:solidFill>
                  </a:tcPr>
                </a:tc>
              </a:tr>
              <a:tr h="438912">
                <a:tc>
                  <a:txBody>
                    <a:bodyPr/>
                    <a:lstStyle/>
                    <a:p>
                      <a:pPr algn="l" indent="0" marL="0">
                        <a:buNone/>
                      </a:pPr>
                      <a:r>
                        <a:rPr lang="en-US" sz="1400" b="1" dirty="0">
                          <a:solidFill>
                            <a:srgbClr val="222222"/>
                          </a:solidFill>
                          <a:latin typeface="Arial" pitchFamily="34" charset="0"/>
                          <a:ea typeface="Arial" pitchFamily="34" charset="-122"/>
                          <a:cs typeface="Arial" pitchFamily="34" charset="-120"/>
                        </a:rPr>
                        <a:t>Presentation</a:t>
                      </a:r>
                      <a:endParaRPr lang="en-US" sz="1400" dirty="0">
                        <a:latin typeface="Arial" charset="0"/>
                        <a:ea typeface="Arial" charset="0"/>
                        <a:cs typeface="Arial" charset="0"/>
                      </a:endParaRPr>
                    </a:p>
                  </a:txBody>
                  <a:tcPr marL="91440" marR="91440" marT="45720" marB="45720">
                    <a:lnL w="9525" cap="flat" cmpd="sng" algn="ctr">
                      <a:solidFill>
                        <a:srgbClr val="B9AFA8"/>
                      </a:solidFill>
                      <a:prstDash val="solid"/>
                      <a:round/>
                      <a:headEnd type="none" w="med" len="med"/>
                      <a:tailEnd type="none" w="med" len="med"/>
                    </a:lnL>
                    <a:lnR w="9525" cap="flat" cmpd="sng" algn="ctr">
                      <a:solidFill>
                        <a:srgbClr val="B9AFA8"/>
                      </a:solidFill>
                      <a:prstDash val="solid"/>
                      <a:round/>
                      <a:headEnd type="none" w="med" len="med"/>
                      <a:tailEnd type="none" w="med" len="med"/>
                    </a:lnR>
                    <a:lnT w="9525" cap="flat" cmpd="sng" algn="ctr">
                      <a:solidFill>
                        <a:srgbClr val="B9AFA8"/>
                      </a:solidFill>
                      <a:prstDash val="solid"/>
                      <a:round/>
                      <a:headEnd type="none" w="med" len="med"/>
                      <a:tailEnd type="none" w="med" len="med"/>
                    </a:lnT>
                    <a:lnB w="9525" cap="flat" cmpd="sng" algn="ctr">
                      <a:solidFill>
                        <a:srgbClr val="B9AFA8"/>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22222"/>
                          </a:solidFill>
                          <a:latin typeface="Arial" pitchFamily="34" charset="0"/>
                          <a:ea typeface="Arial" pitchFamily="34" charset="-122"/>
                          <a:cs typeface="Arial" pitchFamily="34" charset="-120"/>
                        </a:rPr>
                        <a:t>5</a:t>
                      </a:r>
                      <a:endParaRPr lang="en-US" sz="1400" dirty="0">
                        <a:latin typeface="Arial" charset="0"/>
                        <a:ea typeface="Arial" charset="0"/>
                        <a:cs typeface="Arial" charset="0"/>
                      </a:endParaRPr>
                    </a:p>
                  </a:txBody>
                  <a:tcPr marL="91440" marR="91440" marT="45720" marB="45720">
                    <a:lnL w="9525" cap="flat" cmpd="sng" algn="ctr">
                      <a:solidFill>
                        <a:srgbClr val="B9AFA8"/>
                      </a:solidFill>
                      <a:prstDash val="solid"/>
                      <a:round/>
                      <a:headEnd type="none" w="med" len="med"/>
                      <a:tailEnd type="none" w="med" len="med"/>
                    </a:lnL>
                    <a:lnR w="9525" cap="flat" cmpd="sng" algn="ctr">
                      <a:solidFill>
                        <a:srgbClr val="B9AFA8"/>
                      </a:solidFill>
                      <a:prstDash val="solid"/>
                      <a:round/>
                      <a:headEnd type="none" w="med" len="med"/>
                      <a:tailEnd type="none" w="med" len="med"/>
                    </a:lnR>
                    <a:lnT w="9525" cap="flat" cmpd="sng" algn="ctr">
                      <a:solidFill>
                        <a:srgbClr val="B9AFA8"/>
                      </a:solidFill>
                      <a:prstDash val="solid"/>
                      <a:round/>
                      <a:headEnd type="none" w="med" len="med"/>
                      <a:tailEnd type="none" w="med" len="med"/>
                    </a:lnT>
                    <a:lnB w="9525" cap="flat" cmpd="sng" algn="ctr">
                      <a:solidFill>
                        <a:srgbClr val="B9AFA8"/>
                      </a:solidFill>
                      <a:prstDash val="solid"/>
                      <a:round/>
                      <a:headEnd type="none" w="med" len="med"/>
                      <a:tailEnd type="none" w="med" len="med"/>
                    </a:lnB>
                    <a:solidFill>
                      <a:srgbClr val="FFFFFF"/>
                    </a:solidFill>
                  </a:tcPr>
                </a:tc>
              </a:tr>
              <a:tr h="438912">
                <a:tc>
                  <a:txBody>
                    <a:bodyPr/>
                    <a:lstStyle/>
                    <a:p>
                      <a:pPr algn="l" indent="0" marL="0">
                        <a:buNone/>
                      </a:pPr>
                      <a:r>
                        <a:rPr lang="en-US" sz="1400" b="1" dirty="0">
                          <a:solidFill>
                            <a:srgbClr val="FFFFFF"/>
                          </a:solidFill>
                          <a:latin typeface="Arial" pitchFamily="34" charset="0"/>
                          <a:ea typeface="Arial" pitchFamily="34" charset="-122"/>
                          <a:cs typeface="Arial" pitchFamily="34" charset="-120"/>
                        </a:rPr>
                        <a:t>Total</a:t>
                      </a:r>
                      <a:endParaRPr lang="en-US" sz="1400" dirty="0">
                        <a:latin typeface="Arial" charset="0"/>
                        <a:ea typeface="Arial" charset="0"/>
                        <a:cs typeface="Arial" charset="0"/>
                      </a:endParaRPr>
                    </a:p>
                  </a:txBody>
                  <a:tcPr marL="91440" marR="91440" marT="45720" marB="45720">
                    <a:lnL w="9525" cap="flat" cmpd="sng" algn="ctr">
                      <a:solidFill>
                        <a:srgbClr val="B9AFA8"/>
                      </a:solidFill>
                      <a:prstDash val="solid"/>
                      <a:round/>
                      <a:headEnd type="none" w="med" len="med"/>
                      <a:tailEnd type="none" w="med" len="med"/>
                    </a:lnL>
                    <a:lnR w="9525" cap="flat" cmpd="sng" algn="ctr">
                      <a:solidFill>
                        <a:srgbClr val="B9AFA8"/>
                      </a:solidFill>
                      <a:prstDash val="solid"/>
                      <a:round/>
                      <a:headEnd type="none" w="med" len="med"/>
                      <a:tailEnd type="none" w="med" len="med"/>
                    </a:lnR>
                    <a:lnT w="9525" cap="flat" cmpd="sng" algn="ctr">
                      <a:solidFill>
                        <a:srgbClr val="B9AFA8"/>
                      </a:solidFill>
                      <a:prstDash val="solid"/>
                      <a:round/>
                      <a:headEnd type="none" w="med" len="med"/>
                      <a:tailEnd type="none" w="med" len="med"/>
                    </a:lnT>
                    <a:lnB w="9525" cap="flat" cmpd="sng" algn="ctr">
                      <a:solidFill>
                        <a:srgbClr val="B9AFA8"/>
                      </a:solidFill>
                      <a:prstDash val="solid"/>
                      <a:round/>
                      <a:headEnd type="none" w="med" len="med"/>
                      <a:tailEnd type="none" w="med" len="med"/>
                    </a:lnB>
                    <a:solidFill>
                      <a:srgbClr val="4C3629"/>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25</a:t>
                      </a:r>
                      <a:endParaRPr lang="en-US" sz="1400" dirty="0">
                        <a:latin typeface="Arial" charset="0"/>
                        <a:ea typeface="Arial" charset="0"/>
                        <a:cs typeface="Arial" charset="0"/>
                      </a:endParaRPr>
                    </a:p>
                  </a:txBody>
                  <a:tcPr marL="91440" marR="91440" marT="45720" marB="45720">
                    <a:lnL w="9525" cap="flat" cmpd="sng" algn="ctr">
                      <a:solidFill>
                        <a:srgbClr val="B9AFA8"/>
                      </a:solidFill>
                      <a:prstDash val="solid"/>
                      <a:round/>
                      <a:headEnd type="none" w="med" len="med"/>
                      <a:tailEnd type="none" w="med" len="med"/>
                    </a:lnL>
                    <a:lnR w="9525" cap="flat" cmpd="sng" algn="ctr">
                      <a:solidFill>
                        <a:srgbClr val="B9AFA8"/>
                      </a:solidFill>
                      <a:prstDash val="solid"/>
                      <a:round/>
                      <a:headEnd type="none" w="med" len="med"/>
                      <a:tailEnd type="none" w="med" len="med"/>
                    </a:lnR>
                    <a:lnT w="9525" cap="flat" cmpd="sng" algn="ctr">
                      <a:solidFill>
                        <a:srgbClr val="B9AFA8"/>
                      </a:solidFill>
                      <a:prstDash val="solid"/>
                      <a:round/>
                      <a:headEnd type="none" w="med" len="med"/>
                      <a:tailEnd type="none" w="med" len="med"/>
                    </a:lnT>
                    <a:lnB w="9525" cap="flat" cmpd="sng" algn="ctr">
                      <a:solidFill>
                        <a:srgbClr val="B9AFA8"/>
                      </a:solidFill>
                      <a:prstDash val="solid"/>
                      <a:round/>
                      <a:headEnd type="none" w="med" len="med"/>
                      <a:tailEnd type="none" w="med" len="med"/>
                    </a:lnB>
                    <a:solidFill>
                      <a:srgbClr val="4C3629"/>
                    </a:solidFill>
                  </a:tcPr>
                </a:tc>
              </a:tr>
            </a:tbl>
          </a:graphicData>
        </a:graphic>
      </p:graphicFrame>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6B6B"/>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1463040"/>
            <a:ext cx="8046720" cy="9144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Grab your case file.</a:t>
            </a:r>
            <a:endParaRPr lang="en-US" sz="4400" dirty="0"/>
          </a:p>
        </p:txBody>
      </p:sp>
      <p:sp>
        <p:nvSpPr>
          <p:cNvPr id="3" name="Text 1"/>
          <p:cNvSpPr txBox="1"/>
          <p:nvPr/>
        </p:nvSpPr>
        <p:spPr>
          <a:xfrm>
            <a:off x="548640" y="2468880"/>
            <a:ext cx="7772400" cy="548640"/>
          </a:xfrm>
          <a:prstGeom prst="rect">
            <a:avLst/>
          </a:prstGeom>
          <a:noFill/>
          <a:ln/>
        </p:spPr>
        <p:txBody>
          <a:bodyPr wrap="square" lIns="0" tIns="0" rIns="0" bIns="0" rtlCol="0" anchor="ctr"/>
          <a:lstStyle/>
          <a:p>
            <a:pPr indent="0" marL="0">
              <a:buNone/>
            </a:pPr>
            <a:r>
              <a:rPr lang="en-US" sz="2000" dirty="0">
                <a:solidFill>
                  <a:srgbClr val="F2955F"/>
                </a:solidFill>
                <a:latin typeface="Arial" pitchFamily="34" charset="0"/>
                <a:ea typeface="Arial" pitchFamily="34" charset="-122"/>
                <a:cs typeface="Arial" pitchFamily="34" charset="-120"/>
              </a:rPr>
              <a:t>Start with the warm-up. Read the data before you build anything.</a:t>
            </a:r>
            <a:endParaRPr lang="en-US" sz="2000" dirty="0"/>
          </a:p>
        </p:txBody>
      </p:sp>
    </p:spTree>
  </p:cSld>
  <p:clrMapOvr>
    <a:masterClrMapping/>
  </p:clrMapOvr>
</p:sld>
</file>

<file path=ppt/theme/theme1.xml><?xml version="1.0" encoding="utf-8"?>
<a:theme xmlns:a="http://schemas.openxmlformats.org/drawingml/2006/main" name="Hersey Intro to Business">
  <a:themeElements>
    <a:clrScheme name="Hersey Intro to Business">
      <a:dk1>
        <a:srgbClr val="222222"/>
      </a:dk1>
      <a:lt1>
        <a:srgbClr val="FFFFFF"/>
      </a:lt1>
      <a:dk2>
        <a:srgbClr val="4C3629"/>
      </a:dk2>
      <a:lt2>
        <a:srgbClr val="FBF3EC"/>
      </a:lt2>
      <a:accent1>
        <a:srgbClr val="4C3629"/>
      </a:accent1>
      <a:accent2>
        <a:srgbClr val="E26F39"/>
      </a:accent2>
      <a:accent3>
        <a:srgbClr val="F2955F"/>
      </a:accent3>
      <a:accent4>
        <a:srgbClr val="8A7F78"/>
      </a:accent4>
      <a:accent5>
        <a:srgbClr val="B9AFA8"/>
      </a:accent5>
      <a:accent6>
        <a:srgbClr val="2F6F73"/>
      </a:accent6>
      <a:hlink>
        <a:srgbClr val="E26F39"/>
      </a:hlink>
      <a:folHlink>
        <a:srgbClr val="4C3629"/>
      </a:folHlink>
    </a:clrScheme>
    <a:fontScheme name="Hersey Intro to Busines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 the Lineup - Market Segmentation</dc:title>
  <dc:subject>PptxGenJS Presentation</dc:subject>
  <dc:creator>PptxGenJS</dc:creator>
  <cp:lastModifiedBy>PptxGenJS</cp:lastModifiedBy>
  <cp:revision>1</cp:revision>
  <dcterms:created xsi:type="dcterms:W3CDTF">2026-10-16T16:19:16Z</dcterms:created>
  <dcterms:modified xsi:type="dcterms:W3CDTF">2026-10-16T16:19:16Z</dcterms:modified>
</cp:coreProperties>
</file>